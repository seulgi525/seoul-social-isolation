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21.svg" ContentType="image/svg+xml"/>
  <Override PartName="/ppt/media/image26.svg" ContentType="image/svg+xml"/>
  <Override PartName="/ppt/media/image29.svg" ContentType="image/svg+xml"/>
  <Override PartName="/ppt/media/image32.svg" ContentType="image/svg+xml"/>
  <Override PartName="/ppt/media/image35.svg" ContentType="image/svg+xml"/>
  <Override PartName="/ppt/media/image38.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
  </p:notesMasterIdLst>
  <p:sldIdLst>
    <p:sldId id="285" r:id="rId3"/>
    <p:sldId id="278" r:id="rId4"/>
    <p:sldId id="294" r:id="rId6"/>
    <p:sldId id="293" r:id="rId7"/>
    <p:sldId id="301" r:id="rId8"/>
    <p:sldId id="296" r:id="rId9"/>
    <p:sldId id="283" r:id="rId10"/>
    <p:sldId id="284" r:id="rId11"/>
    <p:sldId id="264" r:id="rId12"/>
    <p:sldId id="286" r:id="rId13"/>
    <p:sldId id="292" r:id="rId14"/>
    <p:sldId id="266" r:id="rId15"/>
    <p:sldId id="306" r:id="rId16"/>
    <p:sldId id="267" r:id="rId17"/>
    <p:sldId id="297" r:id="rId18"/>
    <p:sldId id="288" r:id="rId19"/>
    <p:sldId id="305" r:id="rId20"/>
    <p:sldId id="272" r:id="rId21"/>
    <p:sldId id="291" r:id="rId22"/>
    <p:sldId id="256" r:id="rId23"/>
    <p:sldId id="275" r:id="rId24"/>
    <p:sldId id="304" r:id="rId25"/>
    <p:sldId id="277" r:id="rId26"/>
  </p:sldIdLst>
  <p:sldSz cx="9144000" cy="5143500" type="screen16x9"/>
  <p:notesSz cx="5143500" cy="9144000"/>
  <p:embeddedFontLst>
    <p:embeddedFont>
      <p:font typeface="Microsoft JhengHei" panose="020B0604030504040204" pitchFamily="34" charset="-120"/>
      <p:regular r:id="rId30"/>
      <p:bold r:id="rId31"/>
    </p:embeddedFont>
    <p:embeddedFont>
      <p:font typeface="맑은 고딕 Semilight" panose="020B0502040204020203" pitchFamily="50" charset="-127"/>
      <p:regular r:id="rId32"/>
    </p:embeddedFont>
    <p:embeddedFont>
      <p:font typeface="Calibri" panose="020F0502020204030204" charset="0"/>
      <p:regular r:id="rId33"/>
      <p:bold r:id="rId34"/>
      <p:italic r:id="rId35"/>
      <p:boldItalic r:id="rId36"/>
    </p:embeddedFont>
    <p:embeddedFont>
      <p:font typeface="맑은 고딕" panose="020B0503020000020004" charset="-127"/>
      <p:regular r:id="rId37"/>
      <p:bold r:id="rId38"/>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0" d="100"/>
          <a:sy n="140" d="100"/>
        </p:scale>
        <p:origin x="240"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8" Type="http://schemas.openxmlformats.org/officeDocument/2006/relationships/font" Target="fonts/font9.fntdata"/><Relationship Id="rId37" Type="http://schemas.openxmlformats.org/officeDocument/2006/relationships/font" Target="fonts/font8.fntdata"/><Relationship Id="rId36" Type="http://schemas.openxmlformats.org/officeDocument/2006/relationships/font" Target="fonts/font7.fntdata"/><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hilgok Gwon Anja" panose="020B0503020000020004" pitchFamily="18" charset="-127"/>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hilgok Gwon Anja" panose="020B0503020000020004" pitchFamily="18" charset="-127"/>
              </a:rPr>
            </a:fld>
            <a:endParaRPr lang="en-US">
              <a:latin typeface="Chilgok Gwon Anja" panose="020B0503020000020004" pitchFamily="18"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hilgok Gwon Anja" panose="020B0503020000020004" pitchFamily="18" charset="-127"/>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hilgok Gwon Anja" panose="020B0503020000020004" pitchFamily="18" charset="-127"/>
              </a:rPr>
            </a:fld>
            <a:endParaRPr lang="en-US">
              <a:latin typeface="Chilgok Gwon Anja" panose="020B0503020000020004" pitchFamily="18" charset="-127"/>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hilgok Gwon Anja" panose="020B0503020000020004" pitchFamily="18" charset="-127"/>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hilgok Gwon Anja" panose="020B0503020000020004" pitchFamily="18" charset="-127"/>
              </a:rPr>
            </a:fld>
            <a:endParaRPr lang="en-US">
              <a:latin typeface="Chilgok Gwon Anja" panose="020B0503020000020004" pitchFamily="18" charset="-127"/>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hilgok Gwon Anja" panose="020B0503020000020004" pitchFamily="18" charset="-127"/>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hilgok Gwon Anja" panose="020B0503020000020004" pitchFamily="18" charset="-127"/>
              </a:rPr>
            </a:fld>
            <a:endParaRPr lang="en-US">
              <a:latin typeface="Chilgok Gwon Anja" panose="020B0503020000020004" pitchFamily="18" charset="-127"/>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hilgok Gwon Anja" panose="020B0503020000020004" pitchFamily="18" charset="-127"/>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hilgok Gwon Anja" panose="020B0503020000020004" pitchFamily="18" charset="-127"/>
              </a:rPr>
            </a:fld>
            <a:endParaRPr lang="en-US">
              <a:latin typeface="Chilgok Gwon Anja" panose="020B0503020000020004" pitchFamily="18" charset="-127"/>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dirty="0">
              <a:ea typeface="Chilgok Gwon Anja" panose="020B0503020000020004" pitchFamily="18" charset="-127"/>
            </a:endParaRPr>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dirty="0">
              <a:ea typeface="Chilgok Gwon Anja" panose="020B0503020000020004" pitchFamily="18" charset="-127"/>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sp>
      <p:sp>
        <p:nvSpPr>
          <p:cNvPr id="3" name="Shape 1"/>
          <p:cNvSpPr/>
          <p:nvPr/>
        </p:nvSpPr>
        <p:spPr>
          <a:xfrm>
            <a:off x="0" y="0"/>
            <a:ext cx="9144000" cy="5143500"/>
          </a:xfrm>
          <a:prstGeom prst="rect">
            <a:avLst/>
          </a:prstGeom>
          <a:solidFill>
            <a:srgbClr val="FFFFFF">
              <a:alpha val="95000"/>
            </a:srgbClr>
          </a:solidFill>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sp>
      <p:sp>
        <p:nvSpPr>
          <p:cNvPr id="3" name="Shape 1"/>
          <p:cNvSpPr/>
          <p:nvPr/>
        </p:nvSpPr>
        <p:spPr>
          <a:xfrm>
            <a:off x="0" y="0"/>
            <a:ext cx="9144000" cy="5143500"/>
          </a:xfrm>
          <a:prstGeom prst="rect">
            <a:avLst/>
          </a:prstGeom>
          <a:solidFill>
            <a:srgbClr val="FFFFFF">
              <a:alpha val="95000"/>
            </a:srgbClr>
          </a:solidFill>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sp>
      <p:sp>
        <p:nvSpPr>
          <p:cNvPr id="3" name="Shape 1"/>
          <p:cNvSpPr/>
          <p:nvPr/>
        </p:nvSpPr>
        <p:spPr>
          <a:xfrm>
            <a:off x="0" y="0"/>
            <a:ext cx="9144000" cy="5143500"/>
          </a:xfrm>
          <a:prstGeom prst="rect">
            <a:avLst/>
          </a:prstGeom>
          <a:solidFill>
            <a:srgbClr val="FFFFFF">
              <a:alpha val="95000"/>
            </a:srgbClr>
          </a:solidFill>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p:spPr>
        <p:txBody>
          <a:bodyPr/>
          <a:lstStyle/>
          <a:p>
            <a:endParaRPr lang="ko-KR" altLang="en-US"/>
          </a:p>
        </p:txBody>
      </p:sp>
      <p:sp>
        <p:nvSpPr>
          <p:cNvPr id="3" name="Shape 1"/>
          <p:cNvSpPr/>
          <p:nvPr/>
        </p:nvSpPr>
        <p:spPr>
          <a:xfrm>
            <a:off x="0" y="0"/>
            <a:ext cx="9144000" cy="5143500"/>
          </a:xfrm>
          <a:prstGeom prst="rect">
            <a:avLst/>
          </a:prstGeom>
          <a:solidFill>
            <a:srgbClr val="FFFFFF">
              <a:alpha val="95000"/>
            </a:srgbClr>
          </a:solidFill>
        </p:spPr>
        <p:txBody>
          <a:bodyPr/>
          <a:lstStyle/>
          <a:p>
            <a:endParaRPr lang="ko-KR"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6.sv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0.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6.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12.jpe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3.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16.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vmlDrawing" Target="../drawings/vmlDrawing1.vml"/><Relationship Id="rId4" Type="http://schemas.openxmlformats.org/officeDocument/2006/relationships/slideLayout" Target="../slideLayouts/slideLayout18.xml"/><Relationship Id="rId3" Type="http://schemas.openxmlformats.org/officeDocument/2006/relationships/image" Target="../media/image19.emf"/><Relationship Id="rId2" Type="http://schemas.openxmlformats.org/officeDocument/2006/relationships/oleObject" Target="../embeddings/oleObject1.bin"/><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9.xml"/><Relationship Id="rId4" Type="http://schemas.openxmlformats.org/officeDocument/2006/relationships/image" Target="../media/image23.jpeg"/><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9" Type="http://schemas.openxmlformats.org/officeDocument/2006/relationships/image" Target="../media/image32.svg"/><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svg"/><Relationship Id="rId2" Type="http://schemas.openxmlformats.org/officeDocument/2006/relationships/image" Target="../media/image25.png"/><Relationship Id="rId17" Type="http://schemas.openxmlformats.org/officeDocument/2006/relationships/notesSlide" Target="../notesSlides/notesSlide18.xml"/><Relationship Id="rId16" Type="http://schemas.openxmlformats.org/officeDocument/2006/relationships/slideLayout" Target="../slideLayouts/slideLayout2.xml"/><Relationship Id="rId15" Type="http://schemas.openxmlformats.org/officeDocument/2006/relationships/image" Target="../media/image38.svg"/><Relationship Id="rId14" Type="http://schemas.openxmlformats.org/officeDocument/2006/relationships/image" Target="../media/image37.png"/><Relationship Id="rId13" Type="http://schemas.openxmlformats.org/officeDocument/2006/relationships/image" Target="../media/image36.png"/><Relationship Id="rId12" Type="http://schemas.openxmlformats.org/officeDocument/2006/relationships/image" Target="../media/image35.svg"/><Relationship Id="rId11" Type="http://schemas.openxmlformats.org/officeDocument/2006/relationships/image" Target="../media/image34.png"/><Relationship Id="rId10" Type="http://schemas.openxmlformats.org/officeDocument/2006/relationships/image" Target="../media/image33.png"/><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p:cNvPicPr>
            <a:picLocks noChangeAspect="1"/>
          </p:cNvPicPr>
          <p:nvPr/>
        </p:nvPicPr>
        <p:blipFill>
          <a:blip r:embed="rId1"/>
          <a:stretch>
            <a:fillRect/>
          </a:stretch>
        </p:blipFill>
        <p:spPr>
          <a:xfrm>
            <a:off x="2429" y="0"/>
            <a:ext cx="9139141"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456553" y="793396"/>
            <a:ext cx="8151763" cy="632594"/>
          </a:xfrm>
          <a:prstGeom prst="roundRect">
            <a:avLst>
              <a:gd name="adj" fmla="val 7000"/>
            </a:avLst>
          </a:prstGeom>
          <a:solidFill>
            <a:srgbClr val="FFFFFF">
              <a:alpha val="95000"/>
            </a:srgbClr>
          </a:solidFill>
          <a:ln w="14288">
            <a:solidFill>
              <a:srgbClr val="C7C7D0"/>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7" name="Shape 5"/>
          <p:cNvSpPr/>
          <p:nvPr/>
        </p:nvSpPr>
        <p:spPr>
          <a:xfrm>
            <a:off x="470840" y="807683"/>
            <a:ext cx="421704" cy="604019"/>
          </a:xfrm>
          <a:prstGeom prst="roundRect">
            <a:avLst>
              <a:gd name="adj" fmla="val 6436"/>
            </a:avLst>
          </a:prstGeom>
          <a:solidFill>
            <a:srgbClr val="E1E1EA"/>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8" name="Text 6"/>
          <p:cNvSpPr/>
          <p:nvPr/>
        </p:nvSpPr>
        <p:spPr>
          <a:xfrm>
            <a:off x="600246" y="1010834"/>
            <a:ext cx="158130" cy="197644"/>
          </a:xfrm>
          <a:prstGeom prst="rect">
            <a:avLst/>
          </a:prstGeom>
          <a:noFill/>
        </p:spPr>
        <p:txBody>
          <a:bodyPr wrap="none" lIns="0" tIns="0" rIns="0" bIns="0" rtlCol="0" anchor="ctr"/>
          <a:lstStyle/>
          <a:p>
            <a:pPr marL="0" indent="0" algn="ctr">
              <a:lnSpc>
                <a:spcPct val="100000"/>
              </a:lnSpc>
              <a:buNone/>
            </a:pPr>
            <a:r>
              <a:rPr lang="en-US" sz="12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1</a:t>
            </a:r>
            <a:endParaRPr lang="en-US" sz="12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9" name="Text 7"/>
          <p:cNvSpPr/>
          <p:nvPr/>
        </p:nvSpPr>
        <p:spPr>
          <a:xfrm>
            <a:off x="982139" y="913053"/>
            <a:ext cx="1395561" cy="164678"/>
          </a:xfrm>
          <a:prstGeom prst="rect">
            <a:avLst/>
          </a:prstGeom>
          <a:noFill/>
        </p:spPr>
        <p:txBody>
          <a:bodyPr wrap="none" lIns="0" tIns="0" rIns="0" bIns="0" rtlCol="0" anchor="t"/>
          <a:lstStyle/>
          <a:p>
            <a:r>
              <a:rPr lang="en-US" altLang="ko-KR" sz="1000" b="1" dirty="0">
                <a:latin typeface="Microsoft JhengHei" panose="020B0604030504040204" pitchFamily="34" charset="-120"/>
                <a:ea typeface="Microsoft JhengHei" panose="020B0604030504040204" pitchFamily="34" charset="-120"/>
                <a:cs typeface="Microsoft JhengHei" panose="020B0604030504040204" pitchFamily="34" charset="-120"/>
              </a:rPr>
              <a:t>1 </a:t>
            </a:r>
            <a:r>
              <a:rPr lang="ko-KR" altLang="en-US" sz="1000" b="1" dirty="0">
                <a:latin typeface="Microsoft JhengHei" panose="020B0604030504040204" pitchFamily="34" charset="-120"/>
                <a:ea typeface="Microsoft JhengHei" panose="020B0604030504040204" pitchFamily="34" charset="-120"/>
                <a:cs typeface="Microsoft JhengHei" panose="020B0604030504040204" pitchFamily="34" charset="-120"/>
              </a:rPr>
              <a:t>연구 배경</a:t>
            </a:r>
            <a:endParaRPr lang="ko-KR" altLang="en-US" sz="1000" b="1"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 name="Text 8"/>
          <p:cNvSpPr/>
          <p:nvPr/>
        </p:nvSpPr>
        <p:spPr>
          <a:xfrm>
            <a:off x="982139" y="1131459"/>
            <a:ext cx="7506519" cy="156046"/>
          </a:xfrm>
          <a:prstGeom prst="rect">
            <a:avLst/>
          </a:prstGeom>
          <a:noFill/>
        </p:spPr>
        <p:txBody>
          <a:bodyPr wrap="none" lIns="0" tIns="0" rIns="0" bIns="0" rtlCol="0" anchor="t"/>
          <a:lstStyle/>
          <a:p>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서울의 고립 구조</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고독사 현황</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생애주기별 진단 필요성</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정책 환경</a:t>
            </a:r>
            <a:endPar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 name="Shape 9"/>
          <p:cNvSpPr/>
          <p:nvPr/>
        </p:nvSpPr>
        <p:spPr>
          <a:xfrm>
            <a:off x="456553" y="1515584"/>
            <a:ext cx="8151763" cy="632594"/>
          </a:xfrm>
          <a:prstGeom prst="roundRect">
            <a:avLst>
              <a:gd name="adj" fmla="val 7000"/>
            </a:avLst>
          </a:prstGeom>
          <a:solidFill>
            <a:srgbClr val="FFFFFF">
              <a:alpha val="95000"/>
            </a:srgbClr>
          </a:solidFill>
          <a:ln w="14288">
            <a:solidFill>
              <a:srgbClr val="C7C7D0"/>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2" name="Shape 10"/>
          <p:cNvSpPr/>
          <p:nvPr/>
        </p:nvSpPr>
        <p:spPr>
          <a:xfrm>
            <a:off x="470840" y="1529872"/>
            <a:ext cx="421704" cy="604019"/>
          </a:xfrm>
          <a:prstGeom prst="roundRect">
            <a:avLst>
              <a:gd name="adj" fmla="val 6436"/>
            </a:avLst>
          </a:prstGeom>
          <a:solidFill>
            <a:srgbClr val="E1E1EA"/>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3" name="Text 11"/>
          <p:cNvSpPr/>
          <p:nvPr/>
        </p:nvSpPr>
        <p:spPr>
          <a:xfrm>
            <a:off x="600246" y="1733022"/>
            <a:ext cx="158130" cy="197644"/>
          </a:xfrm>
          <a:prstGeom prst="rect">
            <a:avLst/>
          </a:prstGeom>
          <a:noFill/>
        </p:spPr>
        <p:txBody>
          <a:bodyPr wrap="none" lIns="0" tIns="0" rIns="0" bIns="0" rtlCol="0" anchor="ctr"/>
          <a:lstStyle/>
          <a:p>
            <a:pPr marL="0" indent="0" algn="ctr">
              <a:lnSpc>
                <a:spcPct val="100000"/>
              </a:lnSpc>
              <a:buNone/>
            </a:pPr>
            <a:r>
              <a:rPr lang="en-US" sz="12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2</a:t>
            </a:r>
            <a:endParaRPr lang="en-US" sz="12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4" name="Text 12"/>
          <p:cNvSpPr/>
          <p:nvPr/>
        </p:nvSpPr>
        <p:spPr>
          <a:xfrm>
            <a:off x="982139" y="1635242"/>
            <a:ext cx="1317947" cy="164678"/>
          </a:xfrm>
          <a:prstGeom prst="rect">
            <a:avLst/>
          </a:prstGeom>
          <a:noFill/>
        </p:spPr>
        <p:txBody>
          <a:bodyPr wrap="none" lIns="0" tIns="0" rIns="0" bIns="0" rtlCol="0" anchor="t"/>
          <a:lstStyle/>
          <a:p>
            <a:r>
              <a:rPr lang="en-US" altLang="ko-KR" sz="1000" b="1" dirty="0">
                <a:latin typeface="Microsoft JhengHei" panose="020B0604030504040204" pitchFamily="34" charset="-120"/>
                <a:ea typeface="Microsoft JhengHei" panose="020B0604030504040204" pitchFamily="34" charset="-120"/>
                <a:cs typeface="Microsoft JhengHei" panose="020B0604030504040204" pitchFamily="34" charset="-120"/>
              </a:rPr>
              <a:t>02 </a:t>
            </a:r>
            <a:r>
              <a:rPr lang="ko-KR" altLang="en-US" sz="1000" b="1" dirty="0">
                <a:latin typeface="Microsoft JhengHei" panose="020B0604030504040204" pitchFamily="34" charset="-120"/>
                <a:ea typeface="Microsoft JhengHei" panose="020B0604030504040204" pitchFamily="34" charset="-120"/>
                <a:cs typeface="Microsoft JhengHei" panose="020B0604030504040204" pitchFamily="34" charset="-120"/>
              </a:rPr>
              <a:t>연구 설계</a:t>
            </a:r>
            <a:endParaRPr lang="ko-KR" altLang="en-US" sz="1000" b="1"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5" name="Text 13"/>
          <p:cNvSpPr/>
          <p:nvPr/>
        </p:nvSpPr>
        <p:spPr>
          <a:xfrm>
            <a:off x="982139" y="1853647"/>
            <a:ext cx="7506519" cy="156046"/>
          </a:xfrm>
          <a:prstGeom prst="rect">
            <a:avLst/>
          </a:prstGeom>
          <a:noFill/>
        </p:spPr>
        <p:txBody>
          <a:bodyPr wrap="none" lIns="0" tIns="0" rIns="0" bIns="0" rtlCol="0" anchor="t"/>
          <a:lstStyle/>
          <a:p>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연구 질문</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활용 데이터</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연구 흐름도</a:t>
            </a:r>
            <a:endPar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6" name="Shape 14"/>
          <p:cNvSpPr/>
          <p:nvPr/>
        </p:nvSpPr>
        <p:spPr>
          <a:xfrm>
            <a:off x="456553" y="2237773"/>
            <a:ext cx="8151763" cy="632594"/>
          </a:xfrm>
          <a:prstGeom prst="roundRect">
            <a:avLst>
              <a:gd name="adj" fmla="val 7000"/>
            </a:avLst>
          </a:prstGeom>
          <a:solidFill>
            <a:srgbClr val="FFFFFF">
              <a:alpha val="95000"/>
            </a:srgbClr>
          </a:solidFill>
          <a:ln w="14288">
            <a:solidFill>
              <a:srgbClr val="C7C7D0"/>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7" name="Shape 15"/>
          <p:cNvSpPr/>
          <p:nvPr/>
        </p:nvSpPr>
        <p:spPr>
          <a:xfrm>
            <a:off x="470840" y="2252060"/>
            <a:ext cx="421704" cy="604019"/>
          </a:xfrm>
          <a:prstGeom prst="roundRect">
            <a:avLst>
              <a:gd name="adj" fmla="val 6436"/>
            </a:avLst>
          </a:prstGeom>
          <a:solidFill>
            <a:srgbClr val="E1E1EA"/>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8" name="Text 16"/>
          <p:cNvSpPr/>
          <p:nvPr/>
        </p:nvSpPr>
        <p:spPr>
          <a:xfrm>
            <a:off x="600246" y="2455210"/>
            <a:ext cx="158130" cy="197644"/>
          </a:xfrm>
          <a:prstGeom prst="rect">
            <a:avLst/>
          </a:prstGeom>
          <a:noFill/>
        </p:spPr>
        <p:txBody>
          <a:bodyPr wrap="none" lIns="0" tIns="0" rIns="0" bIns="0" rtlCol="0" anchor="ctr"/>
          <a:lstStyle/>
          <a:p>
            <a:pPr marL="0" indent="0" algn="ctr">
              <a:lnSpc>
                <a:spcPct val="100000"/>
              </a:lnSpc>
              <a:buNone/>
            </a:pPr>
            <a:r>
              <a:rPr lang="en-US" sz="12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3</a:t>
            </a:r>
            <a:endParaRPr lang="en-US" sz="12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9" name="Text 17"/>
          <p:cNvSpPr/>
          <p:nvPr/>
        </p:nvSpPr>
        <p:spPr>
          <a:xfrm>
            <a:off x="982139" y="2357430"/>
            <a:ext cx="1317947" cy="164678"/>
          </a:xfrm>
          <a:prstGeom prst="rect">
            <a:avLst/>
          </a:prstGeom>
          <a:noFill/>
        </p:spPr>
        <p:txBody>
          <a:bodyPr wrap="none" lIns="0" tIns="0" rIns="0" bIns="0" rtlCol="0" anchor="t"/>
          <a:lstStyle/>
          <a:p>
            <a:r>
              <a:rPr lang="en-US" altLang="ko-KR" sz="1000" b="1" dirty="0">
                <a:latin typeface="Microsoft JhengHei" panose="020B0604030504040204" pitchFamily="34" charset="-120"/>
                <a:ea typeface="Microsoft JhengHei" panose="020B0604030504040204" pitchFamily="34" charset="-120"/>
                <a:cs typeface="Microsoft JhengHei" panose="020B0604030504040204" pitchFamily="34" charset="-120"/>
              </a:rPr>
              <a:t>03 </a:t>
            </a:r>
            <a:r>
              <a:rPr lang="ko-KR" altLang="en-US" sz="1000" b="1" dirty="0">
                <a:latin typeface="Microsoft JhengHei" panose="020B0604030504040204" pitchFamily="34" charset="-120"/>
                <a:ea typeface="Microsoft JhengHei" panose="020B0604030504040204" pitchFamily="34" charset="-120"/>
                <a:cs typeface="Microsoft JhengHei" panose="020B0604030504040204" pitchFamily="34" charset="-120"/>
              </a:rPr>
              <a:t>분석 방법론</a:t>
            </a:r>
            <a:endParaRPr lang="ko-KR" altLang="en-US" sz="1000" b="1"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0" name="Text 18"/>
          <p:cNvSpPr/>
          <p:nvPr/>
        </p:nvSpPr>
        <p:spPr>
          <a:xfrm>
            <a:off x="982139" y="2575836"/>
            <a:ext cx="7506519" cy="156046"/>
          </a:xfrm>
          <a:prstGeom prst="rect">
            <a:avLst/>
          </a:prstGeom>
          <a:noFill/>
        </p:spPr>
        <p:txBody>
          <a:bodyPr wrap="none" lIns="0" tIns="0" rIns="0" bIns="0" rtlCol="0" anchor="t"/>
          <a:lstStyle/>
          <a:p>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삼중진단 프레임</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가중치</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인프라</a:t>
            </a:r>
            <a:r>
              <a:rPr lang="en-US" altLang="ko-KR" sz="8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결핍</a:t>
            </a:r>
            <a:r>
              <a:rPr lang="en-US" altLang="ko-KR" sz="8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유형</a:t>
            </a:r>
            <a:r>
              <a:rPr lang="en-US" altLang="ko-KR" sz="8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분류</a:t>
            </a:r>
            <a:r>
              <a:rPr lang="en-US" altLang="ko-KR" sz="8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K-Means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군집분석</a:t>
            </a:r>
            <a:endPar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1" name="Shape 19"/>
          <p:cNvSpPr/>
          <p:nvPr/>
        </p:nvSpPr>
        <p:spPr>
          <a:xfrm>
            <a:off x="456553" y="2959961"/>
            <a:ext cx="8151763" cy="632594"/>
          </a:xfrm>
          <a:prstGeom prst="roundRect">
            <a:avLst>
              <a:gd name="adj" fmla="val 7000"/>
            </a:avLst>
          </a:prstGeom>
          <a:solidFill>
            <a:srgbClr val="FFFFFF">
              <a:alpha val="95000"/>
            </a:srgbClr>
          </a:solidFill>
          <a:ln w="14288">
            <a:solidFill>
              <a:srgbClr val="C7C7D0"/>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2" name="Shape 20"/>
          <p:cNvSpPr/>
          <p:nvPr/>
        </p:nvSpPr>
        <p:spPr>
          <a:xfrm>
            <a:off x="470840" y="2974249"/>
            <a:ext cx="421704" cy="604019"/>
          </a:xfrm>
          <a:prstGeom prst="roundRect">
            <a:avLst>
              <a:gd name="adj" fmla="val 6436"/>
            </a:avLst>
          </a:prstGeom>
          <a:solidFill>
            <a:srgbClr val="E1E1EA"/>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3" name="Text 21"/>
          <p:cNvSpPr/>
          <p:nvPr/>
        </p:nvSpPr>
        <p:spPr>
          <a:xfrm>
            <a:off x="600246" y="3177399"/>
            <a:ext cx="158130" cy="197644"/>
          </a:xfrm>
          <a:prstGeom prst="rect">
            <a:avLst/>
          </a:prstGeom>
          <a:noFill/>
        </p:spPr>
        <p:txBody>
          <a:bodyPr wrap="none" lIns="0" tIns="0" rIns="0" bIns="0" rtlCol="0" anchor="ctr"/>
          <a:lstStyle/>
          <a:p>
            <a:pPr marL="0" indent="0" algn="ctr">
              <a:lnSpc>
                <a:spcPct val="100000"/>
              </a:lnSpc>
              <a:buNone/>
            </a:pPr>
            <a:r>
              <a:rPr lang="en-US" sz="12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4</a:t>
            </a:r>
            <a:endParaRPr lang="en-US" sz="12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4" name="Text 22"/>
          <p:cNvSpPr/>
          <p:nvPr/>
        </p:nvSpPr>
        <p:spPr>
          <a:xfrm>
            <a:off x="982139" y="3079619"/>
            <a:ext cx="1317947" cy="164678"/>
          </a:xfrm>
          <a:prstGeom prst="rect">
            <a:avLst/>
          </a:prstGeom>
          <a:noFill/>
        </p:spPr>
        <p:txBody>
          <a:bodyPr wrap="none" lIns="0" tIns="0" rIns="0" bIns="0" rtlCol="0" anchor="t"/>
          <a:lstStyle/>
          <a:p>
            <a:r>
              <a:rPr lang="en-US" altLang="ko-KR" sz="1000" b="1" dirty="0">
                <a:latin typeface="Microsoft JhengHei" panose="020B0604030504040204" pitchFamily="34" charset="-120"/>
                <a:ea typeface="Microsoft JhengHei" panose="020B0604030504040204" pitchFamily="34" charset="-120"/>
                <a:cs typeface="Microsoft JhengHei" panose="020B0604030504040204" pitchFamily="34" charset="-120"/>
              </a:rPr>
              <a:t>04 </a:t>
            </a:r>
            <a:r>
              <a:rPr lang="ko-KR" altLang="en-US" sz="1000" b="1" dirty="0">
                <a:latin typeface="Microsoft JhengHei" panose="020B0604030504040204" pitchFamily="34" charset="-120"/>
                <a:ea typeface="Microsoft JhengHei" panose="020B0604030504040204" pitchFamily="34" charset="-120"/>
                <a:cs typeface="Microsoft JhengHei" panose="020B0604030504040204" pitchFamily="34" charset="-120"/>
              </a:rPr>
              <a:t>분석 결과</a:t>
            </a:r>
            <a:endParaRPr lang="ko-KR" altLang="en-US" sz="1000" b="1"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5" name="Text 23"/>
          <p:cNvSpPr/>
          <p:nvPr/>
        </p:nvSpPr>
        <p:spPr>
          <a:xfrm>
            <a:off x="982139" y="3298024"/>
            <a:ext cx="7506519" cy="156046"/>
          </a:xfrm>
          <a:prstGeom prst="rect">
            <a:avLst/>
          </a:prstGeom>
          <a:noFill/>
        </p:spPr>
        <p:txBody>
          <a:bodyPr wrap="none" lIns="0" tIns="0" rIns="0" bIns="0" rtlCol="0" anchor="t"/>
          <a:lstStyle/>
          <a:p>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생애주기별 위험지도</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교차검증</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TOP9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행정동</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인프라 결핍 유형</a:t>
            </a:r>
            <a:endPar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6" name="Shape 24"/>
          <p:cNvSpPr/>
          <p:nvPr/>
        </p:nvSpPr>
        <p:spPr>
          <a:xfrm>
            <a:off x="456553" y="3682150"/>
            <a:ext cx="8151763" cy="632594"/>
          </a:xfrm>
          <a:prstGeom prst="roundRect">
            <a:avLst>
              <a:gd name="adj" fmla="val 7000"/>
            </a:avLst>
          </a:prstGeom>
          <a:solidFill>
            <a:srgbClr val="FFFFFF">
              <a:alpha val="95000"/>
            </a:srgbClr>
          </a:solidFill>
          <a:ln w="14288">
            <a:solidFill>
              <a:srgbClr val="C7C7D0"/>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7" name="Shape 25"/>
          <p:cNvSpPr/>
          <p:nvPr/>
        </p:nvSpPr>
        <p:spPr>
          <a:xfrm>
            <a:off x="470840" y="3696437"/>
            <a:ext cx="421704" cy="604019"/>
          </a:xfrm>
          <a:prstGeom prst="roundRect">
            <a:avLst>
              <a:gd name="adj" fmla="val 6436"/>
            </a:avLst>
          </a:prstGeom>
          <a:solidFill>
            <a:srgbClr val="E1E1EA"/>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8" name="Text 26"/>
          <p:cNvSpPr/>
          <p:nvPr/>
        </p:nvSpPr>
        <p:spPr>
          <a:xfrm>
            <a:off x="600246" y="3899587"/>
            <a:ext cx="158130" cy="197644"/>
          </a:xfrm>
          <a:prstGeom prst="rect">
            <a:avLst/>
          </a:prstGeom>
          <a:noFill/>
        </p:spPr>
        <p:txBody>
          <a:bodyPr wrap="none" lIns="0" tIns="0" rIns="0" bIns="0" rtlCol="0" anchor="ctr"/>
          <a:lstStyle/>
          <a:p>
            <a:pPr marL="0" indent="0" algn="ctr">
              <a:lnSpc>
                <a:spcPct val="100000"/>
              </a:lnSpc>
              <a:buNone/>
            </a:pPr>
            <a:r>
              <a:rPr lang="en-US" sz="12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5</a:t>
            </a:r>
            <a:endParaRPr lang="en-US" sz="12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9" name="Text 27"/>
          <p:cNvSpPr/>
          <p:nvPr/>
        </p:nvSpPr>
        <p:spPr>
          <a:xfrm>
            <a:off x="982139" y="3801807"/>
            <a:ext cx="1317947" cy="164678"/>
          </a:xfrm>
          <a:prstGeom prst="rect">
            <a:avLst/>
          </a:prstGeom>
          <a:noFill/>
        </p:spPr>
        <p:txBody>
          <a:bodyPr wrap="none" lIns="0" tIns="0" rIns="0" bIns="0" rtlCol="0" anchor="t"/>
          <a:lstStyle/>
          <a:p>
            <a:r>
              <a:rPr lang="en-US" altLang="ko-KR" sz="1000" b="1" dirty="0">
                <a:latin typeface="Microsoft JhengHei" panose="020B0604030504040204" pitchFamily="34" charset="-120"/>
                <a:ea typeface="Microsoft JhengHei" panose="020B0604030504040204" pitchFamily="34" charset="-120"/>
                <a:cs typeface="Microsoft JhengHei" panose="020B0604030504040204" pitchFamily="34" charset="-120"/>
              </a:rPr>
              <a:t>05 </a:t>
            </a:r>
            <a:r>
              <a:rPr lang="ko-KR" altLang="en-US" sz="1000" b="1" dirty="0">
                <a:latin typeface="Microsoft JhengHei" panose="020B0604030504040204" pitchFamily="34" charset="-120"/>
                <a:ea typeface="Microsoft JhengHei" panose="020B0604030504040204" pitchFamily="34" charset="-120"/>
                <a:cs typeface="Microsoft JhengHei" panose="020B0604030504040204" pitchFamily="34" charset="-120"/>
              </a:rPr>
              <a:t>정책 제안</a:t>
            </a:r>
            <a:endParaRPr lang="ko-KR" altLang="en-US" sz="1000" b="1"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0" name="Text 28"/>
          <p:cNvSpPr/>
          <p:nvPr/>
        </p:nvSpPr>
        <p:spPr>
          <a:xfrm>
            <a:off x="982139" y="4020213"/>
            <a:ext cx="7506519" cy="156046"/>
          </a:xfrm>
          <a:prstGeom prst="rect">
            <a:avLst/>
          </a:prstGeom>
          <a:noFill/>
        </p:spPr>
        <p:txBody>
          <a:bodyPr wrap="none" lIns="0" tIns="0" rIns="0" bIns="0" rtlCol="0" anchor="t"/>
          <a:lstStyle/>
          <a:p>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결핍유형별 정책 패키지</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정책지원 플랫폼 시안</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가리봉동 사례</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기대효과</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한계 및 향후 과제 </a:t>
            </a:r>
            <a:endPar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3" name="Text 2"/>
          <p:cNvSpPr/>
          <p:nvPr/>
        </p:nvSpPr>
        <p:spPr>
          <a:xfrm>
            <a:off x="447308" y="249473"/>
            <a:ext cx="8151763" cy="329431"/>
          </a:xfrm>
          <a:prstGeom prst="rect">
            <a:avLst/>
          </a:prstGeom>
          <a:noFill/>
          <a:ln>
            <a:noFill/>
          </a:ln>
        </p:spPr>
        <p:txBody>
          <a:bodyPr wrap="none" lIns="0" tIns="0" rIns="0" bIns="0" rtlCol="0" anchor="t"/>
          <a:lstStyle/>
          <a:p>
            <a:pPr marL="0" indent="0" algn="l">
              <a:lnSpc>
                <a:spcPts val="2550"/>
              </a:lnSpc>
              <a:buNone/>
            </a:pPr>
            <a:r>
              <a:rPr lang="ko-KR" altLang="en-US" sz="1200" dirty="0">
                <a:solidFill>
                  <a:srgbClr val="1B1B27"/>
                </a:solidFill>
                <a:latin typeface="Microsoft JhengHei" panose="020B0604030504040204" pitchFamily="34" charset="-120"/>
                <a:ea typeface="Microsoft JhengHei" panose="020B0604030504040204" pitchFamily="34" charset="-120"/>
                <a:cs typeface="맑은 고딕 Semilight" panose="020B0502040204020203" pitchFamily="50" charset="-127"/>
              </a:rPr>
              <a:t>목차</a:t>
            </a:r>
            <a:endParaRPr lang="ko-KR" altLang="en-US" sz="1200" dirty="0">
              <a:solidFill>
                <a:srgbClr val="1B1B27"/>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4" name="Shape 3"/>
          <p:cNvSpPr/>
          <p:nvPr/>
        </p:nvSpPr>
        <p:spPr>
          <a:xfrm>
            <a:off x="447308" y="581677"/>
            <a:ext cx="8151763" cy="7888"/>
          </a:xfrm>
          <a:prstGeom prst="rect">
            <a:avLst/>
          </a:prstGeom>
          <a:solidFill>
            <a:srgbClr val="3C3939">
              <a:alpha val="50000"/>
            </a:srgbClr>
          </a:solidFill>
          <a:ln>
            <a:noFill/>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822960" y="747522"/>
            <a:ext cx="4023360" cy="502920"/>
          </a:xfrm>
          <a:prstGeom prst="rect">
            <a:avLst/>
          </a:prstGeom>
          <a:noFill/>
        </p:spPr>
        <p:txBody>
          <a:bodyPr wrap="square" lIns="0" tIns="0" rIns="0" bIns="0" rtlCol="0" anchor="ctr"/>
          <a:lstStyle/>
          <a:p>
            <a:pPr marL="0" indent="0" algn="ctr">
              <a:buNone/>
            </a:pPr>
            <a:r>
              <a:rPr lang="en-US" sz="3200" dirty="0">
                <a:solidFill>
                  <a:srgbClr val="1E3A5F"/>
                </a:solidFill>
                <a:latin typeface="Microsoft JhengHei" panose="020B0604030504040204" pitchFamily="34" charset="-120"/>
                <a:ea typeface="Microsoft JhengHei" panose="020B0604030504040204" pitchFamily="34" charset="-120"/>
              </a:rPr>
              <a:t>39.9%</a:t>
            </a:r>
            <a:endParaRPr lang="en-US" sz="3200" dirty="0">
              <a:solidFill>
                <a:srgbClr val="1E3A5F"/>
              </a:solidFill>
              <a:latin typeface="Microsoft JhengHei" panose="020B0604030504040204" pitchFamily="34" charset="-120"/>
              <a:ea typeface="Microsoft JhengHei" panose="020B0604030504040204" pitchFamily="34" charset="-120"/>
            </a:endParaRPr>
          </a:p>
        </p:txBody>
      </p:sp>
      <p:sp>
        <p:nvSpPr>
          <p:cNvPr id="7" name="Text 5"/>
          <p:cNvSpPr/>
          <p:nvPr/>
        </p:nvSpPr>
        <p:spPr>
          <a:xfrm>
            <a:off x="822960" y="1259586"/>
            <a:ext cx="4023360" cy="219456"/>
          </a:xfrm>
          <a:prstGeom prst="rect">
            <a:avLst/>
          </a:prstGeom>
          <a:noFill/>
        </p:spPr>
        <p:txBody>
          <a:bodyPr wrap="square" lIns="0" tIns="0" rIns="0" bIns="0" rtlCol="0" anchor="ctr"/>
          <a:lstStyle/>
          <a:p>
            <a:pPr marL="0" indent="0" algn="ctr">
              <a:buNone/>
            </a:pPr>
            <a:r>
              <a:rPr lang="en-US" sz="11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서울 1인가구 비율</a:t>
            </a:r>
            <a:endParaRPr lang="en-US" sz="11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 name="Text 6"/>
          <p:cNvSpPr/>
          <p:nvPr/>
        </p:nvSpPr>
        <p:spPr>
          <a:xfrm>
            <a:off x="822960" y="1479042"/>
            <a:ext cx="4023360" cy="237744"/>
          </a:xfrm>
          <a:prstGeom prst="rect">
            <a:avLst/>
          </a:prstGeom>
          <a:noFill/>
        </p:spPr>
        <p:txBody>
          <a:bodyPr wrap="square" lIns="0" tIns="0" rIns="0" bIns="0" rtlCol="0" anchor="ctr"/>
          <a:lstStyle/>
          <a:p>
            <a:pPr marL="0" indent="0" algn="ctr">
              <a:buNone/>
            </a:pPr>
            <a:r>
              <a:rPr lang="en-US" sz="850" dirty="0">
                <a:solidFill>
                  <a:srgbClr val="8A9BB5"/>
                </a:solidFill>
                <a:latin typeface="Microsoft JhengHei" panose="020B0604030504040204" pitchFamily="34" charset="-120"/>
                <a:ea typeface="Microsoft JhengHei" panose="020B0604030504040204" pitchFamily="34" charset="-120"/>
                <a:cs typeface="Microsoft JhengHei" panose="020B0604030504040204" pitchFamily="34" charset="-120"/>
              </a:rPr>
              <a:t>2024년 서울 전체 가구 중 약 4할이 1인가구 — 전국 최고 수준의 1인가구 도시</a:t>
            </a:r>
            <a:endParaRPr lang="en-US" sz="850" dirty="0">
              <a:solidFill>
                <a:srgbClr val="8A9BB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 name="Text 7"/>
          <p:cNvSpPr/>
          <p:nvPr/>
        </p:nvSpPr>
        <p:spPr>
          <a:xfrm>
            <a:off x="4846320" y="747522"/>
            <a:ext cx="4023360" cy="502920"/>
          </a:xfrm>
          <a:prstGeom prst="rect">
            <a:avLst/>
          </a:prstGeom>
          <a:noFill/>
        </p:spPr>
        <p:txBody>
          <a:bodyPr wrap="square" lIns="0" tIns="0" rIns="0" bIns="0" rtlCol="0" anchor="ctr"/>
          <a:lstStyle/>
          <a:p>
            <a:pPr marL="0" indent="0" algn="ctr">
              <a:buNone/>
            </a:pPr>
            <a:r>
              <a:rPr lang="en-US" sz="3200" dirty="0">
                <a:solidFill>
                  <a:srgbClr val="2B5FA6"/>
                </a:solidFill>
                <a:latin typeface="Microsoft JhengHei" panose="020B0604030504040204" pitchFamily="34" charset="-120"/>
                <a:ea typeface="Microsoft JhengHei" panose="020B0604030504040204" pitchFamily="34" charset="-120"/>
              </a:rPr>
              <a:t>62.1%</a:t>
            </a:r>
            <a:endParaRPr lang="en-US" sz="3200" dirty="0">
              <a:solidFill>
                <a:srgbClr val="2B5FA6"/>
              </a:solidFill>
              <a:latin typeface="Microsoft JhengHei" panose="020B0604030504040204" pitchFamily="34" charset="-120"/>
              <a:ea typeface="Microsoft JhengHei" panose="020B0604030504040204" pitchFamily="34" charset="-120"/>
            </a:endParaRPr>
          </a:p>
        </p:txBody>
      </p:sp>
      <p:sp>
        <p:nvSpPr>
          <p:cNvPr id="10" name="Text 8"/>
          <p:cNvSpPr/>
          <p:nvPr/>
        </p:nvSpPr>
        <p:spPr>
          <a:xfrm>
            <a:off x="4846320" y="1259586"/>
            <a:ext cx="4023360" cy="219456"/>
          </a:xfrm>
          <a:prstGeom prst="rect">
            <a:avLst/>
          </a:prstGeom>
          <a:noFill/>
        </p:spPr>
        <p:txBody>
          <a:bodyPr wrap="square" lIns="0" tIns="0" rIns="0" bIns="0" rtlCol="0" anchor="ctr"/>
          <a:lstStyle/>
          <a:p>
            <a:pPr marL="0" indent="0" algn="ctr">
              <a:buNone/>
            </a:pPr>
            <a:r>
              <a:rPr lang="en-US" sz="11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외로움 경험 비율</a:t>
            </a:r>
            <a:endParaRPr lang="en-US" sz="11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 name="Text 9"/>
          <p:cNvSpPr/>
          <p:nvPr/>
        </p:nvSpPr>
        <p:spPr>
          <a:xfrm>
            <a:off x="4846320" y="1479042"/>
            <a:ext cx="4023360" cy="237744"/>
          </a:xfrm>
          <a:prstGeom prst="rect">
            <a:avLst/>
          </a:prstGeom>
          <a:noFill/>
        </p:spPr>
        <p:txBody>
          <a:bodyPr wrap="square" lIns="0" tIns="0" rIns="0" bIns="0" rtlCol="0" anchor="ctr"/>
          <a:lstStyle/>
          <a:p>
            <a:pPr marL="0" indent="0" algn="ctr">
              <a:buNone/>
            </a:pPr>
            <a:r>
              <a:rPr lang="en-US" sz="850" dirty="0">
                <a:solidFill>
                  <a:srgbClr val="8A9BB5"/>
                </a:solidFill>
                <a:latin typeface="Microsoft JhengHei" panose="020B0604030504040204" pitchFamily="34" charset="-120"/>
                <a:ea typeface="Microsoft JhengHei" panose="020B0604030504040204" pitchFamily="34" charset="-120"/>
                <a:cs typeface="Microsoft JhengHei" panose="020B0604030504040204" pitchFamily="34" charset="-120"/>
              </a:rPr>
              <a:t>서울 1인가구 중 외로움을 경험한 비율 (서울 1인가구 대상)</a:t>
            </a:r>
            <a:endParaRPr lang="en-US" sz="850" dirty="0">
              <a:solidFill>
                <a:srgbClr val="8A9BB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 name="Text 10"/>
          <p:cNvSpPr/>
          <p:nvPr/>
        </p:nvSpPr>
        <p:spPr>
          <a:xfrm>
            <a:off x="822960" y="1863090"/>
            <a:ext cx="4023360" cy="502920"/>
          </a:xfrm>
          <a:prstGeom prst="rect">
            <a:avLst/>
          </a:prstGeom>
          <a:noFill/>
        </p:spPr>
        <p:txBody>
          <a:bodyPr wrap="square" lIns="0" tIns="0" rIns="0" bIns="0" rtlCol="0" anchor="ctr"/>
          <a:lstStyle/>
          <a:p>
            <a:pPr marL="0" indent="0" algn="ctr">
              <a:buNone/>
            </a:pPr>
            <a:r>
              <a:rPr lang="en-US" sz="3200" dirty="0">
                <a:solidFill>
                  <a:srgbClr val="D4621A"/>
                </a:solidFill>
                <a:latin typeface="Microsoft JhengHei" panose="020B0604030504040204" pitchFamily="34" charset="-120"/>
                <a:ea typeface="Microsoft JhengHei" panose="020B0604030504040204" pitchFamily="34" charset="-120"/>
              </a:rPr>
              <a:t>13.6%</a:t>
            </a:r>
            <a:endParaRPr lang="en-US" sz="3200" dirty="0">
              <a:solidFill>
                <a:srgbClr val="D4621A"/>
              </a:solidFill>
              <a:latin typeface="Microsoft JhengHei" panose="020B0604030504040204" pitchFamily="34" charset="-120"/>
              <a:ea typeface="Microsoft JhengHei" panose="020B0604030504040204" pitchFamily="34" charset="-120"/>
            </a:endParaRPr>
          </a:p>
        </p:txBody>
      </p:sp>
      <p:sp>
        <p:nvSpPr>
          <p:cNvPr id="13" name="Text 11"/>
          <p:cNvSpPr/>
          <p:nvPr/>
        </p:nvSpPr>
        <p:spPr>
          <a:xfrm>
            <a:off x="822960" y="2375154"/>
            <a:ext cx="4023360" cy="219456"/>
          </a:xfrm>
          <a:prstGeom prst="rect">
            <a:avLst/>
          </a:prstGeom>
          <a:noFill/>
        </p:spPr>
        <p:txBody>
          <a:bodyPr wrap="square" lIns="0" tIns="0" rIns="0" bIns="0" rtlCol="0" anchor="ctr"/>
          <a:lstStyle/>
          <a:p>
            <a:pPr marL="0" indent="0" algn="ctr">
              <a:buNone/>
            </a:pPr>
            <a:r>
              <a:rPr lang="en-US" sz="11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사회적 고립 경험 비율</a:t>
            </a:r>
            <a:endParaRPr lang="en-US" sz="11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4" name="Text 12"/>
          <p:cNvSpPr/>
          <p:nvPr/>
        </p:nvSpPr>
        <p:spPr>
          <a:xfrm>
            <a:off x="822960" y="2594610"/>
            <a:ext cx="4023360" cy="237744"/>
          </a:xfrm>
          <a:prstGeom prst="rect">
            <a:avLst/>
          </a:prstGeom>
          <a:noFill/>
        </p:spPr>
        <p:txBody>
          <a:bodyPr wrap="square" lIns="0" tIns="0" rIns="0" bIns="0" rtlCol="0" anchor="ctr"/>
          <a:lstStyle/>
          <a:p>
            <a:pPr marL="0" indent="0" algn="ctr">
              <a:buNone/>
            </a:pPr>
            <a:r>
              <a:rPr lang="en-US" sz="850" dirty="0">
                <a:solidFill>
                  <a:srgbClr val="8A9BB5"/>
                </a:solidFill>
                <a:latin typeface="Microsoft JhengHei" panose="020B0604030504040204" pitchFamily="34" charset="-120"/>
                <a:ea typeface="Microsoft JhengHei" panose="020B0604030504040204" pitchFamily="34" charset="-120"/>
                <a:cs typeface="Microsoft JhengHei" panose="020B0604030504040204" pitchFamily="34" charset="-120"/>
              </a:rPr>
              <a:t>서울 1인가구 중 사회적 고립을 경험한 비율 (서울 1인가구 대상)</a:t>
            </a:r>
            <a:endParaRPr lang="en-US" sz="850" dirty="0">
              <a:solidFill>
                <a:srgbClr val="8A9BB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5" name="Text 13"/>
          <p:cNvSpPr/>
          <p:nvPr/>
        </p:nvSpPr>
        <p:spPr>
          <a:xfrm>
            <a:off x="4846320" y="1863090"/>
            <a:ext cx="4023360" cy="502920"/>
          </a:xfrm>
          <a:prstGeom prst="rect">
            <a:avLst/>
          </a:prstGeom>
          <a:noFill/>
        </p:spPr>
        <p:txBody>
          <a:bodyPr wrap="square" lIns="0" tIns="0" rIns="0" bIns="0" rtlCol="0" anchor="ctr"/>
          <a:lstStyle/>
          <a:p>
            <a:pPr marL="0" indent="0" algn="ctr">
              <a:buNone/>
            </a:pPr>
            <a:r>
              <a:rPr lang="en-US" sz="3200" dirty="0">
                <a:solidFill>
                  <a:srgbClr val="C0392B"/>
                </a:solidFill>
                <a:latin typeface="Microsoft JhengHei" panose="020B0604030504040204" pitchFamily="34" charset="-120"/>
                <a:ea typeface="Microsoft JhengHei" panose="020B0604030504040204" pitchFamily="34" charset="-120"/>
              </a:rPr>
              <a:t>784</a:t>
            </a:r>
            <a:endParaRPr lang="en-US" sz="3200" dirty="0">
              <a:solidFill>
                <a:srgbClr val="C0392B"/>
              </a:solidFill>
              <a:latin typeface="Microsoft JhengHei" panose="020B0604030504040204" pitchFamily="34" charset="-120"/>
              <a:ea typeface="Microsoft JhengHei" panose="020B0604030504040204" pitchFamily="34" charset="-120"/>
            </a:endParaRPr>
          </a:p>
        </p:txBody>
      </p:sp>
      <p:sp>
        <p:nvSpPr>
          <p:cNvPr id="16" name="Text 14"/>
          <p:cNvSpPr/>
          <p:nvPr/>
        </p:nvSpPr>
        <p:spPr>
          <a:xfrm>
            <a:off x="4846320" y="2375154"/>
            <a:ext cx="4023360" cy="219456"/>
          </a:xfrm>
          <a:prstGeom prst="rect">
            <a:avLst/>
          </a:prstGeom>
          <a:noFill/>
        </p:spPr>
        <p:txBody>
          <a:bodyPr wrap="square" lIns="0" tIns="0" rIns="0" bIns="0" rtlCol="0" anchor="ctr"/>
          <a:lstStyle/>
          <a:p>
            <a:pPr marL="0" indent="0" algn="ctr">
              <a:buNone/>
            </a:pPr>
            <a:r>
              <a:rPr lang="en-US" sz="11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2024년 서울 고독사</a:t>
            </a:r>
            <a:endParaRPr lang="en-US" sz="11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7" name="Text 15"/>
          <p:cNvSpPr/>
          <p:nvPr/>
        </p:nvSpPr>
        <p:spPr>
          <a:xfrm>
            <a:off x="4846320" y="2594610"/>
            <a:ext cx="4023360" cy="237744"/>
          </a:xfrm>
          <a:prstGeom prst="rect">
            <a:avLst/>
          </a:prstGeom>
          <a:noFill/>
        </p:spPr>
        <p:txBody>
          <a:bodyPr wrap="square" lIns="0" tIns="0" rIns="0" bIns="0" rtlCol="0" anchor="ctr"/>
          <a:lstStyle/>
          <a:p>
            <a:pPr marL="0" indent="0" algn="ctr">
              <a:buNone/>
            </a:pPr>
            <a:r>
              <a:rPr lang="en-US" sz="850" dirty="0">
                <a:solidFill>
                  <a:srgbClr val="8A9BB5"/>
                </a:solidFill>
                <a:latin typeface="Microsoft JhengHei" panose="020B0604030504040204" pitchFamily="34" charset="-120"/>
                <a:ea typeface="Microsoft JhengHei" panose="020B0604030504040204" pitchFamily="34" charset="-120"/>
                <a:cs typeface="Microsoft JhengHei" panose="020B0604030504040204" pitchFamily="34" charset="-120"/>
              </a:rPr>
              <a:t>2024년 한 해 서울에서 발생한 고독사 사망자 수</a:t>
            </a:r>
            <a:endParaRPr lang="en-US" sz="850" dirty="0">
              <a:solidFill>
                <a:srgbClr val="8A9BB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8" name="Shape 16"/>
          <p:cNvSpPr/>
          <p:nvPr/>
        </p:nvSpPr>
        <p:spPr>
          <a:xfrm>
            <a:off x="365760" y="2823210"/>
            <a:ext cx="8412480" cy="0"/>
          </a:xfrm>
          <a:prstGeom prst="line">
            <a:avLst/>
          </a:prstGeom>
          <a:noFill/>
          <a:ln w="7620">
            <a:solidFill>
              <a:srgbClr val="D0D8E8"/>
            </a:solidFill>
            <a:prstDash val="solid"/>
          </a:ln>
        </p:spPr>
        <p:txBody>
          <a:bodyPr/>
          <a:lstStyle/>
          <a:p>
            <a:endParaRPr lang="ko-KR" altLang="en-US">
              <a:latin typeface="Microsoft JhengHei" panose="020B0604030504040204" pitchFamily="34" charset="-120"/>
            </a:endParaRPr>
          </a:p>
        </p:txBody>
      </p:sp>
      <p:sp>
        <p:nvSpPr>
          <p:cNvPr id="19" name="Shape 17"/>
          <p:cNvSpPr/>
          <p:nvPr/>
        </p:nvSpPr>
        <p:spPr>
          <a:xfrm>
            <a:off x="365760" y="2978658"/>
            <a:ext cx="2606040" cy="960120"/>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0" name="Shape 18"/>
          <p:cNvSpPr/>
          <p:nvPr/>
        </p:nvSpPr>
        <p:spPr>
          <a:xfrm>
            <a:off x="365760" y="2978658"/>
            <a:ext cx="2606040" cy="45720"/>
          </a:xfrm>
          <a:prstGeom prst="rect">
            <a:avLst/>
          </a:prstGeom>
          <a:solidFill>
            <a:srgbClr val="2B5FA6"/>
          </a:solidFill>
          <a:ln w="12700">
            <a:solidFill>
              <a:srgbClr val="2B5FA6"/>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1" name="Text 19"/>
          <p:cNvSpPr/>
          <p:nvPr/>
        </p:nvSpPr>
        <p:spPr>
          <a:xfrm>
            <a:off x="475488" y="3070098"/>
            <a:ext cx="2423160" cy="201168"/>
          </a:xfrm>
          <a:prstGeom prst="rect">
            <a:avLst/>
          </a:prstGeom>
          <a:noFill/>
        </p:spPr>
        <p:txBody>
          <a:bodyPr wrap="square" lIns="0" tIns="0" rIns="0" bIns="0" rtlCol="0" anchor="ctr"/>
          <a:lstStyle/>
          <a:p>
            <a:pPr marL="0" indent="0">
              <a:buNone/>
            </a:pPr>
            <a:r>
              <a:rPr lang="en-US" sz="90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1인가구 증가 ≠ 고립 자동화</a:t>
            </a:r>
            <a:endParaRPr lang="en-US" sz="90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2" name="Text 20"/>
          <p:cNvSpPr/>
          <p:nvPr/>
        </p:nvSpPr>
        <p:spPr>
          <a:xfrm>
            <a:off x="475488" y="3289554"/>
            <a:ext cx="2423160" cy="612648"/>
          </a:xfrm>
          <a:prstGeom prst="rect">
            <a:avLst/>
          </a:prstGeom>
          <a:noFill/>
        </p:spPr>
        <p:txBody>
          <a:bodyPr wrap="square" lIns="0" tIns="0" rIns="0" bIns="0" rtlCol="0" anchor="ctr"/>
          <a:lstStyle/>
          <a:p>
            <a:pPr marL="0" indent="0">
              <a:buNone/>
            </a:pPr>
            <a:r>
              <a:rPr lang="en-US" sz="82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rPr>
              <a:t>가족·이웃·관계망의 안전판이 약해질 가능성이 커진다는 점에서, 사회적 고립은 개인 감정이 아닌 도시 복지의 선제 대응 과제입니다.</a:t>
            </a:r>
            <a:endParaRPr lang="en-US" sz="82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3" name="Shape 21"/>
          <p:cNvSpPr/>
          <p:nvPr/>
        </p:nvSpPr>
        <p:spPr>
          <a:xfrm>
            <a:off x="3108960" y="2978658"/>
            <a:ext cx="2606040" cy="960120"/>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4" name="Shape 22"/>
          <p:cNvSpPr/>
          <p:nvPr/>
        </p:nvSpPr>
        <p:spPr>
          <a:xfrm>
            <a:off x="3108960" y="2978658"/>
            <a:ext cx="2606040" cy="45720"/>
          </a:xfrm>
          <a:prstGeom prst="rect">
            <a:avLst/>
          </a:prstGeom>
          <a:solidFill>
            <a:srgbClr val="D4621A"/>
          </a:solidFill>
          <a:ln w="12700">
            <a:solidFill>
              <a:srgbClr val="D4621A"/>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5" name="Text 23"/>
          <p:cNvSpPr/>
          <p:nvPr/>
        </p:nvSpPr>
        <p:spPr>
          <a:xfrm>
            <a:off x="3218688" y="3070098"/>
            <a:ext cx="2423160" cy="201168"/>
          </a:xfrm>
          <a:prstGeom prst="rect">
            <a:avLst/>
          </a:prstGeom>
          <a:noFill/>
        </p:spPr>
        <p:txBody>
          <a:bodyPr wrap="square" lIns="0" tIns="0" rIns="0" bIns="0" rtlCol="0" anchor="ctr"/>
          <a:lstStyle/>
          <a:p>
            <a:pPr marL="0" indent="0">
              <a:buNone/>
            </a:pPr>
            <a:r>
              <a:rPr lang="en-US" sz="90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고립은 서울 전역에 균등하지 않음</a:t>
            </a:r>
            <a:endParaRPr lang="en-US" sz="90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6" name="Text 24"/>
          <p:cNvSpPr/>
          <p:nvPr/>
        </p:nvSpPr>
        <p:spPr>
          <a:xfrm>
            <a:off x="3218688" y="3289554"/>
            <a:ext cx="2423160" cy="612648"/>
          </a:xfrm>
          <a:prstGeom prst="rect">
            <a:avLst/>
          </a:prstGeom>
          <a:noFill/>
        </p:spPr>
        <p:txBody>
          <a:bodyPr wrap="square" lIns="0" tIns="0" rIns="0" bIns="0" rtlCol="0" anchor="ctr"/>
          <a:lstStyle/>
          <a:p>
            <a:pPr marL="0" indent="0">
              <a:buNone/>
            </a:pPr>
            <a:r>
              <a:rPr lang="en-US" sz="82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rPr>
              <a:t>행정동마다 인구 구조·이동 패턴·생활 인프라가 다릅니다. 고립 취약 가능성도 지역별로 다르게 나타날 수 있습니다.</a:t>
            </a:r>
            <a:endParaRPr lang="en-US" sz="82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7" name="Shape 25"/>
          <p:cNvSpPr/>
          <p:nvPr/>
        </p:nvSpPr>
        <p:spPr>
          <a:xfrm>
            <a:off x="5852160" y="2978658"/>
            <a:ext cx="2606040" cy="960120"/>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8" name="Shape 26"/>
          <p:cNvSpPr/>
          <p:nvPr/>
        </p:nvSpPr>
        <p:spPr>
          <a:xfrm>
            <a:off x="5852160" y="2978658"/>
            <a:ext cx="2606040" cy="45720"/>
          </a:xfrm>
          <a:prstGeom prst="rect">
            <a:avLst/>
          </a:prstGeom>
          <a:solidFill>
            <a:srgbClr val="C0392B"/>
          </a:solidFill>
          <a:ln w="12700">
            <a:solidFill>
              <a:srgbClr val="C0392B"/>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9" name="Text 27"/>
          <p:cNvSpPr/>
          <p:nvPr/>
        </p:nvSpPr>
        <p:spPr>
          <a:xfrm>
            <a:off x="5961888" y="3070098"/>
            <a:ext cx="2423160" cy="201168"/>
          </a:xfrm>
          <a:prstGeom prst="rect">
            <a:avLst/>
          </a:prstGeom>
          <a:noFill/>
        </p:spPr>
        <p:txBody>
          <a:bodyPr wrap="square" lIns="0" tIns="0" rIns="0" bIns="0" rtlCol="0" anchor="ctr"/>
          <a:lstStyle/>
          <a:p>
            <a:pPr marL="0" indent="0">
              <a:buNone/>
            </a:pPr>
            <a:r>
              <a:rPr lang="en-US" sz="90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수치 범위 주의</a:t>
            </a:r>
            <a:endParaRPr lang="en-US" sz="90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0" name="Text 28"/>
          <p:cNvSpPr/>
          <p:nvPr/>
        </p:nvSpPr>
        <p:spPr>
          <a:xfrm>
            <a:off x="5961888" y="3289554"/>
            <a:ext cx="2423160" cy="612648"/>
          </a:xfrm>
          <a:prstGeom prst="rect">
            <a:avLst/>
          </a:prstGeom>
          <a:noFill/>
        </p:spPr>
        <p:txBody>
          <a:bodyPr wrap="square" lIns="0" tIns="0" rIns="0" bIns="0" rtlCol="0" anchor="ctr"/>
          <a:lstStyle/>
          <a:p>
            <a:pPr marL="0" indent="0">
              <a:buNone/>
            </a:pPr>
            <a:r>
              <a:rPr lang="en-US" sz="82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rPr>
              <a:t>외로움(62.1%)·사회적 고립(13.6%) 수치는 서울 전체 시민이 아닌 서울 1인가구 대상 수치입니다.</a:t>
            </a:r>
            <a:endParaRPr lang="en-US" sz="82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3" name="Text 31"/>
          <p:cNvSpPr/>
          <p:nvPr/>
        </p:nvSpPr>
        <p:spPr>
          <a:xfrm>
            <a:off x="530352" y="4713732"/>
            <a:ext cx="8229600" cy="292608"/>
          </a:xfrm>
          <a:prstGeom prst="rect">
            <a:avLst/>
          </a:prstGeom>
          <a:noFill/>
        </p:spPr>
        <p:txBody>
          <a:bodyPr wrap="square" lIns="0" tIns="0" rIns="0" bIns="0" rtlCol="0" anchor="ctr"/>
          <a:lstStyle/>
          <a:p>
            <a:pPr marL="0" indent="0">
              <a:buNone/>
            </a:pPr>
            <a:r>
              <a:rPr lang="en-US" sz="900" dirty="0">
                <a:latin typeface="Microsoft JhengHei" panose="020B0604030504040204" pitchFamily="34" charset="-120"/>
                <a:ea typeface="Microsoft JhengHei" panose="020B0604030504040204" pitchFamily="34" charset="-120"/>
                <a:cs typeface="Microsoft JhengHei" panose="020B0604030504040204" pitchFamily="34" charset="-120"/>
              </a:rPr>
              <a:t>서울의 </a:t>
            </a:r>
            <a:r>
              <a:rPr lang="ko-KR" altLang="en-US" sz="900" dirty="0">
                <a:latin typeface="Microsoft JhengHei" panose="020B0604030504040204" pitchFamily="34" charset="-120"/>
                <a:ea typeface="Microsoft JhengHei" panose="020B0604030504040204" pitchFamily="34" charset="-120"/>
                <a:cs typeface="Microsoft JhengHei" panose="020B0604030504040204" pitchFamily="34" charset="-120"/>
              </a:rPr>
              <a:t>진짜</a:t>
            </a:r>
            <a:r>
              <a:rPr lang="en-US" altLang="ko-KR" sz="9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a:latin typeface="Microsoft JhengHei" panose="020B0604030504040204" pitchFamily="34" charset="-120"/>
                <a:ea typeface="Microsoft JhengHei" panose="020B0604030504040204" pitchFamily="34" charset="-120"/>
                <a:cs typeface="Microsoft JhengHei" panose="020B0604030504040204" pitchFamily="34" charset="-120"/>
              </a:rPr>
              <a:t>위기는 혼자 사는 사람이 많아진 것이 아니라, 필요할 때 연결되지 못하는 구조에 있</a:t>
            </a:r>
            <a:r>
              <a:rPr lang="ko-KR" altLang="en-US" sz="900" dirty="0">
                <a:latin typeface="Microsoft JhengHei" panose="020B0604030504040204" pitchFamily="34" charset="-120"/>
                <a:ea typeface="Microsoft JhengHei" panose="020B0604030504040204" pitchFamily="34" charset="-120"/>
                <a:cs typeface="Microsoft JhengHei" panose="020B0604030504040204" pitchFamily="34" charset="-120"/>
              </a:rPr>
              <a:t>습니</a:t>
            </a:r>
            <a:r>
              <a:rPr lang="en-US" sz="900" dirty="0">
                <a:latin typeface="Microsoft JhengHei" panose="020B0604030504040204" pitchFamily="34" charset="-120"/>
                <a:ea typeface="Microsoft JhengHei" panose="020B0604030504040204" pitchFamily="34" charset="-120"/>
                <a:cs typeface="Microsoft JhengHei" panose="020B0604030504040204" pitchFamily="34" charset="-120"/>
              </a:rPr>
              <a:t>다.</a:t>
            </a:r>
            <a:endParaRPr lang="en-US" sz="9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5" name="Rectangle 37"/>
          <p:cNvSpPr/>
          <p:nvPr/>
        </p:nvSpPr>
        <p:spPr>
          <a:xfrm>
            <a:off x="381080" y="4690015"/>
            <a:ext cx="45719" cy="332367"/>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6"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7"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01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연구 배경</a:t>
            </a:r>
            <a:endParaRPr lang="en-US" sz="650" dirty="0">
              <a:latin typeface="Microsoft JhengHei" panose="020B0604030504040204" pitchFamily="34" charset="-120"/>
              <a:ea typeface="Microsoft JhengHei" panose="020B0604030504040204" pitchFamily="34" charset="-120"/>
            </a:endParaRPr>
          </a:p>
        </p:txBody>
      </p:sp>
      <p:sp>
        <p:nvSpPr>
          <p:cNvPr id="38"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서울의 고립 구조</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9"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58" name="Shape 3"/>
          <p:cNvSpPr/>
          <p:nvPr/>
        </p:nvSpPr>
        <p:spPr>
          <a:xfrm>
            <a:off x="347472" y="3947922"/>
            <a:ext cx="8631936" cy="0"/>
          </a:xfrm>
          <a:prstGeom prst="line">
            <a:avLst/>
          </a:prstGeom>
          <a:noFill/>
          <a:ln w="6350">
            <a:solidFill>
              <a:srgbClr val="DDDDDD"/>
            </a:solidFill>
            <a:prstDash val="solid"/>
          </a:ln>
        </p:spPr>
      </p:sp>
      <p:sp>
        <p:nvSpPr>
          <p:cNvPr id="59" name="Shape 4"/>
          <p:cNvSpPr/>
          <p:nvPr/>
        </p:nvSpPr>
        <p:spPr>
          <a:xfrm>
            <a:off x="347472" y="4057650"/>
            <a:ext cx="146304" cy="146304"/>
          </a:xfrm>
          <a:prstGeom prst="ellipse">
            <a:avLst/>
          </a:prstGeom>
          <a:solidFill>
            <a:srgbClr val="1B3A6B"/>
          </a:solidFill>
          <a:ln w="12700">
            <a:solidFill>
              <a:srgbClr val="1B3A6B"/>
            </a:solidFill>
            <a:prstDash val="solid"/>
          </a:ln>
        </p:spPr>
      </p:sp>
      <p:sp>
        <p:nvSpPr>
          <p:cNvPr id="60" name="Text 5"/>
          <p:cNvSpPr/>
          <p:nvPr/>
        </p:nvSpPr>
        <p:spPr>
          <a:xfrm>
            <a:off x="347472" y="4057650"/>
            <a:ext cx="146304" cy="146304"/>
          </a:xfrm>
          <a:prstGeom prst="rect">
            <a:avLst/>
          </a:prstGeom>
          <a:noFill/>
        </p:spPr>
        <p:txBody>
          <a:bodyPr wrap="square" lIns="0" tIns="0" rIns="0" bIns="0" rtlCol="0" anchor="ctr"/>
          <a:lstStyle/>
          <a:p>
            <a:pPr marL="0" indent="0" algn="ctr">
              <a:buNone/>
            </a:pPr>
            <a:r>
              <a:rPr lang="en-US" sz="600" b="1" dirty="0">
                <a:solidFill>
                  <a:srgbClr val="FFFFFF"/>
                </a:solidFill>
              </a:rPr>
              <a:t>1</a:t>
            </a:r>
            <a:endParaRPr lang="en-US" sz="600" dirty="0"/>
          </a:p>
        </p:txBody>
      </p:sp>
      <p:sp>
        <p:nvSpPr>
          <p:cNvPr id="61" name="Text 6"/>
          <p:cNvSpPr/>
          <p:nvPr/>
        </p:nvSpPr>
        <p:spPr>
          <a:xfrm>
            <a:off x="566928" y="4021074"/>
            <a:ext cx="8412480" cy="201168"/>
          </a:xfrm>
          <a:prstGeom prst="rect">
            <a:avLst/>
          </a:prstGeom>
          <a:noFill/>
        </p:spPr>
        <p:txBody>
          <a:bodyPr wrap="square" lIns="0" tIns="0" rIns="0" bIns="0" rtlCol="0" anchor="ctr"/>
          <a:lstStyle/>
          <a:p>
            <a:pPr marL="0" indent="0" algn="l">
              <a:buNone/>
            </a:pPr>
            <a:r>
              <a:rPr lang="en-US" sz="850" dirty="0">
                <a:solidFill>
                  <a:srgbClr val="3A3A3A"/>
                </a:solidFill>
                <a:latin typeface="Microsoft JhengHei" panose="020B0604030504040204" pitchFamily="34" charset="-120"/>
                <a:ea typeface="Microsoft JhengHei" panose="020B0604030504040204" pitchFamily="34" charset="-120"/>
                <a:cs typeface="Microsoft JhengHei" panose="020B0604030504040204" pitchFamily="34" charset="-120"/>
              </a:rPr>
              <a:t>1인가구 비율 39.9%로 역대 최고지만, 누가·어디서 고립되는지 행정동 단위 정밀 진단이 없다.</a:t>
            </a:r>
            <a:endParaRPr lang="en-US" sz="850" dirty="0">
              <a:solidFill>
                <a:srgbClr val="3A3A3A"/>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2" name="Shape 7"/>
          <p:cNvSpPr/>
          <p:nvPr/>
        </p:nvSpPr>
        <p:spPr>
          <a:xfrm>
            <a:off x="347472" y="4240530"/>
            <a:ext cx="146304" cy="146304"/>
          </a:xfrm>
          <a:prstGeom prst="ellipse">
            <a:avLst/>
          </a:prstGeom>
          <a:solidFill>
            <a:srgbClr val="1B3A6B"/>
          </a:solidFill>
          <a:ln w="12700">
            <a:solidFill>
              <a:srgbClr val="1B3A6B"/>
            </a:solidFill>
            <a:prstDash val="solid"/>
          </a:ln>
        </p:spPr>
      </p:sp>
      <p:sp>
        <p:nvSpPr>
          <p:cNvPr id="63" name="Text 8"/>
          <p:cNvSpPr/>
          <p:nvPr/>
        </p:nvSpPr>
        <p:spPr>
          <a:xfrm>
            <a:off x="347472" y="4240530"/>
            <a:ext cx="146304" cy="146304"/>
          </a:xfrm>
          <a:prstGeom prst="rect">
            <a:avLst/>
          </a:prstGeom>
          <a:noFill/>
        </p:spPr>
        <p:txBody>
          <a:bodyPr wrap="square" lIns="0" tIns="0" rIns="0" bIns="0" rtlCol="0" anchor="ctr"/>
          <a:lstStyle/>
          <a:p>
            <a:pPr marL="0" indent="0" algn="ctr">
              <a:buNone/>
            </a:pPr>
            <a:r>
              <a:rPr lang="en-US" sz="600" b="1" dirty="0">
                <a:solidFill>
                  <a:srgbClr val="FFFFFF"/>
                </a:solidFill>
              </a:rPr>
              <a:t>2</a:t>
            </a:r>
            <a:endParaRPr lang="en-US" sz="600" dirty="0"/>
          </a:p>
        </p:txBody>
      </p:sp>
      <p:sp>
        <p:nvSpPr>
          <p:cNvPr id="64" name="Text 9"/>
          <p:cNvSpPr/>
          <p:nvPr/>
        </p:nvSpPr>
        <p:spPr>
          <a:xfrm>
            <a:off x="566928" y="4203954"/>
            <a:ext cx="8412480" cy="201168"/>
          </a:xfrm>
          <a:prstGeom prst="rect">
            <a:avLst/>
          </a:prstGeom>
          <a:noFill/>
        </p:spPr>
        <p:txBody>
          <a:bodyPr wrap="square" lIns="0" tIns="0" rIns="0" bIns="0" rtlCol="0" anchor="ctr"/>
          <a:lstStyle/>
          <a:p>
            <a:pPr marL="0" indent="0" algn="l">
              <a:buNone/>
            </a:pPr>
            <a:r>
              <a:rPr lang="en-US" sz="850" dirty="0">
                <a:solidFill>
                  <a:srgbClr val="3A3A3A"/>
                </a:solidFill>
                <a:latin typeface="Microsoft JhengHei" panose="020B0604030504040204" pitchFamily="34" charset="-120"/>
                <a:ea typeface="Microsoft JhengHei" panose="020B0604030504040204" pitchFamily="34" charset="-120"/>
                <a:cs typeface="Microsoft JhengHei" panose="020B0604030504040204" pitchFamily="34" charset="-120"/>
              </a:rPr>
              <a:t>청년·중장년·노년은 고립 양상이 다르지만, 기존 정책은 노인 단독 지원에 머물러 있다.</a:t>
            </a:r>
            <a:endParaRPr lang="en-US" sz="850" dirty="0">
              <a:solidFill>
                <a:srgbClr val="3A3A3A"/>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5" name="Shape 10"/>
          <p:cNvSpPr/>
          <p:nvPr/>
        </p:nvSpPr>
        <p:spPr>
          <a:xfrm>
            <a:off x="347472" y="4423410"/>
            <a:ext cx="146304" cy="146304"/>
          </a:xfrm>
          <a:prstGeom prst="ellipse">
            <a:avLst/>
          </a:prstGeom>
          <a:solidFill>
            <a:srgbClr val="1B3A6B"/>
          </a:solidFill>
          <a:ln w="12700">
            <a:solidFill>
              <a:srgbClr val="1B3A6B"/>
            </a:solidFill>
            <a:prstDash val="solid"/>
          </a:ln>
        </p:spPr>
      </p:sp>
      <p:sp>
        <p:nvSpPr>
          <p:cNvPr id="66" name="Text 11"/>
          <p:cNvSpPr/>
          <p:nvPr/>
        </p:nvSpPr>
        <p:spPr>
          <a:xfrm>
            <a:off x="347472" y="4423410"/>
            <a:ext cx="146304" cy="146304"/>
          </a:xfrm>
          <a:prstGeom prst="rect">
            <a:avLst/>
          </a:prstGeom>
          <a:noFill/>
        </p:spPr>
        <p:txBody>
          <a:bodyPr wrap="square" lIns="0" tIns="0" rIns="0" bIns="0" rtlCol="0" anchor="ctr"/>
          <a:lstStyle/>
          <a:p>
            <a:pPr marL="0" indent="0" algn="ctr">
              <a:buNone/>
            </a:pPr>
            <a:r>
              <a:rPr lang="en-US" sz="600" b="1" dirty="0">
                <a:solidFill>
                  <a:srgbClr val="FFFFFF"/>
                </a:solidFill>
              </a:rPr>
              <a:t>3</a:t>
            </a:r>
            <a:endParaRPr lang="en-US" sz="600" dirty="0"/>
          </a:p>
        </p:txBody>
      </p:sp>
      <p:sp>
        <p:nvSpPr>
          <p:cNvPr id="67" name="Text 12"/>
          <p:cNvSpPr/>
          <p:nvPr/>
        </p:nvSpPr>
        <p:spPr>
          <a:xfrm>
            <a:off x="566928" y="4386834"/>
            <a:ext cx="8412480" cy="201168"/>
          </a:xfrm>
          <a:prstGeom prst="rect">
            <a:avLst/>
          </a:prstGeom>
          <a:noFill/>
        </p:spPr>
        <p:txBody>
          <a:bodyPr wrap="square" lIns="0" tIns="0" rIns="0" bIns="0" rtlCol="0" anchor="ctr"/>
          <a:lstStyle/>
          <a:p>
            <a:pPr marL="0" indent="0" algn="l">
              <a:buNone/>
            </a:pPr>
            <a:r>
              <a:rPr lang="en-US" sz="850" dirty="0">
                <a:solidFill>
                  <a:srgbClr val="3A3A3A"/>
                </a:solidFill>
                <a:latin typeface="Microsoft JhengHei" panose="020B0604030504040204" pitchFamily="34" charset="-120"/>
                <a:ea typeface="Microsoft JhengHei" panose="020B0604030504040204" pitchFamily="34" charset="-120"/>
                <a:cs typeface="Microsoft JhengHei" panose="020B0604030504040204" pitchFamily="34" charset="-120"/>
              </a:rPr>
              <a:t>426개 행정동의 연령대별 고립 위험을 정량화하여 정책 개입 우선순위를 도출한다.</a:t>
            </a:r>
            <a:endParaRPr lang="en-US" sz="850" dirty="0">
              <a:solidFill>
                <a:srgbClr val="3A3A3A"/>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8" name="Shape 13"/>
          <p:cNvSpPr/>
          <p:nvPr/>
        </p:nvSpPr>
        <p:spPr>
          <a:xfrm>
            <a:off x="347472" y="4624578"/>
            <a:ext cx="8631936" cy="0"/>
          </a:xfrm>
          <a:prstGeom prst="line">
            <a:avLst/>
          </a:prstGeom>
          <a:noFill/>
          <a:ln w="6350">
            <a:solidFill>
              <a:srgbClr val="DDDDDD"/>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320040" y="798880"/>
            <a:ext cx="3840480" cy="621792"/>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7" name="Shape 5"/>
          <p:cNvSpPr/>
          <p:nvPr/>
        </p:nvSpPr>
        <p:spPr>
          <a:xfrm>
            <a:off x="320040" y="798880"/>
            <a:ext cx="45720" cy="621792"/>
          </a:xfrm>
          <a:prstGeom prst="rect">
            <a:avLst/>
          </a:prstGeom>
          <a:solidFill>
            <a:srgbClr val="1E3A5F"/>
          </a:solidFill>
          <a:ln w="12700">
            <a:solidFill>
              <a:srgbClr val="1E3A5F"/>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 name="Text 6"/>
          <p:cNvSpPr/>
          <p:nvPr/>
        </p:nvSpPr>
        <p:spPr>
          <a:xfrm>
            <a:off x="448056" y="844600"/>
            <a:ext cx="1417320" cy="347472"/>
          </a:xfrm>
          <a:prstGeom prst="rect">
            <a:avLst/>
          </a:prstGeom>
          <a:noFill/>
        </p:spPr>
        <p:txBody>
          <a:bodyPr wrap="square" lIns="0" tIns="0" rIns="0" bIns="0" rtlCol="0" anchor="ctr"/>
          <a:lstStyle/>
          <a:p>
            <a:pPr marL="0" indent="0">
              <a:buNone/>
            </a:pPr>
            <a:r>
              <a:rPr lang="en-US" sz="240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3,924명</a:t>
            </a:r>
            <a:endParaRPr lang="en-US" sz="240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 name="Text 7"/>
          <p:cNvSpPr/>
          <p:nvPr/>
        </p:nvSpPr>
        <p:spPr>
          <a:xfrm>
            <a:off x="448056" y="1201216"/>
            <a:ext cx="1417320" cy="182880"/>
          </a:xfrm>
          <a:prstGeom prst="rect">
            <a:avLst/>
          </a:prstGeom>
          <a:noFill/>
        </p:spPr>
        <p:txBody>
          <a:bodyPr wrap="square" lIns="0" tIns="0" rIns="0" bIns="0" rtlCol="0" anchor="ctr"/>
          <a:lstStyle/>
          <a:p>
            <a:pPr marL="0" indent="0">
              <a:buNone/>
            </a:pPr>
            <a:r>
              <a:rPr lang="en-US" sz="85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2024년 전국 고독사</a:t>
            </a:r>
            <a:endParaRPr lang="en-US" sz="85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 name="Text 8"/>
          <p:cNvSpPr/>
          <p:nvPr/>
        </p:nvSpPr>
        <p:spPr>
          <a:xfrm>
            <a:off x="1947672" y="890320"/>
            <a:ext cx="2121408" cy="438912"/>
          </a:xfrm>
          <a:prstGeom prst="rect">
            <a:avLst/>
          </a:prstGeom>
          <a:noFill/>
        </p:spPr>
        <p:txBody>
          <a:bodyPr wrap="square" lIns="0" tIns="0" rIns="0" bIns="0" rtlCol="0" anchor="ctr"/>
          <a:lstStyle/>
          <a:p>
            <a:pPr marL="0" indent="0">
              <a:buNone/>
            </a:pPr>
            <a:r>
              <a:rPr lang="en-US" sz="80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rPr>
              <a:t>전국 기준 고독사 사망자 수</a:t>
            </a:r>
            <a:endParaRPr lang="en-US" sz="80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 name="Shape 9"/>
          <p:cNvSpPr/>
          <p:nvPr/>
        </p:nvSpPr>
        <p:spPr>
          <a:xfrm>
            <a:off x="320040" y="1475536"/>
            <a:ext cx="3840480" cy="621792"/>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2" name="Shape 10"/>
          <p:cNvSpPr/>
          <p:nvPr/>
        </p:nvSpPr>
        <p:spPr>
          <a:xfrm>
            <a:off x="320040" y="1475536"/>
            <a:ext cx="45720" cy="621792"/>
          </a:xfrm>
          <a:prstGeom prst="rect">
            <a:avLst/>
          </a:prstGeom>
          <a:solidFill>
            <a:srgbClr val="2B5FA6"/>
          </a:solidFill>
          <a:ln w="12700">
            <a:solidFill>
              <a:srgbClr val="2B5FA6"/>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3" name="Text 11"/>
          <p:cNvSpPr/>
          <p:nvPr/>
        </p:nvSpPr>
        <p:spPr>
          <a:xfrm>
            <a:off x="448056" y="1521256"/>
            <a:ext cx="1417320" cy="347472"/>
          </a:xfrm>
          <a:prstGeom prst="rect">
            <a:avLst/>
          </a:prstGeom>
          <a:noFill/>
        </p:spPr>
        <p:txBody>
          <a:bodyPr wrap="square" lIns="0" tIns="0" rIns="0" bIns="0" rtlCol="0" anchor="ctr"/>
          <a:lstStyle/>
          <a:p>
            <a:pPr marL="0" indent="0">
              <a:buNone/>
            </a:pPr>
            <a:r>
              <a:rPr lang="en-US" sz="2400" b="1" dirty="0">
                <a:solidFill>
                  <a:srgbClr val="2B5FA6"/>
                </a:solidFill>
                <a:latin typeface="Microsoft JhengHei" panose="020B0604030504040204" pitchFamily="34" charset="-120"/>
                <a:ea typeface="Microsoft JhengHei" panose="020B0604030504040204" pitchFamily="34" charset="-120"/>
              </a:rPr>
              <a:t>62.9%</a:t>
            </a:r>
            <a:endParaRPr lang="en-US" sz="2400" b="1" dirty="0">
              <a:solidFill>
                <a:srgbClr val="2B5FA6"/>
              </a:solidFill>
              <a:latin typeface="Microsoft JhengHei" panose="020B0604030504040204" pitchFamily="34" charset="-120"/>
              <a:ea typeface="Microsoft JhengHei" panose="020B0604030504040204" pitchFamily="34" charset="-120"/>
            </a:endParaRPr>
          </a:p>
        </p:txBody>
      </p:sp>
      <p:sp>
        <p:nvSpPr>
          <p:cNvPr id="14" name="Text 12"/>
          <p:cNvSpPr/>
          <p:nvPr/>
        </p:nvSpPr>
        <p:spPr>
          <a:xfrm>
            <a:off x="448056" y="1877872"/>
            <a:ext cx="1417320" cy="182880"/>
          </a:xfrm>
          <a:prstGeom prst="rect">
            <a:avLst/>
          </a:prstGeom>
          <a:noFill/>
        </p:spPr>
        <p:txBody>
          <a:bodyPr wrap="square" lIns="0" tIns="0" rIns="0" bIns="0" rtlCol="0" anchor="ctr"/>
          <a:lstStyle/>
          <a:p>
            <a:pPr marL="0" indent="0">
              <a:buNone/>
            </a:pPr>
            <a:r>
              <a:rPr lang="en-US" sz="85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50·60대 비중</a:t>
            </a:r>
            <a:endParaRPr lang="en-US" sz="85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5" name="Text 13"/>
          <p:cNvSpPr/>
          <p:nvPr/>
        </p:nvSpPr>
        <p:spPr>
          <a:xfrm>
            <a:off x="1947672" y="1566976"/>
            <a:ext cx="2121408" cy="438912"/>
          </a:xfrm>
          <a:prstGeom prst="rect">
            <a:avLst/>
          </a:prstGeom>
          <a:noFill/>
        </p:spPr>
        <p:txBody>
          <a:bodyPr wrap="square" lIns="0" tIns="0" rIns="0" bIns="0" rtlCol="0" anchor="ctr"/>
          <a:lstStyle/>
          <a:p>
            <a:pPr marL="0" indent="0">
              <a:buNone/>
            </a:pPr>
            <a:r>
              <a:rPr lang="en-US" sz="80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rPr>
              <a:t>전체 고독사 중 50·60대 — 노년만의 문제 아님</a:t>
            </a:r>
            <a:endParaRPr lang="en-US" sz="80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6" name="Shape 14"/>
          <p:cNvSpPr/>
          <p:nvPr/>
        </p:nvSpPr>
        <p:spPr>
          <a:xfrm>
            <a:off x="320040" y="2152192"/>
            <a:ext cx="3840480" cy="621792"/>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7" name="Shape 15"/>
          <p:cNvSpPr/>
          <p:nvPr/>
        </p:nvSpPr>
        <p:spPr>
          <a:xfrm>
            <a:off x="320040" y="2152192"/>
            <a:ext cx="45720" cy="621792"/>
          </a:xfrm>
          <a:prstGeom prst="rect">
            <a:avLst/>
          </a:prstGeom>
          <a:solidFill>
            <a:srgbClr val="C0392B"/>
          </a:solidFill>
          <a:ln w="12700">
            <a:solidFill>
              <a:srgbClr val="C0392B"/>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8" name="Text 16"/>
          <p:cNvSpPr/>
          <p:nvPr/>
        </p:nvSpPr>
        <p:spPr>
          <a:xfrm>
            <a:off x="448056" y="2197912"/>
            <a:ext cx="1417320" cy="347472"/>
          </a:xfrm>
          <a:prstGeom prst="rect">
            <a:avLst/>
          </a:prstGeom>
          <a:noFill/>
        </p:spPr>
        <p:txBody>
          <a:bodyPr wrap="square" lIns="0" tIns="0" rIns="0" bIns="0" rtlCol="0" anchor="ctr"/>
          <a:lstStyle/>
          <a:p>
            <a:pPr marL="0" indent="0">
              <a:buNone/>
            </a:pPr>
            <a:r>
              <a:rPr lang="en-US" sz="2400" b="1" dirty="0">
                <a:solidFill>
                  <a:srgbClr val="C0392B"/>
                </a:solidFill>
                <a:latin typeface="Microsoft JhengHei" panose="020B0604030504040204" pitchFamily="34" charset="-120"/>
                <a:ea typeface="Microsoft JhengHei" panose="020B0604030504040204" pitchFamily="34" charset="-120"/>
              </a:rPr>
              <a:t>81.7%</a:t>
            </a:r>
            <a:endParaRPr lang="en-US" sz="2400" b="1" dirty="0">
              <a:solidFill>
                <a:srgbClr val="C0392B"/>
              </a:solidFill>
              <a:latin typeface="Microsoft JhengHei" panose="020B0604030504040204" pitchFamily="34" charset="-120"/>
              <a:ea typeface="Microsoft JhengHei" panose="020B0604030504040204" pitchFamily="34" charset="-120"/>
            </a:endParaRPr>
          </a:p>
        </p:txBody>
      </p:sp>
      <p:sp>
        <p:nvSpPr>
          <p:cNvPr id="19" name="Text 17"/>
          <p:cNvSpPr/>
          <p:nvPr/>
        </p:nvSpPr>
        <p:spPr>
          <a:xfrm>
            <a:off x="448056" y="2554528"/>
            <a:ext cx="1417320" cy="182880"/>
          </a:xfrm>
          <a:prstGeom prst="rect">
            <a:avLst/>
          </a:prstGeom>
          <a:noFill/>
        </p:spPr>
        <p:txBody>
          <a:bodyPr wrap="square" lIns="0" tIns="0" rIns="0" bIns="0" rtlCol="0" anchor="ctr"/>
          <a:lstStyle/>
          <a:p>
            <a:pPr marL="0" indent="0">
              <a:buNone/>
            </a:pPr>
            <a:r>
              <a:rPr lang="en-US" sz="85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남성 비중</a:t>
            </a:r>
            <a:endParaRPr lang="en-US" sz="85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0" name="Text 18"/>
          <p:cNvSpPr/>
          <p:nvPr/>
        </p:nvSpPr>
        <p:spPr>
          <a:xfrm>
            <a:off x="1947672" y="2243632"/>
            <a:ext cx="2121408" cy="438912"/>
          </a:xfrm>
          <a:prstGeom prst="rect">
            <a:avLst/>
          </a:prstGeom>
          <a:noFill/>
        </p:spPr>
        <p:txBody>
          <a:bodyPr wrap="square" lIns="0" tIns="0" rIns="0" bIns="0" rtlCol="0" anchor="ctr"/>
          <a:lstStyle/>
          <a:p>
            <a:pPr marL="0" indent="0">
              <a:buNone/>
            </a:pPr>
            <a:r>
              <a:rPr lang="en-US" sz="80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rPr>
              <a:t>전체 고독사 중 남성 — 중장년 남성 집중 과제</a:t>
            </a:r>
            <a:endParaRPr lang="en-US" sz="80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1" name="Shape 19"/>
          <p:cNvSpPr/>
          <p:nvPr/>
        </p:nvSpPr>
        <p:spPr>
          <a:xfrm>
            <a:off x="320040" y="2874568"/>
            <a:ext cx="3840480" cy="731520"/>
          </a:xfrm>
          <a:prstGeom prst="rect">
            <a:avLst/>
          </a:prstGeom>
          <a:solidFill>
            <a:srgbClr val="EEF3FB"/>
          </a:solidFill>
          <a:ln w="10160">
            <a:solidFill>
              <a:srgbClr val="B8CBE8"/>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2" name="Shape 20"/>
          <p:cNvSpPr/>
          <p:nvPr/>
        </p:nvSpPr>
        <p:spPr>
          <a:xfrm>
            <a:off x="320040" y="2874568"/>
            <a:ext cx="45720" cy="731520"/>
          </a:xfrm>
          <a:prstGeom prst="rect">
            <a:avLst/>
          </a:prstGeom>
          <a:solidFill>
            <a:srgbClr val="2B5FA6"/>
          </a:solidFill>
          <a:ln w="12700">
            <a:solidFill>
              <a:srgbClr val="2B5FA6"/>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3" name="Text 21"/>
          <p:cNvSpPr/>
          <p:nvPr/>
        </p:nvSpPr>
        <p:spPr>
          <a:xfrm>
            <a:off x="457200" y="2929432"/>
            <a:ext cx="3657600" cy="164592"/>
          </a:xfrm>
          <a:prstGeom prst="rect">
            <a:avLst/>
          </a:prstGeom>
          <a:noFill/>
        </p:spPr>
        <p:txBody>
          <a:bodyPr wrap="square" lIns="0" tIns="0" rIns="0" bIns="0" rtlCol="0" anchor="ctr"/>
          <a:lstStyle/>
          <a:p>
            <a:pPr marL="0" indent="0">
              <a:buNone/>
            </a:pPr>
            <a:r>
              <a:rPr lang="en-US" sz="750" b="1" dirty="0">
                <a:solidFill>
                  <a:srgbClr val="2B5FA6"/>
                </a:solidFill>
                <a:latin typeface="Microsoft JhengHei" panose="020B0604030504040204" pitchFamily="34" charset="-120"/>
                <a:ea typeface="Microsoft JhengHei" panose="020B0604030504040204" pitchFamily="34" charset="-120"/>
                <a:cs typeface="Microsoft JhengHei" panose="020B0604030504040204" pitchFamily="34" charset="-120"/>
              </a:rPr>
              <a:t>원인 분석</a:t>
            </a:r>
            <a:endParaRPr lang="en-US" sz="750" b="1" dirty="0">
              <a:solidFill>
                <a:srgbClr val="2B5FA6"/>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4" name="Text 22"/>
          <p:cNvSpPr/>
          <p:nvPr/>
        </p:nvSpPr>
        <p:spPr>
          <a:xfrm>
            <a:off x="457200" y="3112312"/>
            <a:ext cx="3639312" cy="457200"/>
          </a:xfrm>
          <a:prstGeom prst="rect">
            <a:avLst/>
          </a:prstGeom>
          <a:noFill/>
        </p:spPr>
        <p:txBody>
          <a:bodyPr wrap="square" lIns="0" tIns="0" rIns="0" bIns="0" rtlCol="0" anchor="ctr"/>
          <a:lstStyle/>
          <a:p>
            <a:pPr marL="0" indent="0">
              <a:buNone/>
            </a:pPr>
            <a:r>
              <a:rPr lang="en-US" sz="85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고독사는 관계 단절·생활 기반 약화·사회적 지원 부재가 누적된 결과입니다. </a:t>
            </a:r>
            <a:endParaRPr lang="en-US" sz="85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buNone/>
            </a:pPr>
            <a:r>
              <a:rPr lang="en-US" sz="85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50·60대와 남성 비중이 높다는 사실은 고독사가 노년층만의 문제가 아님을 보여줍니다.</a:t>
            </a:r>
            <a:endParaRPr lang="en-US" sz="8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5" name="Shape 23"/>
          <p:cNvSpPr/>
          <p:nvPr/>
        </p:nvSpPr>
        <p:spPr>
          <a:xfrm>
            <a:off x="320040" y="3670096"/>
            <a:ext cx="3840480" cy="749808"/>
          </a:xfrm>
          <a:prstGeom prst="rect">
            <a:avLst/>
          </a:prstGeom>
          <a:solidFill>
            <a:srgbClr val="EEF3FB"/>
          </a:solidFill>
          <a:ln w="10160">
            <a:solidFill>
              <a:srgbClr val="B8CBE8"/>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6" name="Shape 24"/>
          <p:cNvSpPr/>
          <p:nvPr/>
        </p:nvSpPr>
        <p:spPr>
          <a:xfrm>
            <a:off x="320040" y="3670096"/>
            <a:ext cx="45720" cy="749808"/>
          </a:xfrm>
          <a:prstGeom prst="rect">
            <a:avLst/>
          </a:prstGeom>
          <a:solidFill>
            <a:srgbClr val="2B5FA6"/>
          </a:solidFill>
          <a:ln w="12700">
            <a:solidFill>
              <a:srgbClr val="2B5FA6"/>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7" name="Text 25"/>
          <p:cNvSpPr/>
          <p:nvPr/>
        </p:nvSpPr>
        <p:spPr>
          <a:xfrm>
            <a:off x="457200" y="3724960"/>
            <a:ext cx="3657600" cy="164592"/>
          </a:xfrm>
          <a:prstGeom prst="rect">
            <a:avLst/>
          </a:prstGeom>
          <a:noFill/>
        </p:spPr>
        <p:txBody>
          <a:bodyPr wrap="square" lIns="0" tIns="0" rIns="0" bIns="0" rtlCol="0" anchor="ctr"/>
          <a:lstStyle/>
          <a:p>
            <a:pPr marL="0" indent="0">
              <a:buNone/>
            </a:pPr>
            <a:r>
              <a:rPr lang="en-US" sz="750" b="1" dirty="0">
                <a:solidFill>
                  <a:srgbClr val="2B5FA6"/>
                </a:solidFill>
                <a:latin typeface="Microsoft JhengHei" panose="020B0604030504040204" pitchFamily="34" charset="-120"/>
                <a:ea typeface="Microsoft JhengHei" panose="020B0604030504040204" pitchFamily="34" charset="-120"/>
                <a:cs typeface="Microsoft JhengHei" panose="020B0604030504040204" pitchFamily="34" charset="-120"/>
              </a:rPr>
              <a:t>생애주기별 진단 필요</a:t>
            </a:r>
            <a:endParaRPr lang="en-US" sz="750" b="1" dirty="0">
              <a:solidFill>
                <a:srgbClr val="2B5FA6"/>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8" name="Text 26"/>
          <p:cNvSpPr/>
          <p:nvPr/>
        </p:nvSpPr>
        <p:spPr>
          <a:xfrm>
            <a:off x="457200" y="3907840"/>
            <a:ext cx="3639312" cy="475488"/>
          </a:xfrm>
          <a:prstGeom prst="rect">
            <a:avLst/>
          </a:prstGeom>
          <a:noFill/>
        </p:spPr>
        <p:txBody>
          <a:bodyPr wrap="square" lIns="0" tIns="0" rIns="0" bIns="0" rtlCol="0" anchor="ctr"/>
          <a:lstStyle/>
          <a:p>
            <a:pPr marL="0" indent="0">
              <a:buNone/>
            </a:pPr>
            <a:r>
              <a:rPr lang="en-US" sz="85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청년(은둔·관계 단절), 중장년(실직·생활 기반 약화), 노년(독거·돌봄 공백)은 서로 다른 경로로 고립됩니다. 결과가 아닌 이전 단계의 위험 신호를 생애주기별로 구분해 진단해야 합니다.</a:t>
            </a:r>
            <a:endParaRPr lang="en-US" sz="85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2" name="Text 30"/>
          <p:cNvSpPr/>
          <p:nvPr/>
        </p:nvSpPr>
        <p:spPr>
          <a:xfrm>
            <a:off x="320040" y="4931968"/>
            <a:ext cx="3840480" cy="182880"/>
          </a:xfrm>
          <a:prstGeom prst="rect">
            <a:avLst/>
          </a:prstGeom>
          <a:noFill/>
        </p:spPr>
        <p:txBody>
          <a:bodyPr wrap="square" lIns="0" tIns="0" rIns="0" bIns="0" rtlCol="0" anchor="ctr"/>
          <a:lstStyle/>
          <a:p>
            <a:pPr marL="0" indent="0">
              <a:buNone/>
            </a:pPr>
            <a:r>
              <a:rPr lang="en-US" sz="700" i="1" dirty="0">
                <a:solidFill>
                  <a:srgbClr val="AAAAAA"/>
                </a:solidFill>
                <a:latin typeface="Microsoft JhengHei" panose="020B0604030504040204" pitchFamily="34" charset="-120"/>
                <a:ea typeface="Microsoft JhengHei" panose="020B0604030504040204" pitchFamily="34" charset="-120"/>
                <a:cs typeface="Microsoft JhengHei" panose="020B0604030504040204" pitchFamily="34" charset="-120"/>
              </a:rPr>
              <a:t>※ 전국 고독사 통계(3,924명)와 서울 수치(784명)는 집계 범위가 달라 구분 해석이 필요합니다</a:t>
            </a:r>
            <a:endParaRPr lang="en-US" sz="700" i="1" dirty="0">
              <a:solidFill>
                <a:srgbClr val="AAAAAA"/>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3" name="Text 31"/>
          <p:cNvSpPr/>
          <p:nvPr/>
        </p:nvSpPr>
        <p:spPr>
          <a:xfrm>
            <a:off x="4343400" y="798880"/>
            <a:ext cx="4480560" cy="219456"/>
          </a:xfrm>
          <a:prstGeom prst="rect">
            <a:avLst/>
          </a:prstGeom>
          <a:noFill/>
        </p:spPr>
        <p:txBody>
          <a:bodyPr wrap="square" lIns="0" tIns="0" rIns="0" bIns="0" rtlCol="0" anchor="ctr"/>
          <a:lstStyle/>
          <a:p>
            <a:pPr marL="0" indent="0">
              <a:buNone/>
            </a:pPr>
            <a:r>
              <a:rPr lang="en-US" sz="95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연령대별 고독사 비중 (전국 기준, 2024)</a:t>
            </a:r>
            <a:endParaRPr lang="en-US" sz="95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4" name="Text 32"/>
          <p:cNvSpPr/>
          <p:nvPr/>
        </p:nvSpPr>
        <p:spPr>
          <a:xfrm>
            <a:off x="4343400" y="1073200"/>
            <a:ext cx="749808" cy="169164"/>
          </a:xfrm>
          <a:prstGeom prst="rect">
            <a:avLst/>
          </a:prstGeom>
          <a:noFill/>
        </p:spPr>
        <p:txBody>
          <a:bodyPr wrap="square" lIns="0" tIns="0" rIns="0" bIns="0" rtlCol="0" anchor="ctr"/>
          <a:lstStyle/>
          <a:p>
            <a:pPr marL="0" indent="0" algn="r">
              <a:buNone/>
            </a:pPr>
            <a:r>
              <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30대 이하</a:t>
            </a:r>
            <a:endPar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5" name="Shape 33"/>
          <p:cNvSpPr/>
          <p:nvPr/>
        </p:nvSpPr>
        <p:spPr>
          <a:xfrm>
            <a:off x="5138928" y="1054912"/>
            <a:ext cx="465978" cy="169164"/>
          </a:xfrm>
          <a:prstGeom prst="rect">
            <a:avLst/>
          </a:prstGeom>
          <a:solidFill>
            <a:srgbClr val="8FA3C8"/>
          </a:solidFill>
          <a:ln w="12700">
            <a:solidFill>
              <a:srgbClr val="8FA3C8"/>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6" name="Text 34"/>
          <p:cNvSpPr/>
          <p:nvPr/>
        </p:nvSpPr>
        <p:spPr>
          <a:xfrm>
            <a:off x="5650626" y="1054912"/>
            <a:ext cx="502920" cy="169164"/>
          </a:xfrm>
          <a:prstGeom prst="rect">
            <a:avLst/>
          </a:prstGeom>
          <a:noFill/>
        </p:spPr>
        <p:txBody>
          <a:bodyPr wrap="square" lIns="0" tIns="0" rIns="0" bIns="0" rtlCol="0" anchor="ctr"/>
          <a:lstStyle/>
          <a:p>
            <a:pPr marL="0" indent="0">
              <a:buNone/>
            </a:pPr>
            <a:r>
              <a:rPr lang="en-US" sz="750" dirty="0">
                <a:solidFill>
                  <a:srgbClr val="8A9BB5"/>
                </a:solidFill>
                <a:latin typeface="Microsoft JhengHei" panose="020B0604030504040204" pitchFamily="34" charset="-120"/>
                <a:ea typeface="Microsoft JhengHei" panose="020B0604030504040204" pitchFamily="34" charset="-120"/>
              </a:rPr>
              <a:t>5.2%</a:t>
            </a:r>
            <a:endParaRPr lang="en-US" sz="750" dirty="0">
              <a:solidFill>
                <a:srgbClr val="8A9BB5"/>
              </a:solidFill>
              <a:latin typeface="Microsoft JhengHei" panose="020B0604030504040204" pitchFamily="34" charset="-120"/>
              <a:ea typeface="Microsoft JhengHei" panose="020B0604030504040204" pitchFamily="34" charset="-120"/>
            </a:endParaRPr>
          </a:p>
        </p:txBody>
      </p:sp>
      <p:sp>
        <p:nvSpPr>
          <p:cNvPr id="37" name="Text 35"/>
          <p:cNvSpPr/>
          <p:nvPr/>
        </p:nvSpPr>
        <p:spPr>
          <a:xfrm>
            <a:off x="4343400" y="1338376"/>
            <a:ext cx="749808" cy="169164"/>
          </a:xfrm>
          <a:prstGeom prst="rect">
            <a:avLst/>
          </a:prstGeom>
          <a:noFill/>
        </p:spPr>
        <p:txBody>
          <a:bodyPr wrap="square" lIns="0" tIns="0" rIns="0" bIns="0" rtlCol="0" anchor="ctr"/>
          <a:lstStyle/>
          <a:p>
            <a:pPr marL="0" indent="0" algn="r">
              <a:buNone/>
            </a:pPr>
            <a:r>
              <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40대</a:t>
            </a:r>
            <a:endPar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8" name="Shape 36"/>
          <p:cNvSpPr/>
          <p:nvPr/>
        </p:nvSpPr>
        <p:spPr>
          <a:xfrm>
            <a:off x="5138928" y="1320088"/>
            <a:ext cx="1254557" cy="169164"/>
          </a:xfrm>
          <a:prstGeom prst="rect">
            <a:avLst/>
          </a:prstGeom>
          <a:solidFill>
            <a:srgbClr val="6882B5"/>
          </a:solidFill>
          <a:ln w="12700">
            <a:solidFill>
              <a:srgbClr val="6882B5"/>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9" name="Text 37"/>
          <p:cNvSpPr/>
          <p:nvPr/>
        </p:nvSpPr>
        <p:spPr>
          <a:xfrm>
            <a:off x="6439205" y="1320088"/>
            <a:ext cx="502920" cy="169164"/>
          </a:xfrm>
          <a:prstGeom prst="rect">
            <a:avLst/>
          </a:prstGeom>
          <a:noFill/>
        </p:spPr>
        <p:txBody>
          <a:bodyPr wrap="square" lIns="0" tIns="0" rIns="0" bIns="0" rtlCol="0" anchor="ctr"/>
          <a:lstStyle/>
          <a:p>
            <a:pPr marL="0" indent="0">
              <a:buNone/>
            </a:pPr>
            <a:r>
              <a:rPr lang="en-US" sz="750" dirty="0">
                <a:solidFill>
                  <a:srgbClr val="8A9BB5"/>
                </a:solidFill>
                <a:latin typeface="Microsoft JhengHei" panose="020B0604030504040204" pitchFamily="34" charset="-120"/>
                <a:ea typeface="Microsoft JhengHei" panose="020B0604030504040204" pitchFamily="34" charset="-120"/>
              </a:rPr>
              <a:t>14.0%</a:t>
            </a:r>
            <a:endParaRPr lang="en-US" sz="750" dirty="0">
              <a:solidFill>
                <a:srgbClr val="8A9BB5"/>
              </a:solidFill>
              <a:latin typeface="Microsoft JhengHei" panose="020B0604030504040204" pitchFamily="34" charset="-120"/>
              <a:ea typeface="Microsoft JhengHei" panose="020B0604030504040204" pitchFamily="34" charset="-120"/>
            </a:endParaRPr>
          </a:p>
        </p:txBody>
      </p:sp>
      <p:sp>
        <p:nvSpPr>
          <p:cNvPr id="40" name="Text 38"/>
          <p:cNvSpPr/>
          <p:nvPr/>
        </p:nvSpPr>
        <p:spPr>
          <a:xfrm>
            <a:off x="4343400" y="1603552"/>
            <a:ext cx="749808" cy="169164"/>
          </a:xfrm>
          <a:prstGeom prst="rect">
            <a:avLst/>
          </a:prstGeom>
          <a:noFill/>
        </p:spPr>
        <p:txBody>
          <a:bodyPr wrap="square" lIns="0" tIns="0" rIns="0" bIns="0" rtlCol="0" anchor="ctr"/>
          <a:lstStyle/>
          <a:p>
            <a:pPr marL="0" indent="0" algn="r">
              <a:buNone/>
            </a:pPr>
            <a:r>
              <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50대</a:t>
            </a:r>
            <a:endPar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1" name="Shape 39"/>
          <p:cNvSpPr/>
          <p:nvPr/>
        </p:nvSpPr>
        <p:spPr>
          <a:xfrm>
            <a:off x="5138928" y="1585264"/>
            <a:ext cx="2822753" cy="169164"/>
          </a:xfrm>
          <a:prstGeom prst="rect">
            <a:avLst/>
          </a:prstGeom>
          <a:solidFill>
            <a:srgbClr val="2B5FA6"/>
          </a:solidFill>
          <a:ln w="12700">
            <a:solidFill>
              <a:srgbClr val="2B5FA6"/>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42" name="Text 40"/>
          <p:cNvSpPr/>
          <p:nvPr/>
        </p:nvSpPr>
        <p:spPr>
          <a:xfrm>
            <a:off x="8007401" y="1585264"/>
            <a:ext cx="502920" cy="169164"/>
          </a:xfrm>
          <a:prstGeom prst="rect">
            <a:avLst/>
          </a:prstGeom>
          <a:noFill/>
        </p:spPr>
        <p:txBody>
          <a:bodyPr wrap="square" lIns="0" tIns="0" rIns="0" bIns="0" rtlCol="0" anchor="ctr"/>
          <a:lstStyle/>
          <a:p>
            <a:pPr marL="0" indent="0">
              <a:buNone/>
            </a:pPr>
            <a:r>
              <a:rPr lang="en-US" sz="750" dirty="0">
                <a:solidFill>
                  <a:srgbClr val="8A9BB5"/>
                </a:solidFill>
                <a:latin typeface="Microsoft JhengHei" panose="020B0604030504040204" pitchFamily="34" charset="-120"/>
                <a:ea typeface="Microsoft JhengHei" panose="020B0604030504040204" pitchFamily="34" charset="-120"/>
              </a:rPr>
              <a:t>31.5%</a:t>
            </a:r>
            <a:endParaRPr lang="en-US" sz="750" dirty="0">
              <a:solidFill>
                <a:srgbClr val="8A9BB5"/>
              </a:solidFill>
              <a:latin typeface="Microsoft JhengHei" panose="020B0604030504040204" pitchFamily="34" charset="-120"/>
              <a:ea typeface="Microsoft JhengHei" panose="020B0604030504040204" pitchFamily="34" charset="-120"/>
            </a:endParaRPr>
          </a:p>
        </p:txBody>
      </p:sp>
      <p:sp>
        <p:nvSpPr>
          <p:cNvPr id="43" name="Text 41"/>
          <p:cNvSpPr/>
          <p:nvPr/>
        </p:nvSpPr>
        <p:spPr>
          <a:xfrm>
            <a:off x="4343400" y="1868728"/>
            <a:ext cx="749808" cy="169164"/>
          </a:xfrm>
          <a:prstGeom prst="rect">
            <a:avLst/>
          </a:prstGeom>
          <a:noFill/>
        </p:spPr>
        <p:txBody>
          <a:bodyPr wrap="square" lIns="0" tIns="0" rIns="0" bIns="0" rtlCol="0" anchor="ctr"/>
          <a:lstStyle/>
          <a:p>
            <a:pPr marL="0" indent="0" algn="r">
              <a:buNone/>
            </a:pPr>
            <a:r>
              <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60대</a:t>
            </a:r>
            <a:endPar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4" name="Shape 42"/>
          <p:cNvSpPr/>
          <p:nvPr/>
        </p:nvSpPr>
        <p:spPr>
          <a:xfrm>
            <a:off x="5138928" y="1850440"/>
            <a:ext cx="2813792" cy="169164"/>
          </a:xfrm>
          <a:prstGeom prst="rect">
            <a:avLst/>
          </a:prstGeom>
          <a:solidFill>
            <a:srgbClr val="1E3A5F"/>
          </a:solidFill>
          <a:ln w="12700">
            <a:solidFill>
              <a:srgbClr val="1E3A5F"/>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45" name="Text 43"/>
          <p:cNvSpPr/>
          <p:nvPr/>
        </p:nvSpPr>
        <p:spPr>
          <a:xfrm>
            <a:off x="7998440" y="1850440"/>
            <a:ext cx="502920" cy="169164"/>
          </a:xfrm>
          <a:prstGeom prst="rect">
            <a:avLst/>
          </a:prstGeom>
          <a:noFill/>
        </p:spPr>
        <p:txBody>
          <a:bodyPr wrap="square" lIns="0" tIns="0" rIns="0" bIns="0" rtlCol="0" anchor="ctr"/>
          <a:lstStyle/>
          <a:p>
            <a:pPr marL="0" indent="0">
              <a:buNone/>
            </a:pPr>
            <a:r>
              <a:rPr lang="en-US" sz="750" dirty="0">
                <a:solidFill>
                  <a:srgbClr val="8A9BB5"/>
                </a:solidFill>
                <a:latin typeface="Microsoft JhengHei" panose="020B0604030504040204" pitchFamily="34" charset="-120"/>
                <a:ea typeface="Microsoft JhengHei" panose="020B0604030504040204" pitchFamily="34" charset="-120"/>
              </a:rPr>
              <a:t>31.4%</a:t>
            </a:r>
            <a:endParaRPr lang="en-US" sz="750" dirty="0">
              <a:solidFill>
                <a:srgbClr val="8A9BB5"/>
              </a:solidFill>
              <a:latin typeface="Microsoft JhengHei" panose="020B0604030504040204" pitchFamily="34" charset="-120"/>
              <a:ea typeface="Microsoft JhengHei" panose="020B0604030504040204" pitchFamily="34" charset="-120"/>
            </a:endParaRPr>
          </a:p>
        </p:txBody>
      </p:sp>
      <p:sp>
        <p:nvSpPr>
          <p:cNvPr id="46" name="Text 44"/>
          <p:cNvSpPr/>
          <p:nvPr/>
        </p:nvSpPr>
        <p:spPr>
          <a:xfrm>
            <a:off x="4343400" y="2133904"/>
            <a:ext cx="749808" cy="169164"/>
          </a:xfrm>
          <a:prstGeom prst="rect">
            <a:avLst/>
          </a:prstGeom>
          <a:noFill/>
        </p:spPr>
        <p:txBody>
          <a:bodyPr wrap="square" lIns="0" tIns="0" rIns="0" bIns="0" rtlCol="0" anchor="ctr"/>
          <a:lstStyle/>
          <a:p>
            <a:pPr marL="0" indent="0" algn="r">
              <a:buNone/>
            </a:pPr>
            <a:r>
              <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70대</a:t>
            </a:r>
            <a:endPar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7" name="Shape 45"/>
          <p:cNvSpPr/>
          <p:nvPr/>
        </p:nvSpPr>
        <p:spPr>
          <a:xfrm>
            <a:off x="5138928" y="2115616"/>
            <a:ext cx="1236635" cy="169164"/>
          </a:xfrm>
          <a:prstGeom prst="rect">
            <a:avLst/>
          </a:prstGeom>
          <a:solidFill>
            <a:srgbClr val="6882B5"/>
          </a:solidFill>
          <a:ln w="12700">
            <a:solidFill>
              <a:srgbClr val="6882B5"/>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48" name="Text 46"/>
          <p:cNvSpPr/>
          <p:nvPr/>
        </p:nvSpPr>
        <p:spPr>
          <a:xfrm>
            <a:off x="6421283" y="2115616"/>
            <a:ext cx="502920" cy="169164"/>
          </a:xfrm>
          <a:prstGeom prst="rect">
            <a:avLst/>
          </a:prstGeom>
          <a:noFill/>
        </p:spPr>
        <p:txBody>
          <a:bodyPr wrap="square" lIns="0" tIns="0" rIns="0" bIns="0" rtlCol="0" anchor="ctr"/>
          <a:lstStyle/>
          <a:p>
            <a:pPr marL="0" indent="0">
              <a:buNone/>
            </a:pPr>
            <a:r>
              <a:rPr lang="en-US" sz="750" dirty="0">
                <a:solidFill>
                  <a:srgbClr val="8A9BB5"/>
                </a:solidFill>
                <a:latin typeface="Microsoft JhengHei" panose="020B0604030504040204" pitchFamily="34" charset="-120"/>
                <a:ea typeface="Microsoft JhengHei" panose="020B0604030504040204" pitchFamily="34" charset="-120"/>
              </a:rPr>
              <a:t>13.8%</a:t>
            </a:r>
            <a:endParaRPr lang="en-US" sz="750" dirty="0">
              <a:solidFill>
                <a:srgbClr val="8A9BB5"/>
              </a:solidFill>
              <a:latin typeface="Microsoft JhengHei" panose="020B0604030504040204" pitchFamily="34" charset="-120"/>
              <a:ea typeface="Microsoft JhengHei" panose="020B0604030504040204" pitchFamily="34" charset="-120"/>
            </a:endParaRPr>
          </a:p>
        </p:txBody>
      </p:sp>
      <p:sp>
        <p:nvSpPr>
          <p:cNvPr id="49" name="Text 47"/>
          <p:cNvSpPr/>
          <p:nvPr/>
        </p:nvSpPr>
        <p:spPr>
          <a:xfrm>
            <a:off x="4343400" y="2399080"/>
            <a:ext cx="749808" cy="169164"/>
          </a:xfrm>
          <a:prstGeom prst="rect">
            <a:avLst/>
          </a:prstGeom>
          <a:noFill/>
        </p:spPr>
        <p:txBody>
          <a:bodyPr wrap="square" lIns="0" tIns="0" rIns="0" bIns="0" rtlCol="0" anchor="ctr"/>
          <a:lstStyle/>
          <a:p>
            <a:pPr marL="0" indent="0" algn="r">
              <a:buNone/>
            </a:pPr>
            <a:r>
              <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80대 이상</a:t>
            </a:r>
            <a:endParaRPr lang="en-US" sz="78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0" name="Shape 48"/>
          <p:cNvSpPr/>
          <p:nvPr/>
        </p:nvSpPr>
        <p:spPr>
          <a:xfrm>
            <a:off x="5138928" y="2380792"/>
            <a:ext cx="448056" cy="169164"/>
          </a:xfrm>
          <a:prstGeom prst="rect">
            <a:avLst/>
          </a:prstGeom>
          <a:solidFill>
            <a:srgbClr val="A8BACE"/>
          </a:solidFill>
          <a:ln w="12700">
            <a:solidFill>
              <a:srgbClr val="A8BACE"/>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51" name="Text 49"/>
          <p:cNvSpPr/>
          <p:nvPr/>
        </p:nvSpPr>
        <p:spPr>
          <a:xfrm>
            <a:off x="5632704" y="2380792"/>
            <a:ext cx="502920" cy="169164"/>
          </a:xfrm>
          <a:prstGeom prst="rect">
            <a:avLst/>
          </a:prstGeom>
          <a:noFill/>
        </p:spPr>
        <p:txBody>
          <a:bodyPr wrap="square" lIns="0" tIns="0" rIns="0" bIns="0" rtlCol="0" anchor="ctr"/>
          <a:lstStyle/>
          <a:p>
            <a:pPr marL="0" indent="0">
              <a:buNone/>
            </a:pPr>
            <a:r>
              <a:rPr lang="en-US" sz="750" dirty="0">
                <a:solidFill>
                  <a:srgbClr val="8A9BB5"/>
                </a:solidFill>
                <a:latin typeface="Microsoft JhengHei" panose="020B0604030504040204" pitchFamily="34" charset="-120"/>
                <a:ea typeface="Microsoft JhengHei" panose="020B0604030504040204" pitchFamily="34" charset="-120"/>
              </a:rPr>
              <a:t>5.0%</a:t>
            </a:r>
            <a:endParaRPr lang="en-US" sz="750" dirty="0">
              <a:solidFill>
                <a:srgbClr val="8A9BB5"/>
              </a:solidFill>
              <a:latin typeface="Microsoft JhengHei" panose="020B0604030504040204" pitchFamily="34" charset="-120"/>
              <a:ea typeface="Microsoft JhengHei" panose="020B0604030504040204" pitchFamily="34" charset="-120"/>
            </a:endParaRPr>
          </a:p>
        </p:txBody>
      </p:sp>
      <p:sp>
        <p:nvSpPr>
          <p:cNvPr id="52" name="Shape 50"/>
          <p:cNvSpPr/>
          <p:nvPr/>
        </p:nvSpPr>
        <p:spPr>
          <a:xfrm>
            <a:off x="5138928" y="2645968"/>
            <a:ext cx="3136392" cy="0"/>
          </a:xfrm>
          <a:prstGeom prst="line">
            <a:avLst/>
          </a:prstGeom>
          <a:noFill/>
          <a:ln w="6350">
            <a:solidFill>
              <a:srgbClr val="CCCCCC"/>
            </a:solidFill>
            <a:prstDash val="solid"/>
          </a:ln>
        </p:spPr>
        <p:txBody>
          <a:bodyPr/>
          <a:lstStyle/>
          <a:p>
            <a:endParaRPr lang="ko-KR" altLang="en-US">
              <a:latin typeface="Microsoft JhengHei" panose="020B0604030504040204" pitchFamily="34" charset="-120"/>
            </a:endParaRPr>
          </a:p>
        </p:txBody>
      </p:sp>
      <p:sp>
        <p:nvSpPr>
          <p:cNvPr id="53" name="Text 51"/>
          <p:cNvSpPr/>
          <p:nvPr/>
        </p:nvSpPr>
        <p:spPr>
          <a:xfrm>
            <a:off x="5138928" y="2682544"/>
            <a:ext cx="1371600" cy="146304"/>
          </a:xfrm>
          <a:prstGeom prst="rect">
            <a:avLst/>
          </a:prstGeom>
          <a:noFill/>
        </p:spPr>
        <p:txBody>
          <a:bodyPr wrap="square" lIns="0" tIns="0" rIns="0" bIns="0" rtlCol="0" anchor="ctr"/>
          <a:lstStyle/>
          <a:p>
            <a:pPr marL="0" indent="0">
              <a:buNone/>
            </a:pPr>
            <a:r>
              <a:rPr lang="en-US" sz="700" dirty="0">
                <a:solidFill>
                  <a:srgbClr val="8A9BB5"/>
                </a:solidFill>
                <a:latin typeface="Microsoft JhengHei" panose="020B0604030504040204" pitchFamily="34" charset="-120"/>
                <a:ea typeface="Microsoft JhengHei" panose="020B0604030504040204" pitchFamily="34" charset="-120"/>
                <a:cs typeface="Microsoft JhengHei" panose="020B0604030504040204" pitchFamily="34" charset="-120"/>
              </a:rPr>
              <a:t>비중 (%)</a:t>
            </a:r>
            <a:endParaRPr lang="en-US" sz="700" dirty="0">
              <a:solidFill>
                <a:srgbClr val="8A9BB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4" name="Text 52"/>
          <p:cNvSpPr/>
          <p:nvPr/>
        </p:nvSpPr>
        <p:spPr>
          <a:xfrm>
            <a:off x="4343400" y="2847136"/>
            <a:ext cx="4480560" cy="182880"/>
          </a:xfrm>
          <a:prstGeom prst="rect">
            <a:avLst/>
          </a:prstGeom>
          <a:noFill/>
        </p:spPr>
        <p:txBody>
          <a:bodyPr wrap="square" lIns="0" tIns="0" rIns="0" bIns="0" rtlCol="0" anchor="ctr"/>
          <a:lstStyle/>
          <a:p>
            <a:pPr marL="0" indent="0">
              <a:buNone/>
            </a:pPr>
            <a:r>
              <a:rPr lang="en-US" sz="78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rPr>
              <a:t>50대와 60대 합계 </a:t>
            </a:r>
            <a:r>
              <a:rPr lang="en-US" sz="780" b="1" dirty="0">
                <a:solidFill>
                  <a:srgbClr val="2B5FA6"/>
                </a:solidFill>
                <a:latin typeface="Microsoft JhengHei" panose="020B0604030504040204" pitchFamily="34" charset="-120"/>
                <a:ea typeface="Microsoft JhengHei" panose="020B0604030504040204" pitchFamily="34" charset="-120"/>
                <a:cs typeface="Microsoft JhengHei" panose="020B0604030504040204" pitchFamily="34" charset="-120"/>
              </a:rPr>
              <a:t>62.9%</a:t>
            </a:r>
            <a:r>
              <a:rPr lang="en-US" sz="78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rPr>
              <a:t>로 전체 고독사의 절반 이상. 남성 비중 </a:t>
            </a:r>
            <a:r>
              <a:rPr lang="en-US" sz="780" b="1" dirty="0">
                <a:solidFill>
                  <a:srgbClr val="C0392B"/>
                </a:solidFill>
                <a:latin typeface="Microsoft JhengHei" panose="020B0604030504040204" pitchFamily="34" charset="-120"/>
                <a:ea typeface="Microsoft JhengHei" panose="020B0604030504040204" pitchFamily="34" charset="-120"/>
                <a:cs typeface="Microsoft JhengHei" panose="020B0604030504040204" pitchFamily="34" charset="-120"/>
              </a:rPr>
              <a:t>81.7%</a:t>
            </a:r>
            <a:r>
              <a:rPr lang="en-US" sz="780" dirty="0">
                <a:solidFill>
                  <a:srgbClr val="4A5568"/>
                </a:solidFill>
                <a:latin typeface="Microsoft JhengHei" panose="020B0604030504040204" pitchFamily="34" charset="-120"/>
                <a:ea typeface="Microsoft JhengHei" panose="020B0604030504040204" pitchFamily="34" charset="-120"/>
                <a:cs typeface="Microsoft JhengHei" panose="020B0604030504040204" pitchFamily="34" charset="-120"/>
              </a:rPr>
              <a:t>.</a:t>
            </a:r>
            <a:endParaRPr lang="en-US" sz="78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5" name="Text 53"/>
          <p:cNvSpPr/>
          <p:nvPr/>
        </p:nvSpPr>
        <p:spPr>
          <a:xfrm>
            <a:off x="4343400" y="3103168"/>
            <a:ext cx="4480560" cy="219456"/>
          </a:xfrm>
          <a:prstGeom prst="rect">
            <a:avLst/>
          </a:prstGeom>
          <a:noFill/>
        </p:spPr>
        <p:txBody>
          <a:bodyPr wrap="square" lIns="0" tIns="0" rIns="0" bIns="0" rtlCol="0" anchor="ctr"/>
          <a:lstStyle/>
          <a:p>
            <a:pPr marL="0" indent="0" algn="ctr">
              <a:buNone/>
            </a:pPr>
            <a:r>
              <a:rPr lang="en-US" sz="95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생애주기별 위험 경로 비교</a:t>
            </a:r>
            <a:endParaRPr lang="en-US" sz="95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6" name="Shape 54"/>
          <p:cNvSpPr/>
          <p:nvPr/>
        </p:nvSpPr>
        <p:spPr>
          <a:xfrm>
            <a:off x="4343400" y="3340912"/>
            <a:ext cx="658368" cy="256032"/>
          </a:xfrm>
          <a:prstGeom prst="rect">
            <a:avLst/>
          </a:prstGeom>
          <a:solidFill>
            <a:srgbClr val="1E3A5F"/>
          </a:solidFill>
          <a:ln w="12700">
            <a:solidFill>
              <a:srgbClr val="1E3A5F"/>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57" name="Text 55"/>
          <p:cNvSpPr/>
          <p:nvPr/>
        </p:nvSpPr>
        <p:spPr>
          <a:xfrm>
            <a:off x="4343400" y="3340912"/>
            <a:ext cx="658368" cy="256032"/>
          </a:xfrm>
          <a:prstGeom prst="rect">
            <a:avLst/>
          </a:prstGeom>
          <a:noFill/>
        </p:spPr>
        <p:txBody>
          <a:bodyPr wrap="square" lIns="0" tIns="0" rIns="0" bIns="0" rtlCol="0" anchor="ctr"/>
          <a:lstStyle/>
          <a:p>
            <a:pPr marL="0" indent="0" algn="ctr">
              <a:buNone/>
            </a:pPr>
            <a:r>
              <a:rPr lang="en-US" sz="780" b="1" dirty="0">
                <a:solidFill>
                  <a:srgbClr val="FFFFFF"/>
                </a:solidFill>
                <a:latin typeface="Microsoft JhengHei" panose="020B0604030504040204" pitchFamily="34" charset="-120"/>
                <a:ea typeface="Microsoft JhengHei" panose="020B0604030504040204" pitchFamily="34" charset="-120"/>
              </a:rPr>
              <a:t>생애주기</a:t>
            </a:r>
            <a:endParaRPr lang="en-US" sz="780" b="1" dirty="0">
              <a:solidFill>
                <a:srgbClr val="FFFFFF"/>
              </a:solidFill>
              <a:latin typeface="Microsoft JhengHei" panose="020B0604030504040204" pitchFamily="34" charset="-120"/>
              <a:ea typeface="Microsoft JhengHei" panose="020B0604030504040204" pitchFamily="34" charset="-120"/>
            </a:endParaRPr>
          </a:p>
        </p:txBody>
      </p:sp>
      <p:sp>
        <p:nvSpPr>
          <p:cNvPr id="58" name="Shape 56"/>
          <p:cNvSpPr/>
          <p:nvPr/>
        </p:nvSpPr>
        <p:spPr>
          <a:xfrm>
            <a:off x="5010912" y="3340912"/>
            <a:ext cx="1005840" cy="256032"/>
          </a:xfrm>
          <a:prstGeom prst="rect">
            <a:avLst/>
          </a:prstGeom>
          <a:solidFill>
            <a:srgbClr val="1E3A5F"/>
          </a:solidFill>
          <a:ln w="12700">
            <a:solidFill>
              <a:srgbClr val="1E3A5F"/>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59" name="Text 57"/>
          <p:cNvSpPr/>
          <p:nvPr/>
        </p:nvSpPr>
        <p:spPr>
          <a:xfrm>
            <a:off x="5010912" y="3340912"/>
            <a:ext cx="1005840" cy="256032"/>
          </a:xfrm>
          <a:prstGeom prst="rect">
            <a:avLst/>
          </a:prstGeom>
          <a:noFill/>
        </p:spPr>
        <p:txBody>
          <a:bodyPr wrap="square" lIns="0" tIns="0" rIns="0" bIns="0" rtlCol="0" anchor="ctr"/>
          <a:lstStyle/>
          <a:p>
            <a:pPr marL="0" indent="0" algn="ctr">
              <a:buNone/>
            </a:pPr>
            <a:r>
              <a:rPr lang="en-US" sz="780" b="1"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rPr>
              <a:t>고립 전조</a:t>
            </a:r>
            <a:endParaRPr lang="en-US" sz="780" b="1"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0" name="Shape 58"/>
          <p:cNvSpPr/>
          <p:nvPr/>
        </p:nvSpPr>
        <p:spPr>
          <a:xfrm>
            <a:off x="6025896" y="3340912"/>
            <a:ext cx="1554480" cy="256032"/>
          </a:xfrm>
          <a:prstGeom prst="rect">
            <a:avLst/>
          </a:prstGeom>
          <a:solidFill>
            <a:srgbClr val="1E3A5F"/>
          </a:solidFill>
          <a:ln w="12700">
            <a:solidFill>
              <a:srgbClr val="1E3A5F"/>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61" name="Text 59"/>
          <p:cNvSpPr/>
          <p:nvPr/>
        </p:nvSpPr>
        <p:spPr>
          <a:xfrm>
            <a:off x="6025896" y="3340912"/>
            <a:ext cx="1554480" cy="256032"/>
          </a:xfrm>
          <a:prstGeom prst="rect">
            <a:avLst/>
          </a:prstGeom>
          <a:noFill/>
        </p:spPr>
        <p:txBody>
          <a:bodyPr wrap="square" lIns="0" tIns="0" rIns="0" bIns="0" rtlCol="0" anchor="ctr"/>
          <a:lstStyle/>
          <a:p>
            <a:pPr marL="0" indent="0" algn="ctr">
              <a:buNone/>
            </a:pPr>
            <a:r>
              <a:rPr lang="en-US" sz="780" b="1"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rPr>
              <a:t>위험 심화 경로</a:t>
            </a:r>
            <a:endParaRPr lang="en-US" sz="780" b="1"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2" name="Shape 60"/>
          <p:cNvSpPr/>
          <p:nvPr/>
        </p:nvSpPr>
        <p:spPr>
          <a:xfrm>
            <a:off x="7589520" y="3340912"/>
            <a:ext cx="1188720" cy="256032"/>
          </a:xfrm>
          <a:prstGeom prst="rect">
            <a:avLst/>
          </a:prstGeom>
          <a:solidFill>
            <a:srgbClr val="1E3A5F"/>
          </a:solidFill>
          <a:ln w="12700">
            <a:solidFill>
              <a:srgbClr val="1E3A5F"/>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63" name="Text 61"/>
          <p:cNvSpPr/>
          <p:nvPr/>
        </p:nvSpPr>
        <p:spPr>
          <a:xfrm>
            <a:off x="7589520" y="3340912"/>
            <a:ext cx="1188720" cy="256032"/>
          </a:xfrm>
          <a:prstGeom prst="rect">
            <a:avLst/>
          </a:prstGeom>
          <a:noFill/>
        </p:spPr>
        <p:txBody>
          <a:bodyPr wrap="square" lIns="0" tIns="0" rIns="0" bIns="0" rtlCol="0" anchor="ctr"/>
          <a:lstStyle/>
          <a:p>
            <a:pPr marL="0" indent="0" algn="ctr">
              <a:buNone/>
            </a:pPr>
            <a:r>
              <a:rPr lang="en-US" sz="780" b="1"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rPr>
              <a:t>정책 초점</a:t>
            </a:r>
            <a:endParaRPr lang="en-US" sz="780" b="1"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4" name="Shape 62"/>
          <p:cNvSpPr/>
          <p:nvPr/>
        </p:nvSpPr>
        <p:spPr>
          <a:xfrm>
            <a:off x="4343400" y="3596944"/>
            <a:ext cx="658368" cy="342900"/>
          </a:xfrm>
          <a:prstGeom prst="rect">
            <a:avLst/>
          </a:prstGeom>
          <a:solidFill>
            <a:srgbClr val="2B5FA6"/>
          </a:solidFill>
          <a:ln w="12700">
            <a:solidFill>
              <a:srgbClr val="2B5FA6"/>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65" name="Text 63"/>
          <p:cNvSpPr/>
          <p:nvPr/>
        </p:nvSpPr>
        <p:spPr>
          <a:xfrm>
            <a:off x="4343400" y="3596944"/>
            <a:ext cx="658368" cy="342900"/>
          </a:xfrm>
          <a:prstGeom prst="rect">
            <a:avLst/>
          </a:prstGeom>
          <a:noFill/>
        </p:spPr>
        <p:txBody>
          <a:bodyPr wrap="square" lIns="0" tIns="0" rIns="0" bIns="0" rtlCol="0" anchor="ctr"/>
          <a:lstStyle/>
          <a:p>
            <a:pPr marL="0" indent="0" algn="ctr">
              <a:buNone/>
            </a:pPr>
            <a:r>
              <a:rPr lang="en-US" sz="850" b="1" dirty="0">
                <a:solidFill>
                  <a:srgbClr val="FFFFFF"/>
                </a:solidFill>
                <a:latin typeface="Microsoft JhengHei" panose="020B0604030504040204" pitchFamily="34" charset="-120"/>
                <a:ea typeface="Microsoft JhengHei" panose="020B0604030504040204" pitchFamily="34" charset="-120"/>
              </a:rPr>
              <a:t>청년</a:t>
            </a:r>
            <a:endParaRPr lang="en-US" sz="850" b="1" dirty="0">
              <a:solidFill>
                <a:srgbClr val="FFFFFF"/>
              </a:solidFill>
              <a:latin typeface="Microsoft JhengHei" panose="020B0604030504040204" pitchFamily="34" charset="-120"/>
              <a:ea typeface="Microsoft JhengHei" panose="020B0604030504040204" pitchFamily="34" charset="-120"/>
            </a:endParaRPr>
          </a:p>
        </p:txBody>
      </p:sp>
      <p:sp>
        <p:nvSpPr>
          <p:cNvPr id="66" name="Shape 64"/>
          <p:cNvSpPr/>
          <p:nvPr/>
        </p:nvSpPr>
        <p:spPr>
          <a:xfrm>
            <a:off x="5010912" y="3596944"/>
            <a:ext cx="1005840" cy="342900"/>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67" name="Text 65"/>
          <p:cNvSpPr/>
          <p:nvPr/>
        </p:nvSpPr>
        <p:spPr>
          <a:xfrm>
            <a:off x="5010912" y="3596944"/>
            <a:ext cx="1005840" cy="342900"/>
          </a:xfrm>
          <a:prstGeom prst="rect">
            <a:avLst/>
          </a:prstGeom>
          <a:noFill/>
        </p:spPr>
        <p:txBody>
          <a:bodyPr wrap="square" lIns="25400" tIns="25400" rIns="25400" bIns="25400" rtlCol="0" anchor="ctr"/>
          <a:lstStyle/>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은둔·관계 단절</a:t>
            </a:r>
            <a:endPar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8" name="Shape 66"/>
          <p:cNvSpPr/>
          <p:nvPr/>
        </p:nvSpPr>
        <p:spPr>
          <a:xfrm>
            <a:off x="6025896" y="3596944"/>
            <a:ext cx="1554480" cy="342900"/>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69" name="Text 67"/>
          <p:cNvSpPr/>
          <p:nvPr/>
        </p:nvSpPr>
        <p:spPr>
          <a:xfrm>
            <a:off x="6025896" y="3596944"/>
            <a:ext cx="1554480" cy="342900"/>
          </a:xfrm>
          <a:prstGeom prst="rect">
            <a:avLst/>
          </a:prstGeom>
          <a:noFill/>
        </p:spPr>
        <p:txBody>
          <a:bodyPr wrap="square" lIns="25400" tIns="25400" rIns="25400" bIns="25400" rtlCol="0" anchor="ctr"/>
          <a:lstStyle/>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사회진입 지연,</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심리 위기</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70" name="Shape 68"/>
          <p:cNvSpPr/>
          <p:nvPr/>
        </p:nvSpPr>
        <p:spPr>
          <a:xfrm>
            <a:off x="7589520" y="3596944"/>
            <a:ext cx="1188720" cy="342900"/>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71" name="Text 69"/>
          <p:cNvSpPr/>
          <p:nvPr/>
        </p:nvSpPr>
        <p:spPr>
          <a:xfrm>
            <a:off x="7589520" y="3596944"/>
            <a:ext cx="1188720" cy="342900"/>
          </a:xfrm>
          <a:prstGeom prst="rect">
            <a:avLst/>
          </a:prstGeom>
          <a:noFill/>
        </p:spPr>
        <p:txBody>
          <a:bodyPr wrap="square" lIns="25400" tIns="25400" rIns="25400" bIns="25400" rtlCol="0" anchor="ctr"/>
          <a:lstStyle/>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관계 회복,</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사회진입</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72" name="Shape 70"/>
          <p:cNvSpPr/>
          <p:nvPr/>
        </p:nvSpPr>
        <p:spPr>
          <a:xfrm>
            <a:off x="4343400" y="3948988"/>
            <a:ext cx="658368" cy="342900"/>
          </a:xfrm>
          <a:prstGeom prst="rect">
            <a:avLst/>
          </a:prstGeom>
          <a:solidFill>
            <a:srgbClr val="D4621A"/>
          </a:solidFill>
          <a:ln w="12700">
            <a:solidFill>
              <a:srgbClr val="D4621A"/>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73" name="Text 71"/>
          <p:cNvSpPr/>
          <p:nvPr/>
        </p:nvSpPr>
        <p:spPr>
          <a:xfrm>
            <a:off x="4343400" y="3948988"/>
            <a:ext cx="658368" cy="342900"/>
          </a:xfrm>
          <a:prstGeom prst="rect">
            <a:avLst/>
          </a:prstGeom>
          <a:noFill/>
        </p:spPr>
        <p:txBody>
          <a:bodyPr wrap="square" lIns="0" tIns="0" rIns="0" bIns="0" rtlCol="0" anchor="ctr"/>
          <a:lstStyle/>
          <a:p>
            <a:pPr marL="0" indent="0" algn="ctr">
              <a:buNone/>
            </a:pPr>
            <a:r>
              <a:rPr lang="en-US" sz="850" b="1" dirty="0">
                <a:solidFill>
                  <a:srgbClr val="FFFFFF"/>
                </a:solidFill>
                <a:latin typeface="Microsoft JhengHei" panose="020B0604030504040204" pitchFamily="34" charset="-120"/>
                <a:ea typeface="Microsoft JhengHei" panose="020B0604030504040204" pitchFamily="34" charset="-120"/>
              </a:rPr>
              <a:t>중장년</a:t>
            </a:r>
            <a:endParaRPr lang="en-US" sz="850" b="1" dirty="0">
              <a:solidFill>
                <a:srgbClr val="FFFFFF"/>
              </a:solidFill>
              <a:latin typeface="Microsoft JhengHei" panose="020B0604030504040204" pitchFamily="34" charset="-120"/>
              <a:ea typeface="Microsoft JhengHei" panose="020B0604030504040204" pitchFamily="34" charset="-120"/>
            </a:endParaRPr>
          </a:p>
        </p:txBody>
      </p:sp>
      <p:sp>
        <p:nvSpPr>
          <p:cNvPr id="74" name="Shape 72"/>
          <p:cNvSpPr/>
          <p:nvPr/>
        </p:nvSpPr>
        <p:spPr>
          <a:xfrm>
            <a:off x="5010912" y="3948988"/>
            <a:ext cx="1005840" cy="342900"/>
          </a:xfrm>
          <a:prstGeom prst="rect">
            <a:avLst/>
          </a:prstGeom>
          <a:solidFill>
            <a:srgbClr val="FFFFFF"/>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75" name="Text 73"/>
          <p:cNvSpPr/>
          <p:nvPr/>
        </p:nvSpPr>
        <p:spPr>
          <a:xfrm>
            <a:off x="5010912" y="3948988"/>
            <a:ext cx="1005840" cy="342900"/>
          </a:xfrm>
          <a:prstGeom prst="rect">
            <a:avLst/>
          </a:prstGeom>
          <a:noFill/>
        </p:spPr>
        <p:txBody>
          <a:bodyPr wrap="square" lIns="25400" tIns="25400" rIns="25400" bIns="25400" rtlCol="0" anchor="ctr"/>
          <a:lstStyle/>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실직·가족해체·</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고립감</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76" name="Shape 74"/>
          <p:cNvSpPr/>
          <p:nvPr/>
        </p:nvSpPr>
        <p:spPr>
          <a:xfrm>
            <a:off x="6025896" y="3948988"/>
            <a:ext cx="1554480" cy="342900"/>
          </a:xfrm>
          <a:prstGeom prst="rect">
            <a:avLst/>
          </a:prstGeom>
          <a:solidFill>
            <a:srgbClr val="FFFFFF"/>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77" name="Text 75"/>
          <p:cNvSpPr/>
          <p:nvPr/>
        </p:nvSpPr>
        <p:spPr>
          <a:xfrm>
            <a:off x="6025896" y="3948988"/>
            <a:ext cx="1554480" cy="342900"/>
          </a:xfrm>
          <a:prstGeom prst="rect">
            <a:avLst/>
          </a:prstGeom>
          <a:noFill/>
        </p:spPr>
        <p:txBody>
          <a:bodyPr wrap="square" lIns="25400" tIns="25400" rIns="25400" bIns="25400" rtlCol="0" anchor="ctr"/>
          <a:lstStyle/>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생활 기반 약화,</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고독사 위험</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78" name="Shape 76"/>
          <p:cNvSpPr/>
          <p:nvPr/>
        </p:nvSpPr>
        <p:spPr>
          <a:xfrm>
            <a:off x="7589520" y="3948988"/>
            <a:ext cx="1188720" cy="342900"/>
          </a:xfrm>
          <a:prstGeom prst="rect">
            <a:avLst/>
          </a:prstGeom>
          <a:solidFill>
            <a:srgbClr val="FFFFFF"/>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79" name="Text 77"/>
          <p:cNvSpPr/>
          <p:nvPr/>
        </p:nvSpPr>
        <p:spPr>
          <a:xfrm>
            <a:off x="7589520" y="3948988"/>
            <a:ext cx="1188720" cy="342900"/>
          </a:xfrm>
          <a:prstGeom prst="rect">
            <a:avLst/>
          </a:prstGeom>
          <a:noFill/>
        </p:spPr>
        <p:txBody>
          <a:bodyPr wrap="square" lIns="25400" tIns="25400" rIns="25400" bIns="25400" rtlCol="0" anchor="ctr"/>
          <a:lstStyle/>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선제발굴,</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안부확인</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0" name="Shape 78"/>
          <p:cNvSpPr/>
          <p:nvPr/>
        </p:nvSpPr>
        <p:spPr>
          <a:xfrm>
            <a:off x="4343400" y="4301032"/>
            <a:ext cx="658368" cy="342900"/>
          </a:xfrm>
          <a:prstGeom prst="rect">
            <a:avLst/>
          </a:prstGeom>
          <a:solidFill>
            <a:srgbClr val="2E7D52"/>
          </a:solidFill>
          <a:ln w="12700">
            <a:solidFill>
              <a:srgbClr val="2E7D52"/>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1" name="Text 79"/>
          <p:cNvSpPr/>
          <p:nvPr/>
        </p:nvSpPr>
        <p:spPr>
          <a:xfrm>
            <a:off x="4343400" y="4301032"/>
            <a:ext cx="658368" cy="342900"/>
          </a:xfrm>
          <a:prstGeom prst="rect">
            <a:avLst/>
          </a:prstGeom>
          <a:noFill/>
        </p:spPr>
        <p:txBody>
          <a:bodyPr wrap="square" lIns="0" tIns="0" rIns="0" bIns="0" rtlCol="0" anchor="ctr"/>
          <a:lstStyle/>
          <a:p>
            <a:pPr marL="0" indent="0" algn="ctr">
              <a:buNone/>
            </a:pPr>
            <a:r>
              <a:rPr lang="en-US" sz="850" b="1" dirty="0">
                <a:solidFill>
                  <a:srgbClr val="FFFFFF"/>
                </a:solidFill>
                <a:latin typeface="Microsoft JhengHei" panose="020B0604030504040204" pitchFamily="34" charset="-120"/>
                <a:ea typeface="Microsoft JhengHei" panose="020B0604030504040204" pitchFamily="34" charset="-120"/>
              </a:rPr>
              <a:t>노년</a:t>
            </a:r>
            <a:endParaRPr lang="en-US" sz="850" b="1" dirty="0">
              <a:solidFill>
                <a:srgbClr val="FFFFFF"/>
              </a:solidFill>
              <a:latin typeface="Microsoft JhengHei" panose="020B0604030504040204" pitchFamily="34" charset="-120"/>
              <a:ea typeface="Microsoft JhengHei" panose="020B0604030504040204" pitchFamily="34" charset="-120"/>
            </a:endParaRPr>
          </a:p>
        </p:txBody>
      </p:sp>
      <p:sp>
        <p:nvSpPr>
          <p:cNvPr id="82" name="Shape 80"/>
          <p:cNvSpPr/>
          <p:nvPr/>
        </p:nvSpPr>
        <p:spPr>
          <a:xfrm>
            <a:off x="5010912" y="4301032"/>
            <a:ext cx="1005840" cy="342900"/>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3" name="Text 81"/>
          <p:cNvSpPr/>
          <p:nvPr/>
        </p:nvSpPr>
        <p:spPr>
          <a:xfrm>
            <a:off x="5010912" y="4301032"/>
            <a:ext cx="1005840" cy="342900"/>
          </a:xfrm>
          <a:prstGeom prst="rect">
            <a:avLst/>
          </a:prstGeom>
          <a:noFill/>
        </p:spPr>
        <p:txBody>
          <a:bodyPr wrap="square" lIns="25400" tIns="25400" rIns="25400" bIns="25400" rtlCol="0" anchor="ctr"/>
          <a:lstStyle/>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독거·이동제약</a:t>
            </a:r>
            <a:endPar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4" name="Shape 82"/>
          <p:cNvSpPr/>
          <p:nvPr/>
        </p:nvSpPr>
        <p:spPr>
          <a:xfrm>
            <a:off x="6025896" y="4301032"/>
            <a:ext cx="1554480" cy="342900"/>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5" name="Text 83"/>
          <p:cNvSpPr/>
          <p:nvPr/>
        </p:nvSpPr>
        <p:spPr>
          <a:xfrm>
            <a:off x="6025896" y="4301032"/>
            <a:ext cx="1554480" cy="342900"/>
          </a:xfrm>
          <a:prstGeom prst="rect">
            <a:avLst/>
          </a:prstGeom>
          <a:noFill/>
        </p:spPr>
        <p:txBody>
          <a:bodyPr wrap="square" lIns="25400" tIns="25400" rIns="25400" bIns="25400" rtlCol="0" anchor="ctr"/>
          <a:lstStyle/>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건강 악화,</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돌봄 공백</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6" name="Shape 84"/>
          <p:cNvSpPr/>
          <p:nvPr/>
        </p:nvSpPr>
        <p:spPr>
          <a:xfrm>
            <a:off x="7589520" y="4301032"/>
            <a:ext cx="1188720" cy="342900"/>
          </a:xfrm>
          <a:prstGeom prst="rect">
            <a:avLst/>
          </a:prstGeom>
          <a:solidFill>
            <a:srgbClr val="F4F6FA"/>
          </a:solidFill>
          <a:ln w="6350">
            <a:solidFill>
              <a:srgbClr val="E0E8F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7" name="Text 85"/>
          <p:cNvSpPr/>
          <p:nvPr/>
        </p:nvSpPr>
        <p:spPr>
          <a:xfrm>
            <a:off x="7589520" y="4301032"/>
            <a:ext cx="1188720" cy="342900"/>
          </a:xfrm>
          <a:prstGeom prst="rect">
            <a:avLst/>
          </a:prstGeom>
          <a:noFill/>
        </p:spPr>
        <p:txBody>
          <a:bodyPr wrap="square" lIns="25400" tIns="25400" rIns="25400" bIns="25400" rtlCol="0" anchor="ctr"/>
          <a:lstStyle/>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방문돌봄,</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ctr">
              <a:buNone/>
            </a:pPr>
            <a:r>
              <a:rPr lang="en-US" sz="800"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의료동행</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8" name="Shape 86"/>
          <p:cNvSpPr/>
          <p:nvPr/>
        </p:nvSpPr>
        <p:spPr>
          <a:xfrm>
            <a:off x="4343400" y="4726228"/>
            <a:ext cx="4480560" cy="274320"/>
          </a:xfrm>
          <a:prstGeom prst="rect">
            <a:avLst/>
          </a:prstGeom>
          <a:solidFill>
            <a:srgbClr val="EEF3FB"/>
          </a:solidFill>
          <a:ln w="10160">
            <a:solidFill>
              <a:srgbClr val="B8CBE8"/>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9" name="Text 87"/>
          <p:cNvSpPr/>
          <p:nvPr/>
        </p:nvSpPr>
        <p:spPr>
          <a:xfrm>
            <a:off x="4343400" y="4726228"/>
            <a:ext cx="4480560" cy="274320"/>
          </a:xfrm>
          <a:prstGeom prst="rect">
            <a:avLst/>
          </a:prstGeom>
          <a:noFill/>
        </p:spPr>
        <p:txBody>
          <a:bodyPr wrap="square" lIns="0" tIns="0" rIns="0" bIns="0" rtlCol="0" anchor="ctr"/>
          <a:lstStyle/>
          <a:p>
            <a:pPr marL="0" indent="0" algn="ctr">
              <a:buNone/>
            </a:pPr>
            <a:r>
              <a:rPr lang="en-US" sz="80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rPr>
              <a:t>고립의 양상과 정책 초점은 생애주기마다 다르므로, 분리 진단이 필요하다.</a:t>
            </a:r>
            <a:endParaRPr lang="en-US" sz="800" b="1" dirty="0">
              <a:solidFill>
                <a:srgbClr val="1E3A5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0"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91"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01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연구 배경</a:t>
            </a:r>
            <a:endParaRPr lang="en-US" sz="650" dirty="0">
              <a:latin typeface="Microsoft JhengHei" panose="020B0604030504040204" pitchFamily="34" charset="-120"/>
              <a:ea typeface="Microsoft JhengHei" panose="020B0604030504040204" pitchFamily="34" charset="-120"/>
            </a:endParaRPr>
          </a:p>
        </p:txBody>
      </p:sp>
      <p:sp>
        <p:nvSpPr>
          <p:cNvPr id="92"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고독사 현황</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3"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94" name="Rectangle 37"/>
          <p:cNvSpPr/>
          <p:nvPr/>
        </p:nvSpPr>
        <p:spPr>
          <a:xfrm>
            <a:off x="310897" y="4491647"/>
            <a:ext cx="45719" cy="332367"/>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95" name="TextBox 94"/>
          <p:cNvSpPr txBox="1"/>
          <p:nvPr/>
        </p:nvSpPr>
        <p:spPr>
          <a:xfrm>
            <a:off x="384049" y="4491648"/>
            <a:ext cx="3776471" cy="338554"/>
          </a:xfrm>
          <a:prstGeom prst="rect">
            <a:avLst/>
          </a:prstGeom>
          <a:noFill/>
        </p:spPr>
        <p:txBody>
          <a:bodyPr wrap="square">
            <a:spAutoFit/>
          </a:bodyPr>
          <a:lstStyle/>
          <a:p>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고독사를 노년 문제로만 볼 경우</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err="1">
                <a:latin typeface="Microsoft JhengHei" panose="020B0604030504040204" pitchFamily="34" charset="-120"/>
                <a:ea typeface="Microsoft JhengHei" panose="020B0604030504040204" pitchFamily="34" charset="-120"/>
                <a:cs typeface="Microsoft JhengHei" panose="020B0604030504040204" pitchFamily="34" charset="-120"/>
              </a:rPr>
              <a:t>중장년의</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 현실적 위험과 청년의 초기 고립 신호를 함께 놓칠 수 있습니다</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a:t>
            </a:r>
            <a:endPar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376461" y="830720"/>
            <a:ext cx="2750567" cy="2628886"/>
          </a:xfrm>
          <a:prstGeom prst="roundRect">
            <a:avLst>
              <a:gd name="adj" fmla="val 1814"/>
            </a:avLst>
          </a:prstGeom>
          <a:solidFill>
            <a:srgbClr val="EBF2FB">
              <a:alpha val="95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 name="Text 6"/>
          <p:cNvSpPr/>
          <p:nvPr/>
        </p:nvSpPr>
        <p:spPr>
          <a:xfrm>
            <a:off x="492026" y="886129"/>
            <a:ext cx="328687" cy="69056"/>
          </a:xfrm>
          <a:prstGeom prst="rect">
            <a:avLst/>
          </a:prstGeom>
          <a:noFill/>
        </p:spPr>
        <p:txBody>
          <a:bodyPr wrap="none" lIns="0" tIns="0" rIns="0" bIns="0" rtlCol="0" anchor="t"/>
          <a:lstStyle/>
          <a:p>
            <a:pPr marL="0" indent="0" algn="l">
              <a:lnSpc>
                <a:spcPts val="500"/>
              </a:lnSpc>
              <a:buNone/>
            </a:pPr>
            <a:r>
              <a:rPr lang="en-US" sz="5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청년 20~39세</a:t>
            </a:r>
            <a:endParaRPr lang="en-US" sz="5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 name="Text 7"/>
          <p:cNvSpPr/>
          <p:nvPr/>
        </p:nvSpPr>
        <p:spPr>
          <a:xfrm>
            <a:off x="445740" y="1028030"/>
            <a:ext cx="866105" cy="108272"/>
          </a:xfrm>
          <a:prstGeom prst="rect">
            <a:avLst/>
          </a:prstGeom>
          <a:noFill/>
        </p:spPr>
        <p:txBody>
          <a:bodyPr wrap="none" lIns="0" tIns="0" rIns="0" bIns="0" rtlCol="0" anchor="t"/>
          <a:lstStyle/>
          <a:p>
            <a:pPr marL="0" indent="0" algn="l">
              <a:lnSpc>
                <a:spcPts val="850"/>
              </a:lnSpc>
              <a:buNone/>
            </a:pPr>
            <a:r>
              <a:rPr lang="en-US" sz="7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핵심 위험</a:t>
            </a:r>
            <a:endParaRPr lang="en-US" sz="7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 name="Text 8"/>
          <p:cNvSpPr/>
          <p:nvPr/>
        </p:nvSpPr>
        <p:spPr>
          <a:xfrm>
            <a:off x="445740" y="1174998"/>
            <a:ext cx="2612008" cy="86320"/>
          </a:xfrm>
          <a:prstGeom prst="rect">
            <a:avLst/>
          </a:prstGeom>
          <a:noFill/>
        </p:spPr>
        <p:txBody>
          <a:bodyPr wrap="none" lIns="0" tIns="0" rIns="0" bIns="0" rtlCol="0" anchor="t"/>
          <a:lstStyle/>
          <a:p>
            <a:pPr marL="0" indent="0" algn="l">
              <a:lnSpc>
                <a:spcPts val="65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고립·은둔, 관계 단절, 사회진입 실패</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 name="Text 9"/>
          <p:cNvSpPr/>
          <p:nvPr/>
        </p:nvSpPr>
        <p:spPr>
          <a:xfrm>
            <a:off x="445740" y="1300014"/>
            <a:ext cx="866105" cy="108272"/>
          </a:xfrm>
          <a:prstGeom prst="rect">
            <a:avLst/>
          </a:prstGeom>
          <a:noFill/>
        </p:spPr>
        <p:txBody>
          <a:bodyPr wrap="none" lIns="0" tIns="0" rIns="0" bIns="0" rtlCol="0" anchor="t"/>
          <a:lstStyle/>
          <a:p>
            <a:pPr marL="0" indent="0" algn="l">
              <a:lnSpc>
                <a:spcPts val="850"/>
              </a:lnSpc>
              <a:buNone/>
            </a:pPr>
            <a:r>
              <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주요 신호</a:t>
            </a:r>
            <a:endPar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 name="Text 10"/>
          <p:cNvSpPr/>
          <p:nvPr/>
        </p:nvSpPr>
        <p:spPr>
          <a:xfrm>
            <a:off x="445740" y="1446981"/>
            <a:ext cx="2612008" cy="86320"/>
          </a:xfrm>
          <a:prstGeom prst="rect">
            <a:avLst/>
          </a:prstGeom>
          <a:noFill/>
        </p:spPr>
        <p:txBody>
          <a:bodyPr wrap="none" lIns="0" tIns="0" rIns="0" bIns="0" rtlCol="0" anchor="t"/>
          <a:lstStyle/>
          <a:p>
            <a:pPr marL="0" indent="0" algn="l">
              <a:lnSpc>
                <a:spcPts val="65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외출 감소 / 정서 문제 / 사회적 관계 축소 / 취업·생활 리듬 단절</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3" name="Text 11"/>
          <p:cNvSpPr/>
          <p:nvPr/>
        </p:nvSpPr>
        <p:spPr>
          <a:xfrm>
            <a:off x="445740" y="1571997"/>
            <a:ext cx="866105" cy="108272"/>
          </a:xfrm>
          <a:prstGeom prst="rect">
            <a:avLst/>
          </a:prstGeom>
          <a:noFill/>
        </p:spPr>
        <p:txBody>
          <a:bodyPr wrap="none" lIns="0" tIns="0" rIns="0" bIns="0" rtlCol="0" anchor="t"/>
          <a:lstStyle/>
          <a:p>
            <a:pPr marL="0" indent="0" algn="l">
              <a:lnSpc>
                <a:spcPts val="850"/>
              </a:lnSpc>
              <a:buNone/>
            </a:pPr>
            <a:r>
              <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정책 방향</a:t>
            </a:r>
            <a:endPar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4" name="Text 12"/>
          <p:cNvSpPr/>
          <p:nvPr/>
        </p:nvSpPr>
        <p:spPr>
          <a:xfrm>
            <a:off x="445740" y="1718965"/>
            <a:ext cx="2612008" cy="286048"/>
          </a:xfrm>
          <a:prstGeom prst="rect">
            <a:avLst/>
          </a:prstGeom>
          <a:noFill/>
        </p:spPr>
        <p:txBody>
          <a:bodyPr wrap="square" lIns="0" tIns="0" rIns="0" bIns="0" rtlCol="0" anchor="t"/>
          <a:lstStyle/>
          <a:p>
            <a:pPr marL="342900" indent="-342900" algn="l">
              <a:lnSpc>
                <a:spcPts val="650"/>
              </a:lnSpc>
              <a:buSzPct val="100000"/>
              <a:buChar char="•"/>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관계 회복, 사회 복귀 </a:t>
            </a: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거점</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구축</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서울청년기지개센터</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기지개LAB</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운영</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서울마음편의점</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커뮤니티 프로그램 연계</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15" name="Image 0" descr="preencoded.png"/>
          <p:cNvPicPr>
            <a:picLocks noChangeAspect="1"/>
          </p:cNvPicPr>
          <p:nvPr/>
        </p:nvPicPr>
        <p:blipFill>
          <a:blip r:embed="rId1"/>
          <a:stretch>
            <a:fillRect/>
          </a:stretch>
        </p:blipFill>
        <p:spPr>
          <a:xfrm>
            <a:off x="445740" y="2048545"/>
            <a:ext cx="1697757" cy="1517625"/>
          </a:xfrm>
          <a:prstGeom prst="rect">
            <a:avLst/>
          </a:prstGeom>
        </p:spPr>
      </p:pic>
      <p:sp>
        <p:nvSpPr>
          <p:cNvPr id="16" name="Shape 13"/>
          <p:cNvSpPr/>
          <p:nvPr/>
        </p:nvSpPr>
        <p:spPr>
          <a:xfrm>
            <a:off x="3200995" y="830720"/>
            <a:ext cx="2750567" cy="2628886"/>
          </a:xfrm>
          <a:prstGeom prst="roundRect">
            <a:avLst>
              <a:gd name="adj" fmla="val 1814"/>
            </a:avLst>
          </a:prstGeom>
          <a:solidFill>
            <a:srgbClr val="FDF0E8">
              <a:alpha val="95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8" name="Text 15"/>
          <p:cNvSpPr/>
          <p:nvPr/>
        </p:nvSpPr>
        <p:spPr>
          <a:xfrm>
            <a:off x="3311798" y="881366"/>
            <a:ext cx="379661" cy="69056"/>
          </a:xfrm>
          <a:prstGeom prst="rect">
            <a:avLst/>
          </a:prstGeom>
          <a:noFill/>
        </p:spPr>
        <p:txBody>
          <a:bodyPr wrap="none" lIns="0" tIns="0" rIns="0" bIns="0" rtlCol="0" anchor="t"/>
          <a:lstStyle/>
          <a:p>
            <a:pPr marL="0" indent="0" algn="l">
              <a:lnSpc>
                <a:spcPts val="500"/>
              </a:lnSpc>
              <a:buNone/>
            </a:pPr>
            <a:r>
              <a:rPr lang="en-US" sz="5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중장년 40~64세</a:t>
            </a:r>
            <a:endParaRPr lang="en-US" sz="5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9" name="Text 16"/>
          <p:cNvSpPr/>
          <p:nvPr/>
        </p:nvSpPr>
        <p:spPr>
          <a:xfrm>
            <a:off x="3270275" y="1018505"/>
            <a:ext cx="866105" cy="108272"/>
          </a:xfrm>
          <a:prstGeom prst="rect">
            <a:avLst/>
          </a:prstGeom>
          <a:noFill/>
        </p:spPr>
        <p:txBody>
          <a:bodyPr wrap="none" lIns="0" tIns="0" rIns="0" bIns="0" rtlCol="0" anchor="t"/>
          <a:lstStyle/>
          <a:p>
            <a:pPr marL="0" indent="0" algn="l">
              <a:lnSpc>
                <a:spcPts val="850"/>
              </a:lnSpc>
              <a:buNone/>
            </a:pPr>
            <a:r>
              <a:rPr lang="en-US" sz="7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핵심 위험</a:t>
            </a:r>
            <a:endParaRPr lang="en-US" sz="7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0" name="Text 17"/>
          <p:cNvSpPr/>
          <p:nvPr/>
        </p:nvSpPr>
        <p:spPr>
          <a:xfrm>
            <a:off x="3270275" y="1165473"/>
            <a:ext cx="2612008" cy="86320"/>
          </a:xfrm>
          <a:prstGeom prst="rect">
            <a:avLst/>
          </a:prstGeom>
          <a:noFill/>
        </p:spPr>
        <p:txBody>
          <a:bodyPr wrap="none" lIns="0" tIns="0" rIns="0" bIns="0" rtlCol="0" anchor="t"/>
          <a:lstStyle/>
          <a:p>
            <a:pPr marL="0" indent="0" algn="l">
              <a:lnSpc>
                <a:spcPts val="65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관계 단절, 생계 불안, 고독사 위험</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1" name="Text 18"/>
          <p:cNvSpPr/>
          <p:nvPr/>
        </p:nvSpPr>
        <p:spPr>
          <a:xfrm>
            <a:off x="3270275" y="1290489"/>
            <a:ext cx="866105" cy="108272"/>
          </a:xfrm>
          <a:prstGeom prst="rect">
            <a:avLst/>
          </a:prstGeom>
          <a:noFill/>
        </p:spPr>
        <p:txBody>
          <a:bodyPr wrap="none" lIns="0" tIns="0" rIns="0" bIns="0" rtlCol="0" anchor="t"/>
          <a:lstStyle/>
          <a:p>
            <a:pPr marL="0" indent="0" algn="l">
              <a:lnSpc>
                <a:spcPts val="850"/>
              </a:lnSpc>
              <a:buNone/>
            </a:pPr>
            <a:r>
              <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주요 신호</a:t>
            </a:r>
            <a:endPar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2" name="Text 19"/>
          <p:cNvSpPr/>
          <p:nvPr/>
        </p:nvSpPr>
        <p:spPr>
          <a:xfrm>
            <a:off x="3270275" y="1437456"/>
            <a:ext cx="2612008" cy="86320"/>
          </a:xfrm>
          <a:prstGeom prst="rect">
            <a:avLst/>
          </a:prstGeom>
          <a:noFill/>
        </p:spPr>
        <p:txBody>
          <a:bodyPr wrap="none" lIns="0" tIns="0" rIns="0" bIns="0" rtlCol="0" anchor="t"/>
          <a:lstStyle/>
          <a:p>
            <a:pPr marL="0" indent="0" algn="l">
              <a:lnSpc>
                <a:spcPts val="65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실직 / 가족해체 / 건강 악화 / 사회적 관계망 이탈</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3" name="Text 20"/>
          <p:cNvSpPr/>
          <p:nvPr/>
        </p:nvSpPr>
        <p:spPr>
          <a:xfrm>
            <a:off x="3270275" y="1562472"/>
            <a:ext cx="866105" cy="108272"/>
          </a:xfrm>
          <a:prstGeom prst="rect">
            <a:avLst/>
          </a:prstGeom>
          <a:noFill/>
        </p:spPr>
        <p:txBody>
          <a:bodyPr wrap="none" lIns="0" tIns="0" rIns="0" bIns="0" rtlCol="0" anchor="t"/>
          <a:lstStyle/>
          <a:p>
            <a:pPr marL="0" indent="0" algn="l">
              <a:lnSpc>
                <a:spcPts val="850"/>
              </a:lnSpc>
              <a:buNone/>
            </a:pPr>
            <a:r>
              <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정책 방향</a:t>
            </a:r>
            <a:endPar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4" name="Text 21"/>
          <p:cNvSpPr/>
          <p:nvPr/>
        </p:nvSpPr>
        <p:spPr>
          <a:xfrm>
            <a:off x="3270275" y="1709440"/>
            <a:ext cx="2612008" cy="286048"/>
          </a:xfrm>
          <a:prstGeom prst="rect">
            <a:avLst/>
          </a:prstGeom>
          <a:noFill/>
        </p:spPr>
        <p:txBody>
          <a:bodyPr wrap="square" lIns="0" tIns="0" rIns="0" bIns="0" rtlCol="0" anchor="t"/>
          <a:lstStyle/>
          <a:p>
            <a:pPr marL="342900" indent="-342900" algn="l">
              <a:lnSpc>
                <a:spcPts val="650"/>
              </a:lnSpc>
              <a:buSzPct val="100000"/>
              <a:buChar char="•"/>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선제 발굴 및 안부확인 </a:t>
            </a: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체계</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강화</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생계·정서</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연계 </a:t>
            </a: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통합</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지원</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외로움안녕120, 스마트안부확인 서비스</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25" name="Image 1" descr="preencoded.png"/>
          <p:cNvPicPr>
            <a:picLocks noChangeAspect="1"/>
          </p:cNvPicPr>
          <p:nvPr/>
        </p:nvPicPr>
        <p:blipFill>
          <a:blip r:embed="rId2"/>
          <a:stretch>
            <a:fillRect/>
          </a:stretch>
        </p:blipFill>
        <p:spPr>
          <a:xfrm>
            <a:off x="3510133" y="2167870"/>
            <a:ext cx="1531866" cy="1369335"/>
          </a:xfrm>
          <a:prstGeom prst="rect">
            <a:avLst/>
          </a:prstGeom>
        </p:spPr>
      </p:pic>
      <p:sp>
        <p:nvSpPr>
          <p:cNvPr id="26" name="Shape 22"/>
          <p:cNvSpPr/>
          <p:nvPr/>
        </p:nvSpPr>
        <p:spPr>
          <a:xfrm>
            <a:off x="6025530" y="830720"/>
            <a:ext cx="2750567" cy="2628886"/>
          </a:xfrm>
          <a:prstGeom prst="roundRect">
            <a:avLst>
              <a:gd name="adj" fmla="val 1814"/>
            </a:avLst>
          </a:prstGeom>
          <a:solidFill>
            <a:srgbClr val="E8F5EE">
              <a:alpha val="95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8" name="Text 24"/>
          <p:cNvSpPr/>
          <p:nvPr/>
        </p:nvSpPr>
        <p:spPr>
          <a:xfrm>
            <a:off x="6141095" y="886129"/>
            <a:ext cx="344388" cy="69056"/>
          </a:xfrm>
          <a:prstGeom prst="rect">
            <a:avLst/>
          </a:prstGeom>
          <a:noFill/>
        </p:spPr>
        <p:txBody>
          <a:bodyPr wrap="none" lIns="0" tIns="0" rIns="0" bIns="0" rtlCol="0" anchor="t"/>
          <a:lstStyle/>
          <a:p>
            <a:pPr marL="0" indent="0" algn="l">
              <a:lnSpc>
                <a:spcPts val="500"/>
              </a:lnSpc>
              <a:buNone/>
            </a:pPr>
            <a:r>
              <a:rPr lang="en-US" sz="5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노년 65세 이상</a:t>
            </a:r>
            <a:endParaRPr lang="en-US" sz="5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9" name="Text 25"/>
          <p:cNvSpPr/>
          <p:nvPr/>
        </p:nvSpPr>
        <p:spPr>
          <a:xfrm>
            <a:off x="6094809" y="1028030"/>
            <a:ext cx="866105" cy="108272"/>
          </a:xfrm>
          <a:prstGeom prst="rect">
            <a:avLst/>
          </a:prstGeom>
          <a:noFill/>
        </p:spPr>
        <p:txBody>
          <a:bodyPr wrap="none" lIns="0" tIns="0" rIns="0" bIns="0" rtlCol="0" anchor="t"/>
          <a:lstStyle/>
          <a:p>
            <a:pPr marL="0" indent="0" algn="l">
              <a:lnSpc>
                <a:spcPts val="850"/>
              </a:lnSpc>
              <a:buNone/>
            </a:pPr>
            <a:r>
              <a:rPr lang="en-US" sz="7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핵심 위험</a:t>
            </a:r>
            <a:endParaRPr lang="en-US" sz="7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0" name="Text 26"/>
          <p:cNvSpPr/>
          <p:nvPr/>
        </p:nvSpPr>
        <p:spPr>
          <a:xfrm>
            <a:off x="6094809" y="1174998"/>
            <a:ext cx="2612008" cy="86320"/>
          </a:xfrm>
          <a:prstGeom prst="rect">
            <a:avLst/>
          </a:prstGeom>
          <a:noFill/>
        </p:spPr>
        <p:txBody>
          <a:bodyPr wrap="none" lIns="0" tIns="0" rIns="0" bIns="0" rtlCol="0" anchor="t"/>
          <a:lstStyle/>
          <a:p>
            <a:pPr marL="0" indent="0" algn="l">
              <a:lnSpc>
                <a:spcPts val="65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독거, 기능 제한, 돌봄 공백</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1" name="Text 27"/>
          <p:cNvSpPr/>
          <p:nvPr/>
        </p:nvSpPr>
        <p:spPr>
          <a:xfrm>
            <a:off x="6094809" y="1300014"/>
            <a:ext cx="866105" cy="108272"/>
          </a:xfrm>
          <a:prstGeom prst="rect">
            <a:avLst/>
          </a:prstGeom>
          <a:noFill/>
        </p:spPr>
        <p:txBody>
          <a:bodyPr wrap="none" lIns="0" tIns="0" rIns="0" bIns="0" rtlCol="0" anchor="t"/>
          <a:lstStyle/>
          <a:p>
            <a:pPr marL="0" indent="0" algn="l">
              <a:lnSpc>
                <a:spcPts val="850"/>
              </a:lnSpc>
              <a:buNone/>
            </a:pPr>
            <a:r>
              <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주요 신호</a:t>
            </a:r>
            <a:endPar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2" name="Text 28"/>
          <p:cNvSpPr/>
          <p:nvPr/>
        </p:nvSpPr>
        <p:spPr>
          <a:xfrm>
            <a:off x="6094809" y="1446981"/>
            <a:ext cx="2612008" cy="86320"/>
          </a:xfrm>
          <a:prstGeom prst="rect">
            <a:avLst/>
          </a:prstGeom>
          <a:noFill/>
        </p:spPr>
        <p:txBody>
          <a:bodyPr wrap="none" lIns="0" tIns="0" rIns="0" bIns="0" rtlCol="0" anchor="t"/>
          <a:lstStyle/>
          <a:p>
            <a:pPr marL="0" indent="0" algn="l">
              <a:lnSpc>
                <a:spcPts val="65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이동 제약 / 건강 취약 / 의료·복지 접근성 부족 / 일상생활 지원 부족</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3" name="Text 29"/>
          <p:cNvSpPr/>
          <p:nvPr/>
        </p:nvSpPr>
        <p:spPr>
          <a:xfrm>
            <a:off x="6094809" y="1571997"/>
            <a:ext cx="866105" cy="108272"/>
          </a:xfrm>
          <a:prstGeom prst="rect">
            <a:avLst/>
          </a:prstGeom>
          <a:noFill/>
        </p:spPr>
        <p:txBody>
          <a:bodyPr wrap="none" lIns="0" tIns="0" rIns="0" bIns="0" rtlCol="0" anchor="t"/>
          <a:lstStyle/>
          <a:p>
            <a:pPr marL="0" indent="0" algn="l">
              <a:lnSpc>
                <a:spcPts val="850"/>
              </a:lnSpc>
              <a:buNone/>
            </a:pPr>
            <a:r>
              <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정책 방향</a:t>
            </a:r>
            <a:endParaRPr lang="en-US" sz="6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4" name="Text 30"/>
          <p:cNvSpPr/>
          <p:nvPr/>
        </p:nvSpPr>
        <p:spPr>
          <a:xfrm>
            <a:off x="6094809" y="1718965"/>
            <a:ext cx="2612008" cy="286048"/>
          </a:xfrm>
          <a:prstGeom prst="rect">
            <a:avLst/>
          </a:prstGeom>
          <a:noFill/>
        </p:spPr>
        <p:txBody>
          <a:bodyPr wrap="square" lIns="0" tIns="0" rIns="0" bIns="0" rtlCol="0" anchor="t"/>
          <a:lstStyle/>
          <a:p>
            <a:pPr marL="342900" indent="-342900" algn="l">
              <a:lnSpc>
                <a:spcPts val="650"/>
              </a:lnSpc>
              <a:buSzPct val="100000"/>
              <a:buChar char="•"/>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돌봄·의료·이동 통합 </a:t>
            </a: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지원</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체계</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건강동행서비스</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7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확대</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650"/>
              </a:lnSpc>
              <a:buSzPct val="100000"/>
              <a:buChar char="•"/>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동 중심 원스톱 통합돌봄 실현</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35" name="Image 2" descr="preencoded.png"/>
          <p:cNvPicPr>
            <a:picLocks noChangeAspect="1"/>
          </p:cNvPicPr>
          <p:nvPr/>
        </p:nvPicPr>
        <p:blipFill>
          <a:blip r:embed="rId3"/>
          <a:stretch>
            <a:fillRect/>
          </a:stretch>
        </p:blipFill>
        <p:spPr>
          <a:xfrm>
            <a:off x="6094809" y="2048545"/>
            <a:ext cx="1697757" cy="1517625"/>
          </a:xfrm>
          <a:prstGeom prst="rect">
            <a:avLst/>
          </a:prstGeom>
        </p:spPr>
      </p:pic>
      <p:sp>
        <p:nvSpPr>
          <p:cNvPr id="36" name="Text 31"/>
          <p:cNvSpPr/>
          <p:nvPr/>
        </p:nvSpPr>
        <p:spPr>
          <a:xfrm>
            <a:off x="426393" y="3680471"/>
            <a:ext cx="885452" cy="242713"/>
          </a:xfrm>
          <a:prstGeom prst="rect">
            <a:avLst/>
          </a:prstGeom>
          <a:noFill/>
        </p:spPr>
        <p:txBody>
          <a:bodyPr wrap="none" lIns="0" tIns="0" rIns="0" bIns="0" rtlCol="0" anchor="t"/>
          <a:lstStyle/>
          <a:p>
            <a:pPr marL="0" indent="0" algn="l">
              <a:lnSpc>
                <a:spcPts val="500"/>
              </a:lnSpc>
              <a:buNone/>
            </a:pPr>
            <a:r>
              <a:rPr lang="en-US" sz="10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세대별 고립 경로</a:t>
            </a:r>
            <a:endParaRPr lang="en-US" sz="10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7" name="Shape 32"/>
          <p:cNvSpPr/>
          <p:nvPr/>
        </p:nvSpPr>
        <p:spPr>
          <a:xfrm>
            <a:off x="426393" y="4078462"/>
            <a:ext cx="8291215" cy="742015"/>
          </a:xfrm>
          <a:prstGeom prst="roundRect">
            <a:avLst>
              <a:gd name="adj" fmla="val 3474"/>
            </a:avLst>
          </a:prstGeom>
          <a:noFill/>
          <a:ln w="4763">
            <a:solidFill>
              <a:srgbClr val="000000">
                <a:alpha val="8000"/>
              </a:srgbClr>
            </a:solidFill>
            <a:prstDash val="solid"/>
          </a:ln>
        </p:spPr>
        <p:txBody>
          <a:bodyPr/>
          <a:lstStyle/>
          <a:p>
            <a:endParaRPr lang="ko-KR" altLang="en-US" sz="800">
              <a:latin typeface="Microsoft JhengHei" panose="020B0604030504040204" pitchFamily="34" charset="-120"/>
              <a:ea typeface="Microsoft JhengHei" panose="020B0604030504040204" pitchFamily="34" charset="-120"/>
            </a:endParaRPr>
          </a:p>
        </p:txBody>
      </p:sp>
      <p:sp>
        <p:nvSpPr>
          <p:cNvPr id="38" name="Shape 33"/>
          <p:cNvSpPr/>
          <p:nvPr/>
        </p:nvSpPr>
        <p:spPr>
          <a:xfrm>
            <a:off x="431155" y="3860710"/>
            <a:ext cx="8281690" cy="339750"/>
          </a:xfrm>
          <a:prstGeom prst="rect">
            <a:avLst/>
          </a:prstGeom>
          <a:solidFill>
            <a:srgbClr val="FFFFFF">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endParaRPr>
          </a:p>
        </p:txBody>
      </p:sp>
      <p:sp>
        <p:nvSpPr>
          <p:cNvPr id="40" name="Text 35"/>
          <p:cNvSpPr/>
          <p:nvPr/>
        </p:nvSpPr>
        <p:spPr>
          <a:xfrm>
            <a:off x="500583" y="3966357"/>
            <a:ext cx="852860" cy="206123"/>
          </a:xfrm>
          <a:prstGeom prst="rect">
            <a:avLst/>
          </a:prstGeom>
          <a:noFill/>
        </p:spPr>
        <p:txBody>
          <a:bodyPr wrap="none" lIns="0" tIns="0" rIns="0" bIns="0" rtlCol="0" anchor="t"/>
          <a:lstStyle/>
          <a:p>
            <a:pPr marL="0" indent="0" algn="l">
              <a:lnSpc>
                <a:spcPts val="650"/>
              </a:lnSpc>
              <a:buNone/>
            </a:pPr>
            <a:r>
              <a:rPr lang="en-US" sz="800" b="1" dirty="0">
                <a:solidFill>
                  <a:srgbClr val="FFFFFF"/>
                </a:solidFill>
                <a:latin typeface="Microsoft JhengHei" panose="020B0604030504040204" pitchFamily="34" charset="-120"/>
                <a:ea typeface="Microsoft JhengHei" panose="020B0604030504040204" pitchFamily="34" charset="-120"/>
                <a:cs typeface="Roboto" pitchFamily="34" charset="-120"/>
              </a:rPr>
              <a:t>세대</a:t>
            </a:r>
            <a:endParaRPr lang="en-US" sz="800" b="1" dirty="0">
              <a:solidFill>
                <a:srgbClr val="FFFFFF"/>
              </a:solidFill>
              <a:latin typeface="Microsoft JhengHei" panose="020B0604030504040204" pitchFamily="34" charset="-120"/>
              <a:ea typeface="Microsoft JhengHei" panose="020B0604030504040204" pitchFamily="34" charset="-120"/>
              <a:cs typeface="Roboto" pitchFamily="34" charset="-120"/>
            </a:endParaRPr>
          </a:p>
        </p:txBody>
      </p:sp>
      <p:sp>
        <p:nvSpPr>
          <p:cNvPr id="41" name="Shape 36"/>
          <p:cNvSpPr/>
          <p:nvPr/>
        </p:nvSpPr>
        <p:spPr>
          <a:xfrm>
            <a:off x="1425104" y="3915802"/>
            <a:ext cx="1821954" cy="224047"/>
          </a:xfrm>
          <a:prstGeom prst="rect">
            <a:avLst/>
          </a:prstGeom>
          <a:solidFill>
            <a:srgbClr val="2B5FA6"/>
          </a:solidFill>
        </p:spPr>
        <p:txBody>
          <a:bodyPr/>
          <a:lstStyle/>
          <a:p>
            <a:endParaRPr lang="ko-KR" altLang="en-US" sz="800">
              <a:latin typeface="Microsoft JhengHei" panose="020B0604030504040204" pitchFamily="34" charset="-120"/>
              <a:ea typeface="Microsoft JhengHei" panose="020B0604030504040204" pitchFamily="34" charset="-120"/>
            </a:endParaRPr>
          </a:p>
        </p:txBody>
      </p:sp>
      <p:sp>
        <p:nvSpPr>
          <p:cNvPr id="42" name="Text 37"/>
          <p:cNvSpPr/>
          <p:nvPr/>
        </p:nvSpPr>
        <p:spPr>
          <a:xfrm>
            <a:off x="1496764" y="3966357"/>
            <a:ext cx="1678632" cy="206123"/>
          </a:xfrm>
          <a:prstGeom prst="rect">
            <a:avLst/>
          </a:prstGeom>
          <a:noFill/>
        </p:spPr>
        <p:txBody>
          <a:bodyPr wrap="none" lIns="0" tIns="0" rIns="0" bIns="0" rtlCol="0" anchor="t"/>
          <a:lstStyle/>
          <a:p>
            <a:pPr marL="0" indent="0" algn="l">
              <a:lnSpc>
                <a:spcPts val="650"/>
              </a:lnSpc>
              <a:buNone/>
            </a:pPr>
            <a:r>
              <a:rPr lang="en-US" sz="800" b="1" dirty="0">
                <a:solidFill>
                  <a:srgbClr val="FFFFFF"/>
                </a:solidFill>
                <a:latin typeface="Microsoft JhengHei" panose="020B0604030504040204" pitchFamily="34" charset="-120"/>
                <a:ea typeface="Microsoft JhengHei" panose="020B0604030504040204" pitchFamily="34" charset="-120"/>
                <a:cs typeface="Roboto" pitchFamily="34" charset="-120"/>
              </a:rPr>
              <a:t>원인</a:t>
            </a:r>
            <a:endParaRPr lang="en-US" sz="800" b="1" dirty="0">
              <a:solidFill>
                <a:srgbClr val="FFFFFF"/>
              </a:solidFill>
              <a:latin typeface="Microsoft JhengHei" panose="020B0604030504040204" pitchFamily="34" charset="-120"/>
              <a:ea typeface="Microsoft JhengHei" panose="020B0604030504040204" pitchFamily="34" charset="-120"/>
              <a:cs typeface="Roboto" pitchFamily="34" charset="-120"/>
            </a:endParaRPr>
          </a:p>
        </p:txBody>
      </p:sp>
      <p:sp>
        <p:nvSpPr>
          <p:cNvPr id="43" name="Shape 38"/>
          <p:cNvSpPr/>
          <p:nvPr/>
        </p:nvSpPr>
        <p:spPr>
          <a:xfrm>
            <a:off x="3247058" y="3915802"/>
            <a:ext cx="2318817" cy="224047"/>
          </a:xfrm>
          <a:prstGeom prst="rect">
            <a:avLst/>
          </a:prstGeom>
          <a:solidFill>
            <a:srgbClr val="2B5FA6"/>
          </a:solidFill>
        </p:spPr>
        <p:txBody>
          <a:bodyPr/>
          <a:lstStyle/>
          <a:p>
            <a:endParaRPr lang="ko-KR" altLang="en-US" sz="800">
              <a:latin typeface="Microsoft JhengHei" panose="020B0604030504040204" pitchFamily="34" charset="-120"/>
              <a:ea typeface="Microsoft JhengHei" panose="020B0604030504040204" pitchFamily="34" charset="-120"/>
            </a:endParaRPr>
          </a:p>
        </p:txBody>
      </p:sp>
      <p:sp>
        <p:nvSpPr>
          <p:cNvPr id="44" name="Text 39"/>
          <p:cNvSpPr/>
          <p:nvPr/>
        </p:nvSpPr>
        <p:spPr>
          <a:xfrm>
            <a:off x="3318718" y="3966357"/>
            <a:ext cx="2175495" cy="206123"/>
          </a:xfrm>
          <a:prstGeom prst="rect">
            <a:avLst/>
          </a:prstGeom>
          <a:noFill/>
        </p:spPr>
        <p:txBody>
          <a:bodyPr wrap="none" lIns="0" tIns="0" rIns="0" bIns="0" rtlCol="0" anchor="t"/>
          <a:lstStyle/>
          <a:p>
            <a:pPr marL="0" indent="0" algn="l">
              <a:lnSpc>
                <a:spcPts val="650"/>
              </a:lnSpc>
              <a:buNone/>
            </a:pPr>
            <a:r>
              <a:rPr lang="en-US" sz="800" b="1"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rPr>
              <a:t>주요 신호</a:t>
            </a:r>
            <a:endParaRPr lang="en-US" sz="800" b="1"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5" name="Shape 40"/>
          <p:cNvSpPr/>
          <p:nvPr/>
        </p:nvSpPr>
        <p:spPr>
          <a:xfrm>
            <a:off x="5565874" y="3915802"/>
            <a:ext cx="1987600" cy="224047"/>
          </a:xfrm>
          <a:prstGeom prst="rect">
            <a:avLst/>
          </a:prstGeom>
          <a:solidFill>
            <a:srgbClr val="2B5FA6"/>
          </a:solidFill>
        </p:spPr>
        <p:txBody>
          <a:bodyPr/>
          <a:lstStyle/>
          <a:p>
            <a:endParaRPr lang="ko-KR" altLang="en-US" sz="800">
              <a:latin typeface="Microsoft JhengHei" panose="020B0604030504040204" pitchFamily="34" charset="-120"/>
              <a:ea typeface="Microsoft JhengHei" panose="020B0604030504040204" pitchFamily="34" charset="-120"/>
            </a:endParaRPr>
          </a:p>
        </p:txBody>
      </p:sp>
      <p:sp>
        <p:nvSpPr>
          <p:cNvPr id="46" name="Text 41"/>
          <p:cNvSpPr/>
          <p:nvPr/>
        </p:nvSpPr>
        <p:spPr>
          <a:xfrm>
            <a:off x="5637535" y="3966357"/>
            <a:ext cx="1844278" cy="206123"/>
          </a:xfrm>
          <a:prstGeom prst="rect">
            <a:avLst/>
          </a:prstGeom>
          <a:noFill/>
        </p:spPr>
        <p:txBody>
          <a:bodyPr wrap="none" lIns="0" tIns="0" rIns="0" bIns="0" rtlCol="0" anchor="t"/>
          <a:lstStyle/>
          <a:p>
            <a:pPr marL="0" indent="0" algn="l">
              <a:lnSpc>
                <a:spcPts val="650"/>
              </a:lnSpc>
              <a:buNone/>
            </a:pPr>
            <a:r>
              <a:rPr lang="en-US" sz="800" b="1" dirty="0">
                <a:solidFill>
                  <a:srgbClr val="FFFFFF"/>
                </a:solidFill>
                <a:latin typeface="Microsoft JhengHei" panose="020B0604030504040204" pitchFamily="34" charset="-120"/>
                <a:ea typeface="Microsoft JhengHei" panose="020B0604030504040204" pitchFamily="34" charset="-120"/>
                <a:cs typeface="Roboto" pitchFamily="34" charset="-120"/>
              </a:rPr>
              <a:t>결과</a:t>
            </a:r>
            <a:endParaRPr lang="en-US" sz="800" b="1" dirty="0">
              <a:solidFill>
                <a:srgbClr val="FFFFFF"/>
              </a:solidFill>
              <a:latin typeface="Microsoft JhengHei" panose="020B0604030504040204" pitchFamily="34" charset="-120"/>
              <a:ea typeface="Microsoft JhengHei" panose="020B0604030504040204" pitchFamily="34" charset="-120"/>
              <a:cs typeface="Roboto" pitchFamily="34" charset="-120"/>
            </a:endParaRPr>
          </a:p>
        </p:txBody>
      </p:sp>
      <p:sp>
        <p:nvSpPr>
          <p:cNvPr id="47" name="Shape 42"/>
          <p:cNvSpPr/>
          <p:nvPr/>
        </p:nvSpPr>
        <p:spPr>
          <a:xfrm>
            <a:off x="7553474" y="3915802"/>
            <a:ext cx="1159371" cy="224047"/>
          </a:xfrm>
          <a:prstGeom prst="rect">
            <a:avLst/>
          </a:prstGeom>
          <a:solidFill>
            <a:srgbClr val="2B5FA6"/>
          </a:solidFill>
        </p:spPr>
        <p:txBody>
          <a:bodyPr/>
          <a:lstStyle/>
          <a:p>
            <a:endParaRPr lang="ko-KR" altLang="en-US" sz="800">
              <a:latin typeface="Microsoft JhengHei" panose="020B0604030504040204" pitchFamily="34" charset="-120"/>
              <a:ea typeface="Microsoft JhengHei" panose="020B0604030504040204" pitchFamily="34" charset="-120"/>
            </a:endParaRPr>
          </a:p>
        </p:txBody>
      </p:sp>
      <p:sp>
        <p:nvSpPr>
          <p:cNvPr id="48" name="Text 43"/>
          <p:cNvSpPr/>
          <p:nvPr/>
        </p:nvSpPr>
        <p:spPr>
          <a:xfrm>
            <a:off x="7625135" y="3966357"/>
            <a:ext cx="1018431" cy="206123"/>
          </a:xfrm>
          <a:prstGeom prst="rect">
            <a:avLst/>
          </a:prstGeom>
          <a:noFill/>
        </p:spPr>
        <p:txBody>
          <a:bodyPr wrap="none" lIns="0" tIns="0" rIns="0" bIns="0" rtlCol="0" anchor="t"/>
          <a:lstStyle/>
          <a:p>
            <a:pPr marL="0" indent="0" algn="l">
              <a:lnSpc>
                <a:spcPts val="650"/>
              </a:lnSpc>
              <a:buNone/>
            </a:pPr>
            <a:r>
              <a:rPr lang="en-US" sz="800" b="1"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rPr>
              <a:t>정책 대응</a:t>
            </a:r>
            <a:endParaRPr lang="en-US" sz="800" b="1"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9" name="Shape 44"/>
          <p:cNvSpPr/>
          <p:nvPr/>
        </p:nvSpPr>
        <p:spPr>
          <a:xfrm>
            <a:off x="431155" y="4134677"/>
            <a:ext cx="8281690" cy="228600"/>
          </a:xfrm>
          <a:prstGeom prst="rect">
            <a:avLst/>
          </a:prstGeom>
          <a:solidFill>
            <a:srgbClr val="000000">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endParaRPr>
          </a:p>
        </p:txBody>
      </p:sp>
      <p:sp>
        <p:nvSpPr>
          <p:cNvPr id="50" name="Text 45"/>
          <p:cNvSpPr/>
          <p:nvPr/>
        </p:nvSpPr>
        <p:spPr>
          <a:xfrm>
            <a:off x="500583" y="4253483"/>
            <a:ext cx="852860" cy="172641"/>
          </a:xfrm>
          <a:prstGeom prst="rect">
            <a:avLst/>
          </a:prstGeom>
          <a:noFill/>
        </p:spPr>
        <p:txBody>
          <a:bodyPr wrap="square" lIns="0" tIns="0" rIns="0" bIns="0" rtlCol="0" anchor="t"/>
          <a:lstStyle/>
          <a:p>
            <a:pPr marL="0" indent="0" algn="l">
              <a:lnSpc>
                <a:spcPts val="650"/>
              </a:lnSpc>
              <a:buNone/>
            </a:pPr>
            <a:r>
              <a:rPr lang="en-US" sz="800" b="1" dirty="0">
                <a:solidFill>
                  <a:srgbClr val="2B5FA6"/>
                </a:solidFill>
                <a:latin typeface="Microsoft JhengHei" panose="020B0604030504040204" pitchFamily="34" charset="-120"/>
                <a:ea typeface="Microsoft JhengHei" panose="020B0604030504040204" pitchFamily="34" charset="-120"/>
                <a:cs typeface="Microsoft JhengHei" panose="020B0604030504040204" pitchFamily="34" charset="-120"/>
              </a:rPr>
              <a:t>청년</a:t>
            </a:r>
            <a:r>
              <a:rPr lang="en-US" sz="8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20~39세</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1" name="Text 46"/>
          <p:cNvSpPr/>
          <p:nvPr/>
        </p:nvSpPr>
        <p:spPr>
          <a:xfrm>
            <a:off x="1496764" y="4253483"/>
            <a:ext cx="1678632" cy="86320"/>
          </a:xfrm>
          <a:prstGeom prst="rect">
            <a:avLst/>
          </a:prstGeom>
          <a:noFill/>
        </p:spPr>
        <p:txBody>
          <a:bodyPr wrap="none" lIns="0" tIns="0" rIns="0" bIns="0" rtlCol="0" anchor="t"/>
          <a:lstStyle/>
          <a:p>
            <a:pPr marL="0" indent="0" algn="l">
              <a:lnSpc>
                <a:spcPts val="65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은둔·관계 단절 → 사회진입 실패</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2" name="Text 47"/>
          <p:cNvSpPr/>
          <p:nvPr/>
        </p:nvSpPr>
        <p:spPr>
          <a:xfrm>
            <a:off x="3318718" y="4253483"/>
            <a:ext cx="2175495" cy="86320"/>
          </a:xfrm>
          <a:prstGeom prst="rect">
            <a:avLst/>
          </a:prstGeom>
          <a:noFill/>
        </p:spPr>
        <p:txBody>
          <a:bodyPr wrap="none" lIns="0" tIns="0" rIns="0" bIns="0" rtlCol="0" anchor="t"/>
          <a:lstStyle/>
          <a:p>
            <a:pPr marL="0" indent="0" algn="l">
              <a:lnSpc>
                <a:spcPts val="65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외출 감소 → 정서 불안 → 생활 리듬 붕괴</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3" name="Text 48"/>
          <p:cNvSpPr/>
          <p:nvPr/>
        </p:nvSpPr>
        <p:spPr>
          <a:xfrm>
            <a:off x="5637535" y="4253483"/>
            <a:ext cx="1844278" cy="86320"/>
          </a:xfrm>
          <a:prstGeom prst="rect">
            <a:avLst/>
          </a:prstGeom>
          <a:noFill/>
        </p:spPr>
        <p:txBody>
          <a:bodyPr wrap="none" lIns="0" tIns="0" rIns="0" bIns="0" rtlCol="0" anchor="t"/>
          <a:lstStyle/>
          <a:p>
            <a:pPr marL="0" indent="0" algn="l">
              <a:lnSpc>
                <a:spcPts val="65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사회적 고립 / 고독사 위험 진입</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4" name="Text 49"/>
          <p:cNvSpPr/>
          <p:nvPr/>
        </p:nvSpPr>
        <p:spPr>
          <a:xfrm>
            <a:off x="7625135" y="4253483"/>
            <a:ext cx="1018431" cy="86320"/>
          </a:xfrm>
          <a:prstGeom prst="rect">
            <a:avLst/>
          </a:prstGeom>
          <a:noFill/>
        </p:spPr>
        <p:txBody>
          <a:bodyPr wrap="none" lIns="0" tIns="0" rIns="0" bIns="0" rtlCol="0" anchor="t"/>
          <a:lstStyle/>
          <a:p>
            <a:pPr marL="0" indent="0" algn="l">
              <a:lnSpc>
                <a:spcPts val="650"/>
              </a:lnSpc>
              <a:buNone/>
            </a:pPr>
            <a:r>
              <a:rPr lang="en-US" sz="800" dirty="0">
                <a:solidFill>
                  <a:srgbClr val="2B5FA6"/>
                </a:solidFill>
                <a:latin typeface="Microsoft JhengHei" panose="020B0604030504040204" pitchFamily="34" charset="-120"/>
                <a:ea typeface="Microsoft JhengHei" panose="020B0604030504040204" pitchFamily="34" charset="-120"/>
                <a:cs typeface="Microsoft JhengHei" panose="020B0604030504040204" pitchFamily="34" charset="-120"/>
              </a:rPr>
              <a:t>관계 회복·사회진입</a:t>
            </a:r>
            <a:endParaRPr lang="en-US" sz="800" dirty="0">
              <a:solidFill>
                <a:srgbClr val="2B5FA6"/>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5" name="Shape 50"/>
          <p:cNvSpPr/>
          <p:nvPr/>
        </p:nvSpPr>
        <p:spPr>
          <a:xfrm>
            <a:off x="431155" y="4363277"/>
            <a:ext cx="8281690" cy="228600"/>
          </a:xfrm>
          <a:prstGeom prst="rect">
            <a:avLst/>
          </a:prstGeom>
          <a:solidFill>
            <a:srgbClr val="FFFFFF">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endParaRPr>
          </a:p>
        </p:txBody>
      </p:sp>
      <p:sp>
        <p:nvSpPr>
          <p:cNvPr id="56" name="Text 51"/>
          <p:cNvSpPr/>
          <p:nvPr/>
        </p:nvSpPr>
        <p:spPr>
          <a:xfrm>
            <a:off x="500583" y="4482083"/>
            <a:ext cx="852860" cy="172641"/>
          </a:xfrm>
          <a:prstGeom prst="rect">
            <a:avLst/>
          </a:prstGeom>
          <a:noFill/>
        </p:spPr>
        <p:txBody>
          <a:bodyPr wrap="square" lIns="0" tIns="0" rIns="0" bIns="0" rtlCol="0" anchor="t"/>
          <a:lstStyle/>
          <a:p>
            <a:pPr marL="0" indent="0" algn="l">
              <a:lnSpc>
                <a:spcPts val="650"/>
              </a:lnSpc>
              <a:buNone/>
            </a:pPr>
            <a:r>
              <a:rPr lang="en-US" sz="800" b="1" dirty="0">
                <a:solidFill>
                  <a:srgbClr val="D4621A"/>
                </a:solidFill>
                <a:latin typeface="Microsoft JhengHei" panose="020B0604030504040204" pitchFamily="34" charset="-120"/>
                <a:ea typeface="Microsoft JhengHei" panose="020B0604030504040204" pitchFamily="34" charset="-120"/>
                <a:cs typeface="Microsoft JhengHei" panose="020B0604030504040204" pitchFamily="34" charset="-120"/>
              </a:rPr>
              <a:t>중장년</a:t>
            </a:r>
            <a:r>
              <a:rPr lang="en-US" sz="8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40~64세</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7" name="Text 52"/>
          <p:cNvSpPr/>
          <p:nvPr/>
        </p:nvSpPr>
        <p:spPr>
          <a:xfrm>
            <a:off x="1496764" y="4482083"/>
            <a:ext cx="1678632" cy="86320"/>
          </a:xfrm>
          <a:prstGeom prst="rect">
            <a:avLst/>
          </a:prstGeom>
          <a:noFill/>
        </p:spPr>
        <p:txBody>
          <a:bodyPr wrap="none" lIns="0" tIns="0" rIns="0" bIns="0" rtlCol="0" anchor="t"/>
          <a:lstStyle/>
          <a:p>
            <a:pPr marL="0" indent="0" algn="l">
              <a:lnSpc>
                <a:spcPts val="65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실직·가족해체 → 관계망 이탈</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8" name="Text 53"/>
          <p:cNvSpPr/>
          <p:nvPr/>
        </p:nvSpPr>
        <p:spPr>
          <a:xfrm>
            <a:off x="3318718" y="4482083"/>
            <a:ext cx="2175495" cy="86320"/>
          </a:xfrm>
          <a:prstGeom prst="rect">
            <a:avLst/>
          </a:prstGeom>
          <a:noFill/>
        </p:spPr>
        <p:txBody>
          <a:bodyPr wrap="none" lIns="0" tIns="0" rIns="0" bIns="0" rtlCol="0" anchor="t"/>
          <a:lstStyle/>
          <a:p>
            <a:pPr marL="0" indent="0" algn="l">
              <a:lnSpc>
                <a:spcPts val="65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생계 불안 → 건강 악화 → 고립감 심화</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9" name="Text 54"/>
          <p:cNvSpPr/>
          <p:nvPr/>
        </p:nvSpPr>
        <p:spPr>
          <a:xfrm>
            <a:off x="5637535" y="4482083"/>
            <a:ext cx="1844278" cy="86320"/>
          </a:xfrm>
          <a:prstGeom prst="rect">
            <a:avLst/>
          </a:prstGeom>
          <a:noFill/>
        </p:spPr>
        <p:txBody>
          <a:bodyPr wrap="none" lIns="0" tIns="0" rIns="0" bIns="0" rtlCol="0" anchor="t"/>
          <a:lstStyle/>
          <a:p>
            <a:pPr marL="0" indent="0" algn="l">
              <a:lnSpc>
                <a:spcPts val="65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고독사 위험 / 생활 기반 붕괴</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0" name="Text 55"/>
          <p:cNvSpPr/>
          <p:nvPr/>
        </p:nvSpPr>
        <p:spPr>
          <a:xfrm>
            <a:off x="7625135" y="4482083"/>
            <a:ext cx="1018431" cy="86320"/>
          </a:xfrm>
          <a:prstGeom prst="rect">
            <a:avLst/>
          </a:prstGeom>
          <a:noFill/>
        </p:spPr>
        <p:txBody>
          <a:bodyPr wrap="none" lIns="0" tIns="0" rIns="0" bIns="0" rtlCol="0" anchor="t"/>
          <a:lstStyle/>
          <a:p>
            <a:pPr marL="0" indent="0" algn="l">
              <a:lnSpc>
                <a:spcPts val="650"/>
              </a:lnSpc>
              <a:buNone/>
            </a:pPr>
            <a:r>
              <a:rPr lang="en-US" sz="800" dirty="0">
                <a:solidFill>
                  <a:srgbClr val="D4621A"/>
                </a:solidFill>
                <a:latin typeface="Microsoft JhengHei" panose="020B0604030504040204" pitchFamily="34" charset="-120"/>
                <a:ea typeface="Microsoft JhengHei" panose="020B0604030504040204" pitchFamily="34" charset="-120"/>
                <a:cs typeface="Microsoft JhengHei" panose="020B0604030504040204" pitchFamily="34" charset="-120"/>
              </a:rPr>
              <a:t>선제발굴·안부확인</a:t>
            </a:r>
            <a:endParaRPr lang="en-US" sz="800" dirty="0">
              <a:solidFill>
                <a:srgbClr val="D4621A"/>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1" name="Shape 56"/>
          <p:cNvSpPr/>
          <p:nvPr/>
        </p:nvSpPr>
        <p:spPr>
          <a:xfrm>
            <a:off x="431155" y="4591877"/>
            <a:ext cx="8281690" cy="228600"/>
          </a:xfrm>
          <a:prstGeom prst="rect">
            <a:avLst/>
          </a:prstGeom>
          <a:solidFill>
            <a:srgbClr val="000000">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endParaRPr>
          </a:p>
        </p:txBody>
      </p:sp>
      <p:sp>
        <p:nvSpPr>
          <p:cNvPr id="62" name="Text 57"/>
          <p:cNvSpPr/>
          <p:nvPr/>
        </p:nvSpPr>
        <p:spPr>
          <a:xfrm>
            <a:off x="500583" y="4710683"/>
            <a:ext cx="852860" cy="172641"/>
          </a:xfrm>
          <a:prstGeom prst="rect">
            <a:avLst/>
          </a:prstGeom>
          <a:noFill/>
        </p:spPr>
        <p:txBody>
          <a:bodyPr wrap="square" lIns="0" tIns="0" rIns="0" bIns="0" rtlCol="0" anchor="t"/>
          <a:lstStyle/>
          <a:p>
            <a:pPr marL="0" indent="0" algn="l">
              <a:lnSpc>
                <a:spcPts val="650"/>
              </a:lnSpc>
              <a:buNone/>
            </a:pPr>
            <a:r>
              <a:rPr lang="en-US" sz="800" b="1" dirty="0">
                <a:solidFill>
                  <a:srgbClr val="2E7D52"/>
                </a:solidFill>
                <a:latin typeface="Microsoft JhengHei" panose="020B0604030504040204" pitchFamily="34" charset="-120"/>
                <a:ea typeface="Microsoft JhengHei" panose="020B0604030504040204" pitchFamily="34" charset="-120"/>
                <a:cs typeface="Microsoft JhengHei" panose="020B0604030504040204" pitchFamily="34" charset="-120"/>
              </a:rPr>
              <a:t>노년</a:t>
            </a:r>
            <a:r>
              <a:rPr lang="en-US" sz="8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65세+</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3" name="Text 58"/>
          <p:cNvSpPr/>
          <p:nvPr/>
        </p:nvSpPr>
        <p:spPr>
          <a:xfrm>
            <a:off x="1496764" y="4710683"/>
            <a:ext cx="1678632" cy="86320"/>
          </a:xfrm>
          <a:prstGeom prst="rect">
            <a:avLst/>
          </a:prstGeom>
          <a:noFill/>
        </p:spPr>
        <p:txBody>
          <a:bodyPr wrap="none" lIns="0" tIns="0" rIns="0" bIns="0" rtlCol="0" anchor="t"/>
          <a:lstStyle/>
          <a:p>
            <a:pPr marL="0" indent="0" algn="l">
              <a:lnSpc>
                <a:spcPts val="65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독거·이동 제약 → 돌봄 공백</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4" name="Text 59"/>
          <p:cNvSpPr/>
          <p:nvPr/>
        </p:nvSpPr>
        <p:spPr>
          <a:xfrm>
            <a:off x="3318718" y="4710683"/>
            <a:ext cx="2175495" cy="86320"/>
          </a:xfrm>
          <a:prstGeom prst="rect">
            <a:avLst/>
          </a:prstGeom>
          <a:noFill/>
        </p:spPr>
        <p:txBody>
          <a:bodyPr wrap="none" lIns="0" tIns="0" rIns="0" bIns="0" rtlCol="0" anchor="t"/>
          <a:lstStyle/>
          <a:p>
            <a:pPr marL="0" indent="0" algn="l">
              <a:lnSpc>
                <a:spcPts val="65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건강 취약 → 의료 접근성 저하 → 일상 지원 부족</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5" name="Text 60"/>
          <p:cNvSpPr/>
          <p:nvPr/>
        </p:nvSpPr>
        <p:spPr>
          <a:xfrm>
            <a:off x="5637535" y="4710683"/>
            <a:ext cx="1844278" cy="86320"/>
          </a:xfrm>
          <a:prstGeom prst="rect">
            <a:avLst/>
          </a:prstGeom>
          <a:noFill/>
        </p:spPr>
        <p:txBody>
          <a:bodyPr wrap="none" lIns="0" tIns="0" rIns="0" bIns="0" rtlCol="0" anchor="t"/>
          <a:lstStyle/>
          <a:p>
            <a:pPr marL="0" indent="0" algn="l">
              <a:lnSpc>
                <a:spcPts val="65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고독사·고립 / 생활위험 심화</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6" name="Text 61"/>
          <p:cNvSpPr/>
          <p:nvPr/>
        </p:nvSpPr>
        <p:spPr>
          <a:xfrm>
            <a:off x="7625135" y="4710683"/>
            <a:ext cx="1018431" cy="86320"/>
          </a:xfrm>
          <a:prstGeom prst="rect">
            <a:avLst/>
          </a:prstGeom>
          <a:noFill/>
        </p:spPr>
        <p:txBody>
          <a:bodyPr wrap="none" lIns="0" tIns="0" rIns="0" bIns="0" rtlCol="0" anchor="t"/>
          <a:lstStyle/>
          <a:p>
            <a:pPr marL="0" indent="0" algn="l">
              <a:lnSpc>
                <a:spcPts val="650"/>
              </a:lnSpc>
              <a:buNone/>
            </a:pPr>
            <a:r>
              <a:rPr lang="en-US" sz="800" dirty="0">
                <a:solidFill>
                  <a:srgbClr val="2E7D52"/>
                </a:solidFill>
                <a:latin typeface="Microsoft JhengHei" panose="020B0604030504040204" pitchFamily="34" charset="-120"/>
                <a:ea typeface="Microsoft JhengHei" panose="020B0604030504040204" pitchFamily="34" charset="-120"/>
                <a:cs typeface="Microsoft JhengHei" panose="020B0604030504040204" pitchFamily="34" charset="-120"/>
              </a:rPr>
              <a:t>통합돌봄·의료동행</a:t>
            </a:r>
            <a:endParaRPr lang="en-US" sz="800" dirty="0">
              <a:solidFill>
                <a:srgbClr val="2E7D52"/>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7"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68"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01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연구 배경</a:t>
            </a:r>
            <a:endParaRPr lang="en-US" sz="650" dirty="0">
              <a:latin typeface="Microsoft JhengHei" panose="020B0604030504040204" pitchFamily="34" charset="-120"/>
              <a:ea typeface="Microsoft JhengHei" panose="020B0604030504040204" pitchFamily="34" charset="-120"/>
            </a:endParaRPr>
          </a:p>
        </p:txBody>
      </p:sp>
      <p:sp>
        <p:nvSpPr>
          <p:cNvPr id="69"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생애 주기별 진단 필요성</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70"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74" name="Shape 42"/>
          <p:cNvSpPr/>
          <p:nvPr/>
        </p:nvSpPr>
        <p:spPr>
          <a:xfrm>
            <a:off x="426393" y="3915802"/>
            <a:ext cx="998711" cy="223691"/>
          </a:xfrm>
          <a:prstGeom prst="rect">
            <a:avLst/>
          </a:prstGeom>
          <a:solidFill>
            <a:srgbClr val="2B5FA6"/>
          </a:solidFill>
        </p:spPr>
        <p:txBody>
          <a:bodyPr/>
          <a:lstStyle/>
          <a:p>
            <a:endParaRPr lang="ko-KR" altLang="en-US" sz="800">
              <a:latin typeface="Microsoft JhengHei" panose="020B0604030504040204" pitchFamily="34" charset="-120"/>
              <a:ea typeface="Microsoft JhengHei" panose="020B0604030504040204" pitchFamily="34" charset="-120"/>
            </a:endParaRPr>
          </a:p>
        </p:txBody>
      </p:sp>
      <p:sp>
        <p:nvSpPr>
          <p:cNvPr id="76" name="Text 43"/>
          <p:cNvSpPr/>
          <p:nvPr/>
        </p:nvSpPr>
        <p:spPr>
          <a:xfrm>
            <a:off x="490574" y="3960707"/>
            <a:ext cx="1018431" cy="206123"/>
          </a:xfrm>
          <a:prstGeom prst="rect">
            <a:avLst/>
          </a:prstGeom>
          <a:noFill/>
        </p:spPr>
        <p:txBody>
          <a:bodyPr wrap="none" lIns="0" tIns="0" rIns="0" bIns="0" rtlCol="0" anchor="t"/>
          <a:lstStyle/>
          <a:p>
            <a:pPr marL="0" indent="0" algn="l">
              <a:lnSpc>
                <a:spcPts val="650"/>
              </a:lnSpc>
              <a:buNone/>
            </a:pPr>
            <a:r>
              <a:rPr lang="ko-KR" altLang="en-US" sz="800" b="1" dirty="0">
                <a:solidFill>
                  <a:srgbClr val="FFFFFF"/>
                </a:solidFill>
                <a:latin typeface="Microsoft JhengHei" panose="020B0604030504040204" pitchFamily="34" charset="-120"/>
                <a:ea typeface="Microsoft JhengHei" panose="020B0604030504040204" pitchFamily="34" charset="-120"/>
                <a:cs typeface="Roboto" pitchFamily="34" charset="-120"/>
              </a:rPr>
              <a:t>세대</a:t>
            </a:r>
            <a:endParaRPr lang="ko-KR" altLang="en-US" sz="800" b="1" dirty="0">
              <a:solidFill>
                <a:srgbClr val="FFFFFF"/>
              </a:solidFill>
              <a:latin typeface="Microsoft JhengHei" panose="020B0604030504040204" pitchFamily="34" charset="-120"/>
              <a:ea typeface="Microsoft JhengHei" panose="020B0604030504040204" pitchFamily="34" charset="-120"/>
              <a:cs typeface="Roboto" pitchFamily="34" charset="-120"/>
            </a:endParaRPr>
          </a:p>
        </p:txBody>
      </p:sp>
      <p:sp>
        <p:nvSpPr>
          <p:cNvPr id="2" name="Shape 23"/>
          <p:cNvSpPr/>
          <p:nvPr/>
        </p:nvSpPr>
        <p:spPr>
          <a:xfrm>
            <a:off x="3270275" y="855160"/>
            <a:ext cx="580205" cy="102734"/>
          </a:xfrm>
          <a:prstGeom prst="roundRect">
            <a:avLst>
              <a:gd name="adj" fmla="val 19385"/>
            </a:avLst>
          </a:prstGeom>
          <a:noFill/>
          <a:ln w="4763">
            <a:solidFill>
              <a:srgbClr val="1B1B27"/>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4" name="Shape 23"/>
          <p:cNvSpPr/>
          <p:nvPr/>
        </p:nvSpPr>
        <p:spPr>
          <a:xfrm>
            <a:off x="440979" y="852629"/>
            <a:ext cx="580205" cy="102734"/>
          </a:xfrm>
          <a:prstGeom prst="roundRect">
            <a:avLst>
              <a:gd name="adj" fmla="val 19385"/>
            </a:avLst>
          </a:prstGeom>
          <a:noFill/>
          <a:ln w="4763">
            <a:solidFill>
              <a:srgbClr val="1B1B27"/>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5" name="Shape 23"/>
          <p:cNvSpPr/>
          <p:nvPr/>
        </p:nvSpPr>
        <p:spPr>
          <a:xfrm>
            <a:off x="6094809" y="866860"/>
            <a:ext cx="580205" cy="102734"/>
          </a:xfrm>
          <a:prstGeom prst="roundRect">
            <a:avLst>
              <a:gd name="adj" fmla="val 19385"/>
            </a:avLst>
          </a:prstGeom>
          <a:noFill/>
          <a:ln w="4763">
            <a:solidFill>
              <a:srgbClr val="1B1B27"/>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Shape 4"/>
          <p:cNvSpPr/>
          <p:nvPr/>
        </p:nvSpPr>
        <p:spPr>
          <a:xfrm>
            <a:off x="482872" y="1084900"/>
            <a:ext cx="1935063" cy="1054977"/>
          </a:xfrm>
          <a:prstGeom prst="roundRect">
            <a:avLst>
              <a:gd name="adj" fmla="val 6839"/>
            </a:avLst>
          </a:prstGeom>
          <a:solidFill>
            <a:srgbClr val="FFFFFF"/>
          </a:solidFill>
          <a:ln w="14288">
            <a:solidFill>
              <a:srgbClr val="C0C1D7"/>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7" name="Text 5"/>
          <p:cNvSpPr/>
          <p:nvPr/>
        </p:nvSpPr>
        <p:spPr>
          <a:xfrm>
            <a:off x="600893" y="1202920"/>
            <a:ext cx="1297335" cy="268240"/>
          </a:xfrm>
          <a:prstGeom prst="rect">
            <a:avLst/>
          </a:prstGeom>
          <a:noFill/>
        </p:spPr>
        <p:txBody>
          <a:bodyPr wrap="none" lIns="0" tIns="0" rIns="0" bIns="0" rtlCol="0" anchor="t"/>
          <a:lstStyle/>
          <a:p>
            <a:pPr marL="0" indent="0" algn="l">
              <a:lnSpc>
                <a:spcPts val="1250"/>
              </a:lnSpc>
              <a:buNone/>
            </a:pPr>
            <a:r>
              <a:rPr lang="en-US" sz="1000" b="1"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10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 외로움안녕120</a:t>
            </a:r>
            <a:endParaRPr lang="en-US" sz="10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 name="Text 6"/>
          <p:cNvSpPr/>
          <p:nvPr/>
        </p:nvSpPr>
        <p:spPr>
          <a:xfrm>
            <a:off x="600893" y="1451834"/>
            <a:ext cx="1699022" cy="252351"/>
          </a:xfrm>
          <a:prstGeom prst="rect">
            <a:avLst/>
          </a:prstGeom>
          <a:noFill/>
        </p:spPr>
        <p:txBody>
          <a:bodyPr wrap="none" lIns="0" tIns="0" rIns="0" bIns="0" rtlCol="0" anchor="t"/>
          <a:lstStyle/>
          <a:p>
            <a:pPr marL="0" indent="0" algn="l">
              <a:lnSpc>
                <a:spcPts val="1200"/>
              </a:lnSpc>
              <a:buNone/>
            </a:pPr>
            <a:r>
              <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외로움·고립 상담 전화 서비스</a:t>
            </a:r>
            <a:endPar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 name="Shape 7"/>
          <p:cNvSpPr/>
          <p:nvPr/>
        </p:nvSpPr>
        <p:spPr>
          <a:xfrm>
            <a:off x="2504777" y="1084900"/>
            <a:ext cx="1935138" cy="1054977"/>
          </a:xfrm>
          <a:prstGeom prst="roundRect">
            <a:avLst>
              <a:gd name="adj" fmla="val 6839"/>
            </a:avLst>
          </a:prstGeom>
          <a:solidFill>
            <a:srgbClr val="FFFFFF"/>
          </a:solidFill>
          <a:ln w="14288">
            <a:solidFill>
              <a:srgbClr val="C0C1D7"/>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0" name="Text 8"/>
          <p:cNvSpPr/>
          <p:nvPr/>
        </p:nvSpPr>
        <p:spPr>
          <a:xfrm>
            <a:off x="2622798" y="1202920"/>
            <a:ext cx="1297335" cy="268240"/>
          </a:xfrm>
          <a:prstGeom prst="rect">
            <a:avLst/>
          </a:prstGeom>
          <a:noFill/>
        </p:spPr>
        <p:txBody>
          <a:bodyPr wrap="none" lIns="0" tIns="0" rIns="0" bIns="0" rtlCol="0" anchor="t"/>
          <a:lstStyle/>
          <a:p>
            <a:pPr marL="0" indent="0" algn="l">
              <a:lnSpc>
                <a:spcPts val="1250"/>
              </a:lnSpc>
              <a:buNone/>
            </a:pPr>
            <a:r>
              <a:rPr lang="en-US" sz="1000" b="1"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10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 서울마음편의점</a:t>
            </a:r>
            <a:endParaRPr lang="en-US" sz="10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 name="Text 9"/>
          <p:cNvSpPr/>
          <p:nvPr/>
        </p:nvSpPr>
        <p:spPr>
          <a:xfrm>
            <a:off x="2622798" y="1451834"/>
            <a:ext cx="1699096" cy="252351"/>
          </a:xfrm>
          <a:prstGeom prst="rect">
            <a:avLst/>
          </a:prstGeom>
          <a:noFill/>
        </p:spPr>
        <p:txBody>
          <a:bodyPr wrap="none" lIns="0" tIns="0" rIns="0" bIns="0" rtlCol="0" anchor="t"/>
          <a:lstStyle/>
          <a:p>
            <a:pPr marL="0" indent="0" algn="l">
              <a:lnSpc>
                <a:spcPts val="1200"/>
              </a:lnSpc>
              <a:buNone/>
            </a:pPr>
            <a:r>
              <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심리지원 거점 공간 운영</a:t>
            </a:r>
            <a:endPar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 name="Shape 10"/>
          <p:cNvSpPr/>
          <p:nvPr/>
        </p:nvSpPr>
        <p:spPr>
          <a:xfrm>
            <a:off x="482872" y="1809172"/>
            <a:ext cx="1935063" cy="1054977"/>
          </a:xfrm>
          <a:prstGeom prst="roundRect">
            <a:avLst>
              <a:gd name="adj" fmla="val 6839"/>
            </a:avLst>
          </a:prstGeom>
          <a:solidFill>
            <a:srgbClr val="FFFFFF"/>
          </a:solidFill>
          <a:ln w="14288">
            <a:solidFill>
              <a:srgbClr val="C0C1D7"/>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3" name="Text 11"/>
          <p:cNvSpPr/>
          <p:nvPr/>
        </p:nvSpPr>
        <p:spPr>
          <a:xfrm>
            <a:off x="600893" y="1927192"/>
            <a:ext cx="1297335" cy="268240"/>
          </a:xfrm>
          <a:prstGeom prst="rect">
            <a:avLst/>
          </a:prstGeom>
          <a:noFill/>
        </p:spPr>
        <p:txBody>
          <a:bodyPr wrap="none" lIns="0" tIns="0" rIns="0" bIns="0" rtlCol="0" anchor="t"/>
          <a:lstStyle/>
          <a:p>
            <a:pPr marL="0" indent="0" algn="l">
              <a:lnSpc>
                <a:spcPts val="1250"/>
              </a:lnSpc>
              <a:buNone/>
            </a:pPr>
            <a:r>
              <a:rPr lang="en-US" sz="1000" b="1"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10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 건강동행서비스</a:t>
            </a:r>
            <a:endParaRPr lang="en-US" sz="10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4" name="Text 12"/>
          <p:cNvSpPr/>
          <p:nvPr/>
        </p:nvSpPr>
        <p:spPr>
          <a:xfrm>
            <a:off x="600893" y="2176106"/>
            <a:ext cx="1699022" cy="252351"/>
          </a:xfrm>
          <a:prstGeom prst="rect">
            <a:avLst/>
          </a:prstGeom>
          <a:noFill/>
        </p:spPr>
        <p:txBody>
          <a:bodyPr wrap="none" lIns="0" tIns="0" rIns="0" bIns="0" rtlCol="0" anchor="t"/>
          <a:lstStyle/>
          <a:p>
            <a:pPr marL="0" indent="0" algn="l">
              <a:lnSpc>
                <a:spcPts val="1200"/>
              </a:lnSpc>
              <a:buNone/>
            </a:pPr>
            <a:r>
              <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취약계층 의료 동행 지원</a:t>
            </a:r>
            <a:endPar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5" name="Shape 13"/>
          <p:cNvSpPr/>
          <p:nvPr/>
        </p:nvSpPr>
        <p:spPr>
          <a:xfrm>
            <a:off x="2504777" y="1809172"/>
            <a:ext cx="1935138" cy="1054977"/>
          </a:xfrm>
          <a:prstGeom prst="roundRect">
            <a:avLst>
              <a:gd name="adj" fmla="val 6839"/>
            </a:avLst>
          </a:prstGeom>
          <a:solidFill>
            <a:srgbClr val="FFFFFF"/>
          </a:solidFill>
          <a:ln w="14288">
            <a:solidFill>
              <a:srgbClr val="C0C1D7"/>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6" name="Text 14"/>
          <p:cNvSpPr/>
          <p:nvPr/>
        </p:nvSpPr>
        <p:spPr>
          <a:xfrm>
            <a:off x="2622798" y="1927192"/>
            <a:ext cx="1297335" cy="268240"/>
          </a:xfrm>
          <a:prstGeom prst="rect">
            <a:avLst/>
          </a:prstGeom>
          <a:noFill/>
        </p:spPr>
        <p:txBody>
          <a:bodyPr wrap="none" lIns="0" tIns="0" rIns="0" bIns="0" rtlCol="0" anchor="t"/>
          <a:lstStyle/>
          <a:p>
            <a:pPr marL="0" indent="0" algn="l">
              <a:lnSpc>
                <a:spcPts val="1250"/>
              </a:lnSpc>
              <a:buNone/>
            </a:pPr>
            <a:r>
              <a:rPr lang="en-US" sz="1000" b="1"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10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 스마트안부확인</a:t>
            </a:r>
            <a:endParaRPr lang="en-US" sz="10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7" name="Text 15"/>
          <p:cNvSpPr/>
          <p:nvPr/>
        </p:nvSpPr>
        <p:spPr>
          <a:xfrm>
            <a:off x="2622798" y="2176106"/>
            <a:ext cx="1699096" cy="252351"/>
          </a:xfrm>
          <a:prstGeom prst="rect">
            <a:avLst/>
          </a:prstGeom>
          <a:noFill/>
        </p:spPr>
        <p:txBody>
          <a:bodyPr wrap="none" lIns="0" tIns="0" rIns="0" bIns="0" rtlCol="0" anchor="t"/>
          <a:lstStyle/>
          <a:p>
            <a:pPr marL="0" indent="0" algn="l">
              <a:lnSpc>
                <a:spcPts val="1200"/>
              </a:lnSpc>
              <a:buNone/>
            </a:pPr>
            <a:r>
              <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IoT 기기로 독거노인 일상 모니터링</a:t>
            </a:r>
            <a:endPar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8" name="Shape 16"/>
          <p:cNvSpPr/>
          <p:nvPr/>
        </p:nvSpPr>
        <p:spPr>
          <a:xfrm>
            <a:off x="482872" y="2533444"/>
            <a:ext cx="1935063" cy="1054977"/>
          </a:xfrm>
          <a:prstGeom prst="roundRect">
            <a:avLst>
              <a:gd name="adj" fmla="val 6839"/>
            </a:avLst>
          </a:prstGeom>
          <a:solidFill>
            <a:srgbClr val="FFFFFF"/>
          </a:solidFill>
          <a:ln w="14288">
            <a:solidFill>
              <a:srgbClr val="C0C1D7"/>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9" name="Text 17"/>
          <p:cNvSpPr/>
          <p:nvPr/>
        </p:nvSpPr>
        <p:spPr>
          <a:xfrm>
            <a:off x="600893" y="2651464"/>
            <a:ext cx="1297335" cy="268240"/>
          </a:xfrm>
          <a:prstGeom prst="rect">
            <a:avLst/>
          </a:prstGeom>
          <a:noFill/>
        </p:spPr>
        <p:txBody>
          <a:bodyPr wrap="none" lIns="0" tIns="0" rIns="0" bIns="0" rtlCol="0" anchor="t"/>
          <a:lstStyle/>
          <a:p>
            <a:pPr marL="0" indent="0" algn="l">
              <a:lnSpc>
                <a:spcPts val="1250"/>
              </a:lnSpc>
              <a:buNone/>
            </a:pPr>
            <a:r>
              <a:rPr lang="en-US" sz="1000" b="1"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10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 서울청년기지개센터</a:t>
            </a:r>
            <a:endParaRPr lang="en-US" sz="10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0" name="Text 18"/>
          <p:cNvSpPr/>
          <p:nvPr/>
        </p:nvSpPr>
        <p:spPr>
          <a:xfrm>
            <a:off x="600893" y="2900378"/>
            <a:ext cx="1699022" cy="252351"/>
          </a:xfrm>
          <a:prstGeom prst="rect">
            <a:avLst/>
          </a:prstGeom>
          <a:noFill/>
        </p:spPr>
        <p:txBody>
          <a:bodyPr wrap="none" lIns="0" tIns="0" rIns="0" bIns="0" rtlCol="0" anchor="t"/>
          <a:lstStyle/>
          <a:p>
            <a:pPr marL="0" indent="0" algn="l">
              <a:lnSpc>
                <a:spcPts val="1200"/>
              </a:lnSpc>
              <a:buNone/>
            </a:pPr>
            <a:r>
              <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고립은둔 청년 사회복귀 지원</a:t>
            </a:r>
            <a:endPar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1" name="Shape 19"/>
          <p:cNvSpPr/>
          <p:nvPr/>
        </p:nvSpPr>
        <p:spPr>
          <a:xfrm>
            <a:off x="2504777" y="2533444"/>
            <a:ext cx="1935138" cy="1054977"/>
          </a:xfrm>
          <a:prstGeom prst="roundRect">
            <a:avLst>
              <a:gd name="adj" fmla="val 6839"/>
            </a:avLst>
          </a:prstGeom>
          <a:solidFill>
            <a:srgbClr val="FFFFFF"/>
          </a:solidFill>
          <a:ln w="14288">
            <a:solidFill>
              <a:srgbClr val="C0C1D7"/>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2" name="Text 20"/>
          <p:cNvSpPr/>
          <p:nvPr/>
        </p:nvSpPr>
        <p:spPr>
          <a:xfrm>
            <a:off x="2622798" y="2651464"/>
            <a:ext cx="1297335" cy="268240"/>
          </a:xfrm>
          <a:prstGeom prst="rect">
            <a:avLst/>
          </a:prstGeom>
          <a:noFill/>
        </p:spPr>
        <p:txBody>
          <a:bodyPr wrap="none" lIns="0" tIns="0" rIns="0" bIns="0" rtlCol="0" anchor="t"/>
          <a:lstStyle/>
          <a:p>
            <a:pPr marL="0" indent="0" algn="l">
              <a:lnSpc>
                <a:spcPts val="1250"/>
              </a:lnSpc>
              <a:buNone/>
            </a:pPr>
            <a:r>
              <a:rPr lang="en-US" sz="1000" b="1"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10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 기지개LAB</a:t>
            </a:r>
            <a:endParaRPr lang="en-US" sz="10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3" name="Text 21"/>
          <p:cNvSpPr/>
          <p:nvPr/>
        </p:nvSpPr>
        <p:spPr>
          <a:xfrm>
            <a:off x="2622798" y="2900378"/>
            <a:ext cx="1699096" cy="252351"/>
          </a:xfrm>
          <a:prstGeom prst="rect">
            <a:avLst/>
          </a:prstGeom>
          <a:noFill/>
        </p:spPr>
        <p:txBody>
          <a:bodyPr wrap="none" lIns="0" tIns="0" rIns="0" bIns="0" rtlCol="0" anchor="t"/>
          <a:lstStyle/>
          <a:p>
            <a:pPr marL="0" indent="0" algn="l">
              <a:lnSpc>
                <a:spcPts val="1200"/>
              </a:lnSpc>
              <a:buNone/>
            </a:pPr>
            <a:r>
              <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청년 고립 실험적 접근 프로그램</a:t>
            </a:r>
            <a:endPar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4" name="Shape 22"/>
          <p:cNvSpPr/>
          <p:nvPr/>
        </p:nvSpPr>
        <p:spPr>
          <a:xfrm>
            <a:off x="482872" y="3257716"/>
            <a:ext cx="1935063" cy="1054977"/>
          </a:xfrm>
          <a:prstGeom prst="roundRect">
            <a:avLst>
              <a:gd name="adj" fmla="val 6839"/>
            </a:avLst>
          </a:prstGeom>
          <a:solidFill>
            <a:srgbClr val="FFFFFF"/>
          </a:solidFill>
          <a:ln w="14288">
            <a:solidFill>
              <a:srgbClr val="C0C1D7"/>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5" name="Text 23"/>
          <p:cNvSpPr/>
          <p:nvPr/>
        </p:nvSpPr>
        <p:spPr>
          <a:xfrm>
            <a:off x="600893" y="3375736"/>
            <a:ext cx="1597075" cy="268240"/>
          </a:xfrm>
          <a:prstGeom prst="rect">
            <a:avLst/>
          </a:prstGeom>
          <a:noFill/>
        </p:spPr>
        <p:txBody>
          <a:bodyPr wrap="none" lIns="0" tIns="0" rIns="0" bIns="0" rtlCol="0" anchor="t"/>
          <a:lstStyle/>
          <a:p>
            <a:pPr marL="0" indent="0" algn="l">
              <a:lnSpc>
                <a:spcPts val="1250"/>
              </a:lnSpc>
              <a:buNone/>
            </a:pPr>
            <a:r>
              <a:rPr lang="en-US" sz="1000" b="1"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10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 고립은둔 청년 온 프로젝트</a:t>
            </a:r>
            <a:endParaRPr lang="en-US" sz="10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6" name="Text 24"/>
          <p:cNvSpPr/>
          <p:nvPr/>
        </p:nvSpPr>
        <p:spPr>
          <a:xfrm>
            <a:off x="600893" y="3624650"/>
            <a:ext cx="1699022" cy="252351"/>
          </a:xfrm>
          <a:prstGeom prst="rect">
            <a:avLst/>
          </a:prstGeom>
          <a:noFill/>
        </p:spPr>
        <p:txBody>
          <a:bodyPr wrap="none" lIns="0" tIns="0" rIns="0" bIns="0" rtlCol="0" anchor="t"/>
          <a:lstStyle/>
          <a:p>
            <a:pPr marL="0" indent="0" algn="l">
              <a:lnSpc>
                <a:spcPts val="1200"/>
              </a:lnSpc>
              <a:buNone/>
            </a:pPr>
            <a:r>
              <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청년 고립 발굴·연결 종합 프로젝트</a:t>
            </a:r>
            <a:endPar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7" name="Shape 25"/>
          <p:cNvSpPr/>
          <p:nvPr/>
        </p:nvSpPr>
        <p:spPr>
          <a:xfrm>
            <a:off x="2504777" y="3257716"/>
            <a:ext cx="1935138" cy="1054977"/>
          </a:xfrm>
          <a:prstGeom prst="roundRect">
            <a:avLst>
              <a:gd name="adj" fmla="val 6839"/>
            </a:avLst>
          </a:prstGeom>
          <a:solidFill>
            <a:srgbClr val="FFFFFF"/>
          </a:solidFill>
          <a:ln w="14288">
            <a:solidFill>
              <a:srgbClr val="C0C1D7"/>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8" name="Text 26"/>
          <p:cNvSpPr/>
          <p:nvPr/>
        </p:nvSpPr>
        <p:spPr>
          <a:xfrm>
            <a:off x="2622798" y="3375736"/>
            <a:ext cx="1477714" cy="268240"/>
          </a:xfrm>
          <a:prstGeom prst="rect">
            <a:avLst/>
          </a:prstGeom>
          <a:noFill/>
        </p:spPr>
        <p:txBody>
          <a:bodyPr wrap="none" lIns="0" tIns="0" rIns="0" bIns="0" rtlCol="0" anchor="t"/>
          <a:lstStyle/>
          <a:p>
            <a:pPr marL="0" indent="0" algn="l">
              <a:lnSpc>
                <a:spcPts val="1250"/>
              </a:lnSpc>
              <a:buNone/>
            </a:pPr>
            <a:r>
              <a:rPr lang="en-US" sz="1000" b="1"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10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 동 중심 원스톱 통합돌봄</a:t>
            </a:r>
            <a:endParaRPr lang="en-US" sz="10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9" name="Text 27"/>
          <p:cNvSpPr/>
          <p:nvPr/>
        </p:nvSpPr>
        <p:spPr>
          <a:xfrm>
            <a:off x="2622798" y="3624650"/>
            <a:ext cx="1699096" cy="252351"/>
          </a:xfrm>
          <a:prstGeom prst="rect">
            <a:avLst/>
          </a:prstGeom>
          <a:noFill/>
        </p:spPr>
        <p:txBody>
          <a:bodyPr wrap="none" lIns="0" tIns="0" rIns="0" bIns="0" rtlCol="0" anchor="t"/>
          <a:lstStyle/>
          <a:p>
            <a:pPr marL="0" indent="0" algn="l">
              <a:lnSpc>
                <a:spcPts val="1200"/>
              </a:lnSpc>
              <a:buNone/>
            </a:pPr>
            <a:r>
              <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주민센터 중심 통합 돌봄·돌봄SOS 연계</a:t>
            </a:r>
            <a:endParaRPr lang="en-US" sz="800"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0" name="Text 28"/>
          <p:cNvSpPr/>
          <p:nvPr/>
        </p:nvSpPr>
        <p:spPr>
          <a:xfrm>
            <a:off x="4697834" y="1074109"/>
            <a:ext cx="1297335" cy="162074"/>
          </a:xfrm>
          <a:prstGeom prst="rect">
            <a:avLst/>
          </a:prstGeom>
          <a:noFill/>
        </p:spPr>
        <p:txBody>
          <a:bodyPr wrap="none" lIns="0" tIns="0" rIns="0" bIns="0" rtlCol="0" anchor="t"/>
          <a:lstStyle/>
          <a:p>
            <a:pPr marL="0" indent="0" algn="l">
              <a:lnSpc>
                <a:spcPts val="1250"/>
              </a:lnSpc>
              <a:buNone/>
            </a:pPr>
            <a:r>
              <a:rPr lang="en-US" sz="1000" b="1"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남은 정책 질문</a:t>
            </a:r>
            <a:endParaRPr lang="en-US" sz="1000" b="1"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31"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36752" y="1388914"/>
            <a:ext cx="155674" cy="155674"/>
          </a:xfrm>
          <a:prstGeom prst="rect">
            <a:avLst/>
          </a:prstGeom>
        </p:spPr>
      </p:pic>
      <p:sp>
        <p:nvSpPr>
          <p:cNvPr id="32" name="Text 29"/>
          <p:cNvSpPr/>
          <p:nvPr/>
        </p:nvSpPr>
        <p:spPr>
          <a:xfrm>
            <a:off x="5035078" y="1383854"/>
            <a:ext cx="3619798" cy="152474"/>
          </a:xfrm>
          <a:prstGeom prst="rect">
            <a:avLst/>
          </a:prstGeom>
          <a:noFill/>
        </p:spPr>
        <p:txBody>
          <a:bodyPr wrap="none" lIns="0" tIns="0" rIns="0" bIns="0" rtlCol="0" anchor="t"/>
          <a:lstStyle/>
          <a:p>
            <a:pPr marL="0" indent="0" algn="l">
              <a:lnSpc>
                <a:spcPts val="1200"/>
              </a:lnSpc>
              <a:buNone/>
            </a:pPr>
            <a:r>
              <a:rPr lang="en-US" sz="8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어느 행정동에 어떤 정책을 먼저 안내할 것인가?</a:t>
            </a:r>
            <a:endParaRPr lang="en-US" sz="8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33"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36752" y="1879079"/>
            <a:ext cx="155674" cy="155674"/>
          </a:xfrm>
          <a:prstGeom prst="rect">
            <a:avLst/>
          </a:prstGeom>
        </p:spPr>
      </p:pic>
      <p:sp>
        <p:nvSpPr>
          <p:cNvPr id="34" name="Text 30"/>
          <p:cNvSpPr/>
          <p:nvPr/>
        </p:nvSpPr>
        <p:spPr>
          <a:xfrm>
            <a:off x="5035078" y="1874019"/>
            <a:ext cx="3619798" cy="152474"/>
          </a:xfrm>
          <a:prstGeom prst="rect">
            <a:avLst/>
          </a:prstGeom>
          <a:noFill/>
        </p:spPr>
        <p:txBody>
          <a:bodyPr wrap="none" lIns="0" tIns="0" rIns="0" bIns="0" rtlCol="0" anchor="t"/>
          <a:lstStyle/>
          <a:p>
            <a:pPr marL="0" indent="0" algn="l">
              <a:lnSpc>
                <a:spcPts val="1200"/>
              </a:lnSpc>
              <a:buNone/>
            </a:pPr>
            <a:r>
              <a:rPr lang="en-US" sz="8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어느 생애주기에 먼저 집중할 것인가?</a:t>
            </a:r>
            <a:endParaRPr lang="en-US" sz="8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35"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36752" y="2369245"/>
            <a:ext cx="155674" cy="155674"/>
          </a:xfrm>
          <a:prstGeom prst="rect">
            <a:avLst/>
          </a:prstGeom>
        </p:spPr>
      </p:pic>
      <p:sp>
        <p:nvSpPr>
          <p:cNvPr id="36" name="Text 31"/>
          <p:cNvSpPr/>
          <p:nvPr/>
        </p:nvSpPr>
        <p:spPr>
          <a:xfrm>
            <a:off x="5035078" y="2364184"/>
            <a:ext cx="3619798" cy="152474"/>
          </a:xfrm>
          <a:prstGeom prst="rect">
            <a:avLst/>
          </a:prstGeom>
          <a:noFill/>
        </p:spPr>
        <p:txBody>
          <a:bodyPr wrap="none" lIns="0" tIns="0" rIns="0" bIns="0" rtlCol="0" anchor="t"/>
          <a:lstStyle/>
          <a:p>
            <a:pPr marL="0" indent="0" algn="l">
              <a:lnSpc>
                <a:spcPts val="1200"/>
              </a:lnSpc>
              <a:buNone/>
            </a:pPr>
            <a:r>
              <a:rPr lang="en-US" sz="8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여러 정책을 어떻게 하나의 패키지로 연결할 것인가?</a:t>
            </a:r>
            <a:endParaRPr lang="en-US" sz="8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37" name="Image 3"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36752" y="2859410"/>
            <a:ext cx="155674" cy="155674"/>
          </a:xfrm>
          <a:prstGeom prst="rect">
            <a:avLst/>
          </a:prstGeom>
        </p:spPr>
      </p:pic>
      <p:sp>
        <p:nvSpPr>
          <p:cNvPr id="38" name="Text 32"/>
          <p:cNvSpPr/>
          <p:nvPr/>
        </p:nvSpPr>
        <p:spPr>
          <a:xfrm>
            <a:off x="5035078" y="2854350"/>
            <a:ext cx="3619798" cy="152474"/>
          </a:xfrm>
          <a:prstGeom prst="rect">
            <a:avLst/>
          </a:prstGeom>
          <a:noFill/>
        </p:spPr>
        <p:txBody>
          <a:bodyPr wrap="none" lIns="0" tIns="0" rIns="0" bIns="0" rtlCol="0" anchor="t"/>
          <a:lstStyle/>
          <a:p>
            <a:pPr marL="0" indent="0" algn="l">
              <a:lnSpc>
                <a:spcPts val="1200"/>
              </a:lnSpc>
              <a:buNone/>
            </a:pPr>
            <a:r>
              <a:rPr lang="en-US" sz="8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rPr>
              <a:t>현장 담당자는 어떤 기준으로 정책 우선순위를 정할 것인가?</a:t>
            </a:r>
            <a:endParaRPr lang="en-US" sz="800" b="1" dirty="0">
              <a:solidFill>
                <a:srgbClr val="27252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3" name="Text 28"/>
          <p:cNvSpPr/>
          <p:nvPr/>
        </p:nvSpPr>
        <p:spPr>
          <a:xfrm>
            <a:off x="639440" y="4697181"/>
            <a:ext cx="8002935" cy="142875"/>
          </a:xfrm>
          <a:prstGeom prst="rect">
            <a:avLst/>
          </a:prstGeom>
          <a:noFill/>
        </p:spPr>
        <p:txBody>
          <a:bodyPr wrap="none" lIns="0" tIns="0" rIns="0" bIns="0" rtlCol="0" anchor="t"/>
          <a:lstStyle/>
          <a:p>
            <a:pPr>
              <a:lnSpc>
                <a:spcPts val="1100"/>
              </a:lnSpc>
            </a:pP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정책의 효과는 존재 여부가 아니라</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필요한 사람에게 얼마나 쉽게 발견되고 연결되는가에 달려 있습니다</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a:t>
            </a:r>
            <a:endParaRPr lang="en-US" sz="7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4" name="Shape 29"/>
          <p:cNvSpPr/>
          <p:nvPr/>
        </p:nvSpPr>
        <p:spPr>
          <a:xfrm>
            <a:off x="381428" y="4607884"/>
            <a:ext cx="14288" cy="321469"/>
          </a:xfrm>
          <a:prstGeom prst="rect">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9" name="Text 4"/>
          <p:cNvSpPr/>
          <p:nvPr/>
        </p:nvSpPr>
        <p:spPr>
          <a:xfrm>
            <a:off x="476714" y="835577"/>
            <a:ext cx="1240408" cy="155004"/>
          </a:xfrm>
          <a:prstGeom prst="rect">
            <a:avLst/>
          </a:prstGeom>
          <a:noFill/>
        </p:spPr>
        <p:txBody>
          <a:bodyPr wrap="none" lIns="0" tIns="0" rIns="0" bIns="0" rtlCol="0" anchor="t"/>
          <a:lstStyle/>
          <a:p>
            <a:pPr marL="0" indent="0" algn="l">
              <a:lnSpc>
                <a:spcPts val="1200"/>
              </a:lnSpc>
              <a:buNone/>
            </a:pPr>
            <a:r>
              <a:rPr lang="en-US" sz="9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서울시 기존 정책 자산</a:t>
            </a:r>
            <a:endParaRPr lang="en-US" sz="9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0"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41"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01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연구 배경</a:t>
            </a:r>
            <a:endParaRPr lang="en-US" sz="650" dirty="0">
              <a:latin typeface="Microsoft JhengHei" panose="020B0604030504040204" pitchFamily="34" charset="-120"/>
              <a:ea typeface="Microsoft JhengHei" panose="020B0604030504040204" pitchFamily="34" charset="-120"/>
            </a:endParaRPr>
          </a:p>
        </p:txBody>
      </p:sp>
      <p:sp>
        <p:nvSpPr>
          <p:cNvPr id="42"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정책 환경 </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5"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 name="사각형: 둥근 모서리 1"/>
          <p:cNvSpPr/>
          <p:nvPr/>
        </p:nvSpPr>
        <p:spPr>
          <a:xfrm>
            <a:off x="4931390" y="3257716"/>
            <a:ext cx="3507475" cy="29525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icrosoft JhengHei" panose="020B0604030504040204" pitchFamily="34" charset="-120"/>
              <a:ea typeface="Microsoft JhengHei" panose="020B0604030504040204" pitchFamily="34" charset="-120"/>
            </a:endParaRPr>
          </a:p>
        </p:txBody>
      </p:sp>
      <p:sp>
        <p:nvSpPr>
          <p:cNvPr id="3" name="사각형: 둥근 모서리 2"/>
          <p:cNvSpPr/>
          <p:nvPr/>
        </p:nvSpPr>
        <p:spPr>
          <a:xfrm>
            <a:off x="4931390" y="3624650"/>
            <a:ext cx="3507475" cy="29525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Microsoft JhengHei" panose="020B0604030504040204" pitchFamily="34" charset="-120"/>
              <a:ea typeface="Microsoft JhengHei" panose="020B0604030504040204" pitchFamily="34" charset="-120"/>
            </a:endParaRPr>
          </a:p>
        </p:txBody>
      </p:sp>
      <p:sp>
        <p:nvSpPr>
          <p:cNvPr id="4" name="사각형: 둥근 모서리 3"/>
          <p:cNvSpPr/>
          <p:nvPr/>
        </p:nvSpPr>
        <p:spPr>
          <a:xfrm>
            <a:off x="4931390" y="3997920"/>
            <a:ext cx="3507475" cy="295251"/>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Microsoft JhengHei" panose="020B0604030504040204" pitchFamily="34" charset="-120"/>
              <a:ea typeface="Microsoft JhengHei" panose="020B0604030504040204" pitchFamily="34" charset="-120"/>
            </a:endParaRPr>
          </a:p>
        </p:txBody>
      </p:sp>
      <p:sp>
        <p:nvSpPr>
          <p:cNvPr id="5" name="Text 32"/>
          <p:cNvSpPr/>
          <p:nvPr/>
        </p:nvSpPr>
        <p:spPr>
          <a:xfrm>
            <a:off x="4989585" y="3328308"/>
            <a:ext cx="3276409" cy="152474"/>
          </a:xfrm>
          <a:prstGeom prst="rect">
            <a:avLst/>
          </a:prstGeom>
          <a:noFill/>
        </p:spPr>
        <p:txBody>
          <a:bodyPr wrap="none" lIns="0" tIns="0" rIns="0" bIns="0" rtlCol="0" anchor="t"/>
          <a:lstStyle/>
          <a:p>
            <a:pPr>
              <a:lnSpc>
                <a:spcPts val="1200"/>
              </a:lnSpc>
            </a:pPr>
            <a:r>
              <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서울시는 이미 외로움</a:t>
            </a:r>
            <a:r>
              <a:rPr lang="en-US" altLang="ko-KR" sz="700" dirty="0">
                <a:latin typeface="Microsoft JhengHei" panose="020B0604030504040204" pitchFamily="34" charset="-120"/>
                <a:ea typeface="Microsoft JhengHei" panose="020B0604030504040204" pitchFamily="34" charset="-120"/>
                <a:cs typeface="Microsoft JhengHei" panose="020B0604030504040204" pitchFamily="34" charset="-120"/>
              </a:rPr>
              <a:t>·</a:t>
            </a:r>
            <a:r>
              <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고립</a:t>
            </a:r>
            <a:r>
              <a:rPr lang="en-US" altLang="ko-KR" sz="700" dirty="0">
                <a:latin typeface="Microsoft JhengHei" panose="020B0604030504040204" pitchFamily="34" charset="-120"/>
                <a:ea typeface="Microsoft JhengHei" panose="020B0604030504040204" pitchFamily="34" charset="-120"/>
                <a:cs typeface="Microsoft JhengHei" panose="020B0604030504040204" pitchFamily="34" charset="-120"/>
              </a:rPr>
              <a:t>·</a:t>
            </a:r>
            <a:r>
              <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고독사 대응정책을 확대하고 있다</a:t>
            </a:r>
            <a:r>
              <a:rPr lang="en-US" altLang="ko-KR" sz="700" dirty="0">
                <a:latin typeface="Microsoft JhengHei" panose="020B0604030504040204" pitchFamily="34" charset="-120"/>
                <a:ea typeface="Microsoft JhengHei" panose="020B0604030504040204" pitchFamily="34" charset="-120"/>
                <a:cs typeface="Microsoft JhengHei" panose="020B0604030504040204" pitchFamily="34" charset="-120"/>
              </a:rPr>
              <a:t>.</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6" name="Text 32"/>
          <p:cNvSpPr/>
          <p:nvPr/>
        </p:nvSpPr>
        <p:spPr>
          <a:xfrm>
            <a:off x="4989584" y="3707051"/>
            <a:ext cx="3276409" cy="152474"/>
          </a:xfrm>
          <a:prstGeom prst="rect">
            <a:avLst/>
          </a:prstGeom>
          <a:solidFill>
            <a:schemeClr val="accent1">
              <a:lumMod val="40000"/>
              <a:lumOff val="60000"/>
            </a:schemeClr>
          </a:solidFill>
        </p:spPr>
        <p:txBody>
          <a:bodyPr wrap="none" lIns="0" tIns="0" rIns="0" bIns="0" rtlCol="0" anchor="t"/>
          <a:lstStyle/>
          <a:p>
            <a:pPr>
              <a:lnSpc>
                <a:spcPts val="1200"/>
              </a:lnSpc>
            </a:pPr>
            <a:r>
              <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그러나 정책의 존재와 지역별 위험유형에 맞는 우선 연결은 </a:t>
            </a:r>
            <a:r>
              <a:rPr lang="ko-KR" altLang="en-US" sz="700" b="1" dirty="0">
                <a:latin typeface="Microsoft JhengHei" panose="020B0604030504040204" pitchFamily="34" charset="-120"/>
                <a:ea typeface="Microsoft JhengHei" panose="020B0604030504040204" pitchFamily="34" charset="-120"/>
                <a:cs typeface="Microsoft JhengHei" panose="020B0604030504040204" pitchFamily="34" charset="-120"/>
              </a:rPr>
              <a:t>다른 문제다</a:t>
            </a:r>
            <a:r>
              <a:rPr lang="en-US" altLang="ko-KR" sz="700" b="1" dirty="0">
                <a:latin typeface="Microsoft JhengHei" panose="020B0604030504040204" pitchFamily="34" charset="-120"/>
                <a:ea typeface="Microsoft JhengHei" panose="020B0604030504040204" pitchFamily="34" charset="-120"/>
                <a:cs typeface="Microsoft JhengHei" panose="020B0604030504040204" pitchFamily="34" charset="-120"/>
              </a:rPr>
              <a:t>.</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7" name="Text 32"/>
          <p:cNvSpPr/>
          <p:nvPr/>
        </p:nvSpPr>
        <p:spPr>
          <a:xfrm>
            <a:off x="4989583" y="4066564"/>
            <a:ext cx="3276409" cy="152474"/>
          </a:xfrm>
          <a:prstGeom prst="rect">
            <a:avLst/>
          </a:prstGeom>
          <a:noFill/>
        </p:spPr>
        <p:txBody>
          <a:bodyPr wrap="none" lIns="0" tIns="0" rIns="0" bIns="0" rtlCol="0" anchor="t"/>
          <a:lstStyle/>
          <a:p>
            <a:pPr>
              <a:lnSpc>
                <a:spcPts val="1200"/>
              </a:lnSpc>
            </a:pPr>
            <a:r>
              <a:rPr lang="ko-KR" altLang="en-US" sz="700" dirty="0">
                <a:solidFill>
                  <a:schemeClr val="bg1"/>
                </a:solidFill>
                <a:latin typeface="Microsoft JhengHei" panose="020B0604030504040204" pitchFamily="34" charset="-120"/>
                <a:ea typeface="Microsoft JhengHei" panose="020B0604030504040204" pitchFamily="34" charset="-120"/>
                <a:cs typeface="Microsoft JhengHei" panose="020B0604030504040204" pitchFamily="34" charset="-120"/>
              </a:rPr>
              <a:t>본 연구는 운영 중인 정책이 더 필요한 곳에 </a:t>
            </a:r>
            <a:r>
              <a:rPr lang="ko-KR" altLang="en-US" sz="700" b="1" dirty="0">
                <a:solidFill>
                  <a:schemeClr val="bg1"/>
                </a:solidFill>
                <a:latin typeface="Microsoft JhengHei" panose="020B0604030504040204" pitchFamily="34" charset="-120"/>
                <a:ea typeface="Microsoft JhengHei" panose="020B0604030504040204" pitchFamily="34" charset="-120"/>
                <a:cs typeface="Microsoft JhengHei" panose="020B0604030504040204" pitchFamily="34" charset="-120"/>
              </a:rPr>
              <a:t>먼저 닿도록</a:t>
            </a:r>
            <a:r>
              <a:rPr lang="ko-KR" altLang="en-US" sz="700" dirty="0">
                <a:solidFill>
                  <a:schemeClr val="bg1"/>
                </a:solidFill>
                <a:latin typeface="Microsoft JhengHei" panose="020B0604030504040204" pitchFamily="34" charset="-120"/>
                <a:ea typeface="Microsoft JhengHei" panose="020B0604030504040204" pitchFamily="34" charset="-120"/>
                <a:cs typeface="Microsoft JhengHei" panose="020B0604030504040204" pitchFamily="34" charset="-120"/>
              </a:rPr>
              <a:t> 돕는 우선순위 기준을 제안한다</a:t>
            </a:r>
            <a:r>
              <a:rPr lang="en-US" altLang="ko-KR" sz="700" dirty="0">
                <a:solidFill>
                  <a:schemeClr val="bg1"/>
                </a:solidFill>
                <a:latin typeface="Microsoft JhengHei" panose="020B0604030504040204" pitchFamily="34" charset="-120"/>
                <a:ea typeface="Microsoft JhengHei" panose="020B0604030504040204" pitchFamily="34" charset="-120"/>
                <a:cs typeface="Microsoft JhengHei" panose="020B0604030504040204" pitchFamily="34" charset="-120"/>
              </a:rPr>
              <a:t>.</a:t>
            </a:r>
            <a:endParaRPr lang="en-US" sz="700" dirty="0">
              <a:solidFill>
                <a:schemeClr val="bg1"/>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496119" y="1049669"/>
            <a:ext cx="2670721" cy="782687"/>
          </a:xfrm>
          <a:prstGeom prst="roundRect">
            <a:avLst>
              <a:gd name="adj" fmla="val 5841"/>
            </a:avLst>
          </a:prstGeom>
          <a:solidFill>
            <a:srgbClr val="FFFFFF">
              <a:alpha val="95000"/>
            </a:srgbClr>
          </a:solidFill>
          <a:ln w="9525">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7" name="Shape 5"/>
          <p:cNvSpPr/>
          <p:nvPr/>
        </p:nvSpPr>
        <p:spPr>
          <a:xfrm>
            <a:off x="496119" y="1040144"/>
            <a:ext cx="2670721" cy="38100"/>
          </a:xfrm>
          <a:prstGeom prst="roundRect">
            <a:avLst>
              <a:gd name="adj" fmla="val 102558"/>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8" name="Shape 6"/>
          <p:cNvSpPr/>
          <p:nvPr/>
        </p:nvSpPr>
        <p:spPr>
          <a:xfrm>
            <a:off x="1691953" y="910143"/>
            <a:ext cx="279053" cy="279053"/>
          </a:xfrm>
          <a:prstGeom prst="roundRect">
            <a:avLst>
              <a:gd name="adj" fmla="val 204800"/>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9" name="Text 7"/>
          <p:cNvSpPr/>
          <p:nvPr/>
        </p:nvSpPr>
        <p:spPr>
          <a:xfrm>
            <a:off x="1775668" y="979869"/>
            <a:ext cx="111621" cy="139526"/>
          </a:xfrm>
          <a:prstGeom prst="rect">
            <a:avLst/>
          </a:prstGeom>
          <a:noFill/>
        </p:spPr>
        <p:txBody>
          <a:bodyPr wrap="none" lIns="0" tIns="0" rIns="0" bIns="0" rtlCol="0" anchor="ctr"/>
          <a:lstStyle/>
          <a:p>
            <a:pPr marL="0" indent="0" algn="ctr">
              <a:lnSpc>
                <a:spcPct val="100000"/>
              </a:lnSpc>
              <a:buNone/>
            </a:pPr>
            <a:r>
              <a:rPr lang="en-US" sz="85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rPr>
              <a:t>1</a:t>
            </a:r>
            <a:endParaRPr lang="en-US" sz="85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0" name="Text 8"/>
          <p:cNvSpPr/>
          <p:nvPr/>
        </p:nvSpPr>
        <p:spPr>
          <a:xfrm>
            <a:off x="598661" y="1282213"/>
            <a:ext cx="1162869" cy="145331"/>
          </a:xfrm>
          <a:prstGeom prst="rect">
            <a:avLst/>
          </a:prstGeom>
          <a:noFill/>
        </p:spPr>
        <p:txBody>
          <a:bodyPr wrap="none" lIns="0" tIns="0" rIns="0" bIns="0" rtlCol="0" anchor="t"/>
          <a:lstStyle/>
          <a:p>
            <a:pPr marL="0" indent="0" algn="l">
              <a:lnSpc>
                <a:spcPts val="1100"/>
              </a:lnSpc>
              <a:buNone/>
            </a:pP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어디가 위험한가?</a:t>
            </a:r>
            <a:endPar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 name="Text 9"/>
          <p:cNvSpPr/>
          <p:nvPr/>
        </p:nvSpPr>
        <p:spPr>
          <a:xfrm>
            <a:off x="598661" y="1469364"/>
            <a:ext cx="2465636"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 426개 행정동 중 사회적 고립 위험이 집중되는 지역은 어디인가? 행정동 단위로 공간적 취약도를 비교한다.</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 name="Shape 10"/>
          <p:cNvSpPr/>
          <p:nvPr/>
        </p:nvSpPr>
        <p:spPr>
          <a:xfrm>
            <a:off x="3236565" y="1049669"/>
            <a:ext cx="2670795" cy="782687"/>
          </a:xfrm>
          <a:prstGeom prst="roundRect">
            <a:avLst>
              <a:gd name="adj" fmla="val 5841"/>
            </a:avLst>
          </a:prstGeom>
          <a:solidFill>
            <a:srgbClr val="FFFFFF">
              <a:alpha val="95000"/>
            </a:srgbClr>
          </a:solidFill>
          <a:ln w="9525">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3" name="Shape 11"/>
          <p:cNvSpPr/>
          <p:nvPr/>
        </p:nvSpPr>
        <p:spPr>
          <a:xfrm>
            <a:off x="3236565" y="1040144"/>
            <a:ext cx="2670795" cy="38100"/>
          </a:xfrm>
          <a:prstGeom prst="roundRect">
            <a:avLst>
              <a:gd name="adj" fmla="val 102558"/>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4" name="Shape 12"/>
          <p:cNvSpPr/>
          <p:nvPr/>
        </p:nvSpPr>
        <p:spPr>
          <a:xfrm>
            <a:off x="4432399" y="910143"/>
            <a:ext cx="279053" cy="279053"/>
          </a:xfrm>
          <a:prstGeom prst="roundRect">
            <a:avLst>
              <a:gd name="adj" fmla="val 204800"/>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5" name="Text 13"/>
          <p:cNvSpPr/>
          <p:nvPr/>
        </p:nvSpPr>
        <p:spPr>
          <a:xfrm>
            <a:off x="4516115" y="979869"/>
            <a:ext cx="111621" cy="139526"/>
          </a:xfrm>
          <a:prstGeom prst="rect">
            <a:avLst/>
          </a:prstGeom>
          <a:noFill/>
        </p:spPr>
        <p:txBody>
          <a:bodyPr wrap="none" lIns="0" tIns="0" rIns="0" bIns="0" rtlCol="0" anchor="ctr"/>
          <a:lstStyle/>
          <a:p>
            <a:pPr marL="0" indent="0" algn="ctr">
              <a:lnSpc>
                <a:spcPct val="100000"/>
              </a:lnSpc>
              <a:buNone/>
            </a:pPr>
            <a:r>
              <a:rPr lang="en-US" sz="85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rPr>
              <a:t>2</a:t>
            </a:r>
            <a:endParaRPr lang="en-US" sz="85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6" name="Text 14"/>
          <p:cNvSpPr/>
          <p:nvPr/>
        </p:nvSpPr>
        <p:spPr>
          <a:xfrm>
            <a:off x="3339108" y="1282213"/>
            <a:ext cx="1162869" cy="145331"/>
          </a:xfrm>
          <a:prstGeom prst="rect">
            <a:avLst/>
          </a:prstGeom>
          <a:noFill/>
        </p:spPr>
        <p:txBody>
          <a:bodyPr wrap="none" lIns="0" tIns="0" rIns="0" bIns="0" rtlCol="0" anchor="t"/>
          <a:lstStyle/>
          <a:p>
            <a:pPr marL="0" indent="0" algn="l">
              <a:lnSpc>
                <a:spcPts val="1100"/>
              </a:lnSpc>
              <a:buNone/>
            </a:pP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누가 위험한가?</a:t>
            </a:r>
            <a:endPar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7" name="Text 15"/>
          <p:cNvSpPr/>
          <p:nvPr/>
        </p:nvSpPr>
        <p:spPr>
          <a:xfrm>
            <a:off x="3339108" y="1469364"/>
            <a:ext cx="2465710"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같은 행정동이라도 청년·중장년·노년 중 어느 생애주기의 위험이 더 높은가? 생애주기별로 분리 진단한다.</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8" name="Shape 16"/>
          <p:cNvSpPr/>
          <p:nvPr/>
        </p:nvSpPr>
        <p:spPr>
          <a:xfrm>
            <a:off x="5977086" y="1049669"/>
            <a:ext cx="2670721" cy="782687"/>
          </a:xfrm>
          <a:prstGeom prst="roundRect">
            <a:avLst>
              <a:gd name="adj" fmla="val 5841"/>
            </a:avLst>
          </a:prstGeom>
          <a:solidFill>
            <a:srgbClr val="FFFFFF">
              <a:alpha val="95000"/>
            </a:srgbClr>
          </a:solidFill>
          <a:ln w="9525">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9" name="Shape 17"/>
          <p:cNvSpPr/>
          <p:nvPr/>
        </p:nvSpPr>
        <p:spPr>
          <a:xfrm>
            <a:off x="5977086" y="1040144"/>
            <a:ext cx="2670721" cy="38100"/>
          </a:xfrm>
          <a:prstGeom prst="roundRect">
            <a:avLst>
              <a:gd name="adj" fmla="val 102558"/>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0" name="Shape 18"/>
          <p:cNvSpPr/>
          <p:nvPr/>
        </p:nvSpPr>
        <p:spPr>
          <a:xfrm>
            <a:off x="7172920" y="910143"/>
            <a:ext cx="279053" cy="279053"/>
          </a:xfrm>
          <a:prstGeom prst="roundRect">
            <a:avLst>
              <a:gd name="adj" fmla="val 204800"/>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1" name="Text 19"/>
          <p:cNvSpPr/>
          <p:nvPr/>
        </p:nvSpPr>
        <p:spPr>
          <a:xfrm>
            <a:off x="7256636" y="979869"/>
            <a:ext cx="111621" cy="139526"/>
          </a:xfrm>
          <a:prstGeom prst="rect">
            <a:avLst/>
          </a:prstGeom>
          <a:noFill/>
        </p:spPr>
        <p:txBody>
          <a:bodyPr wrap="none" lIns="0" tIns="0" rIns="0" bIns="0" rtlCol="0" anchor="ctr"/>
          <a:lstStyle/>
          <a:p>
            <a:pPr marL="0" indent="0" algn="ctr">
              <a:lnSpc>
                <a:spcPct val="100000"/>
              </a:lnSpc>
              <a:buNone/>
            </a:pPr>
            <a:r>
              <a:rPr lang="en-US" sz="85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rPr>
              <a:t>3</a:t>
            </a:r>
            <a:endParaRPr lang="en-US" sz="85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2" name="Text 20"/>
          <p:cNvSpPr/>
          <p:nvPr/>
        </p:nvSpPr>
        <p:spPr>
          <a:xfrm>
            <a:off x="6079629" y="1282213"/>
            <a:ext cx="1162869" cy="145331"/>
          </a:xfrm>
          <a:prstGeom prst="rect">
            <a:avLst/>
          </a:prstGeom>
          <a:noFill/>
        </p:spPr>
        <p:txBody>
          <a:bodyPr wrap="none" lIns="0" tIns="0" rIns="0" bIns="0" rtlCol="0" anchor="t"/>
          <a:lstStyle/>
          <a:p>
            <a:pPr marL="0" indent="0" algn="l">
              <a:lnSpc>
                <a:spcPts val="1100"/>
              </a:lnSpc>
              <a:buNone/>
            </a:pP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왜 위험한가?</a:t>
            </a:r>
            <a:endPar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3" name="Text 21"/>
          <p:cNvSpPr/>
          <p:nvPr/>
        </p:nvSpPr>
        <p:spPr>
          <a:xfrm>
            <a:off x="6079629" y="1469364"/>
            <a:ext cx="2465636"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그 위험은 인구 구조, 활동 단절, 인프라 결핍 중 어떤 요인에 기인하는가? 삼중진단으로 원인 구조를 파악한다.</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24" name="Image 0" descr="preencoded.png"/>
          <p:cNvPicPr>
            <a:picLocks noChangeAspect="1"/>
          </p:cNvPicPr>
          <p:nvPr/>
        </p:nvPicPr>
        <p:blipFill>
          <a:blip r:embed="rId1"/>
          <a:stretch>
            <a:fillRect/>
          </a:stretch>
        </p:blipFill>
        <p:spPr>
          <a:xfrm>
            <a:off x="1515070" y="1910789"/>
            <a:ext cx="6113785" cy="1928143"/>
          </a:xfrm>
          <a:prstGeom prst="rect">
            <a:avLst/>
          </a:prstGeom>
        </p:spPr>
      </p:pic>
      <p:sp>
        <p:nvSpPr>
          <p:cNvPr id="25" name="Text 22"/>
          <p:cNvSpPr/>
          <p:nvPr/>
        </p:nvSpPr>
        <p:spPr>
          <a:xfrm>
            <a:off x="1864908" y="2595193"/>
            <a:ext cx="1070803" cy="165332"/>
          </a:xfrm>
          <a:prstGeom prst="rect">
            <a:avLst/>
          </a:prstGeom>
          <a:noFill/>
        </p:spPr>
        <p:txBody>
          <a:bodyPr wrap="none" lIns="0" tIns="0" rIns="0" bIns="0" rtlCol="0" anchor="t"/>
          <a:lstStyle/>
          <a:p>
            <a:pPr marL="0" indent="0" algn="ctr">
              <a:lnSpc>
                <a:spcPts val="1300"/>
              </a:lnSpc>
              <a:buNone/>
            </a:pPr>
            <a:r>
              <a:rPr lang="en-US" sz="10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데이터 분석</a:t>
            </a:r>
            <a:endParaRPr lang="en-US" sz="10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6" name="Text 23"/>
          <p:cNvSpPr/>
          <p:nvPr/>
        </p:nvSpPr>
        <p:spPr>
          <a:xfrm>
            <a:off x="1864908" y="2807554"/>
            <a:ext cx="1070803" cy="347198"/>
          </a:xfrm>
          <a:prstGeom prst="rect">
            <a:avLst/>
          </a:prstGeom>
          <a:noFill/>
        </p:spPr>
        <p:txBody>
          <a:bodyPr wrap="square" lIns="0" tIns="0" rIns="0" bIns="0" rtlCol="0" anchor="t"/>
          <a:lstStyle/>
          <a:p>
            <a:pPr marL="0" indent="0" algn="ctr">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K-Means 군집분석을 위한 기초 자료를 분석합니다.</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7" name="Text 24"/>
          <p:cNvSpPr/>
          <p:nvPr/>
        </p:nvSpPr>
        <p:spPr>
          <a:xfrm>
            <a:off x="3328651" y="2595193"/>
            <a:ext cx="1070803" cy="165332"/>
          </a:xfrm>
          <a:prstGeom prst="rect">
            <a:avLst/>
          </a:prstGeom>
          <a:noFill/>
        </p:spPr>
        <p:txBody>
          <a:bodyPr wrap="none" lIns="0" tIns="0" rIns="0" bIns="0" rtlCol="0" anchor="t"/>
          <a:lstStyle/>
          <a:p>
            <a:pPr marL="0" indent="0" algn="ctr">
              <a:lnSpc>
                <a:spcPts val="1300"/>
              </a:lnSpc>
              <a:buNone/>
            </a:pPr>
            <a:r>
              <a:rPr lang="en-US" sz="10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복합위험지수 산출</a:t>
            </a:r>
            <a:endParaRPr lang="en-US" sz="10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8" name="Text 25"/>
          <p:cNvSpPr/>
          <p:nvPr/>
        </p:nvSpPr>
        <p:spPr>
          <a:xfrm>
            <a:off x="3328651" y="2807554"/>
            <a:ext cx="1070803" cy="347198"/>
          </a:xfrm>
          <a:prstGeom prst="rect">
            <a:avLst/>
          </a:prstGeom>
          <a:noFill/>
        </p:spPr>
        <p:txBody>
          <a:bodyPr wrap="square" lIns="0" tIns="0" rIns="0" bIns="0" rtlCol="0" anchor="t"/>
          <a:lstStyle/>
          <a:p>
            <a:pPr marL="0" indent="0" algn="ctr">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분석된 데이터를 기반으로 위험 지수를 계산합니다.</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9" name="Text 26"/>
          <p:cNvSpPr/>
          <p:nvPr/>
        </p:nvSpPr>
        <p:spPr>
          <a:xfrm>
            <a:off x="4751245" y="2595193"/>
            <a:ext cx="1070803" cy="165332"/>
          </a:xfrm>
          <a:prstGeom prst="rect">
            <a:avLst/>
          </a:prstGeom>
          <a:noFill/>
        </p:spPr>
        <p:txBody>
          <a:bodyPr wrap="none" lIns="0" tIns="0" rIns="0" bIns="0" rtlCol="0" anchor="t"/>
          <a:lstStyle/>
          <a:p>
            <a:pPr marL="0" indent="0" algn="ctr">
              <a:lnSpc>
                <a:spcPts val="1300"/>
              </a:lnSpc>
              <a:buNone/>
            </a:pPr>
            <a:r>
              <a:rPr lang="en-US" sz="10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최적 정책 연결</a:t>
            </a:r>
            <a:endParaRPr lang="en-US" sz="10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0" name="Text 27"/>
          <p:cNvSpPr/>
          <p:nvPr/>
        </p:nvSpPr>
        <p:spPr>
          <a:xfrm>
            <a:off x="4751245" y="2807554"/>
            <a:ext cx="1070803" cy="347198"/>
          </a:xfrm>
          <a:prstGeom prst="rect">
            <a:avLst/>
          </a:prstGeom>
          <a:noFill/>
        </p:spPr>
        <p:txBody>
          <a:bodyPr wrap="square" lIns="0" tIns="0" rIns="0" bIns="0" rtlCol="0" anchor="t"/>
          <a:lstStyle/>
          <a:p>
            <a:pPr marL="0" indent="0" algn="ctr">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산출된 지수에 따라 가장 효과적인 정책을 연결합니다.</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1" name="Text 28"/>
          <p:cNvSpPr/>
          <p:nvPr/>
        </p:nvSpPr>
        <p:spPr>
          <a:xfrm>
            <a:off x="6197353" y="2653060"/>
            <a:ext cx="1070803" cy="165332"/>
          </a:xfrm>
          <a:prstGeom prst="rect">
            <a:avLst/>
          </a:prstGeom>
          <a:noFill/>
        </p:spPr>
        <p:txBody>
          <a:bodyPr wrap="none" lIns="0" tIns="0" rIns="0" bIns="0" rtlCol="0" anchor="t"/>
          <a:lstStyle/>
          <a:p>
            <a:pPr marL="0" indent="0" algn="ctr">
              <a:lnSpc>
                <a:spcPts val="1300"/>
              </a:lnSpc>
              <a:buNone/>
            </a:pPr>
            <a:r>
              <a:rPr lang="en-US" sz="10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데이터 기반 정책</a:t>
            </a:r>
            <a:endParaRPr lang="en-US" sz="10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2" name="Text 29"/>
          <p:cNvSpPr/>
          <p:nvPr/>
        </p:nvSpPr>
        <p:spPr>
          <a:xfrm>
            <a:off x="6197353" y="2865420"/>
            <a:ext cx="1070803" cy="231466"/>
          </a:xfrm>
          <a:prstGeom prst="rect">
            <a:avLst/>
          </a:prstGeom>
          <a:noFill/>
        </p:spPr>
        <p:txBody>
          <a:bodyPr wrap="square" lIns="0" tIns="0" rIns="0" bIns="0" rtlCol="0" anchor="t"/>
          <a:lstStyle/>
          <a:p>
            <a:pPr marL="0" indent="0" algn="ctr">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최종적으로 데이터에 근거한 정책을 수립합니다.</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6" name="Text 32"/>
          <p:cNvSpPr/>
          <p:nvPr/>
        </p:nvSpPr>
        <p:spPr>
          <a:xfrm>
            <a:off x="637877" y="4317042"/>
            <a:ext cx="7756475" cy="130225"/>
          </a:xfrm>
          <a:prstGeom prst="rect">
            <a:avLst/>
          </a:prstGeom>
          <a:noFill/>
        </p:spPr>
        <p:txBody>
          <a:bodyPr wrap="none" lIns="0" tIns="0" rIns="0" bIns="0" rtlCol="0" anchor="t"/>
          <a:lstStyle/>
          <a:p>
            <a:pPr marL="0" indent="0" algn="l">
              <a:lnSpc>
                <a:spcPts val="1000"/>
              </a:lnSpc>
              <a:buNone/>
            </a:pPr>
            <a:r>
              <a:rPr lang="en-US" sz="700"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 본 분석은 개인 판정이 아닌 행정동 단위 상대적 취약도 진단이며, 정책 우선순위 도출 도구입니다.</a:t>
            </a:r>
            <a:endParaRPr lang="en-US" sz="700"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7" name="Shape 20"/>
          <p:cNvSpPr/>
          <p:nvPr/>
        </p:nvSpPr>
        <p:spPr>
          <a:xfrm>
            <a:off x="483831" y="4270087"/>
            <a:ext cx="45719" cy="209327"/>
          </a:xfrm>
          <a:prstGeom prst="rect">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02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연구 설계</a:t>
            </a:r>
            <a:endParaRPr lang="en-US" sz="650" dirty="0">
              <a:latin typeface="Microsoft JhengHei" panose="020B0604030504040204" pitchFamily="34" charset="-120"/>
              <a:ea typeface="Microsoft JhengHei" panose="020B0604030504040204" pitchFamily="34" charset="-120"/>
            </a:endParaRPr>
          </a:p>
        </p:txBody>
      </p:sp>
      <p:sp>
        <p:nvSpPr>
          <p:cNvPr id="4"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연구 질문</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67530" y="981654"/>
            <a:ext cx="4285171" cy="1814438"/>
          </a:xfrm>
          <a:prstGeom prst="roundRect">
            <a:avLst>
              <a:gd name="adj" fmla="val 2010"/>
            </a:avLst>
          </a:prstGeom>
          <a:noFill/>
          <a:ln w="4763">
            <a:solidFill>
              <a:srgbClr val="000000">
                <a:alpha val="8000"/>
              </a:srgbClr>
            </a:solidFill>
            <a:prstDash val="solid"/>
          </a:ln>
        </p:spPr>
        <p:txBody>
          <a:bodyPr/>
          <a:lstStyle/>
          <a:p>
            <a:endParaRPr lang="ko-KR" altLang="en-US" sz="80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6" name="Shape 4"/>
          <p:cNvSpPr/>
          <p:nvPr/>
        </p:nvSpPr>
        <p:spPr>
          <a:xfrm>
            <a:off x="496118" y="986417"/>
            <a:ext cx="3960465" cy="200546"/>
          </a:xfrm>
          <a:prstGeom prst="rect">
            <a:avLst/>
          </a:prstGeom>
          <a:solidFill>
            <a:srgbClr val="FFFFFF">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7" name="Text 5"/>
          <p:cNvSpPr/>
          <p:nvPr/>
        </p:nvSpPr>
        <p:spPr>
          <a:xfrm>
            <a:off x="583034" y="1027642"/>
            <a:ext cx="695325" cy="118095"/>
          </a:xfrm>
          <a:prstGeom prst="rect">
            <a:avLst/>
          </a:prstGeom>
          <a:noFill/>
        </p:spPr>
        <p:txBody>
          <a:bodyPr wrap="none" lIns="0" tIns="0" rIns="0" bIns="0" rtlCol="0" anchor="t"/>
          <a:lstStyle/>
          <a:p>
            <a:pPr marL="0" indent="0" algn="l">
              <a:lnSpc>
                <a:spcPts val="900"/>
              </a:lnSpc>
              <a:buNone/>
            </a:pPr>
            <a:r>
              <a:rPr lang="en-US" sz="800" b="1"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구분</a:t>
            </a:r>
            <a:endParaRPr lang="en-US" sz="800" b="1"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8" name="Text 6"/>
          <p:cNvSpPr/>
          <p:nvPr/>
        </p:nvSpPr>
        <p:spPr>
          <a:xfrm>
            <a:off x="1456655" y="1027642"/>
            <a:ext cx="1603846" cy="118095"/>
          </a:xfrm>
          <a:prstGeom prst="rect">
            <a:avLst/>
          </a:prstGeom>
          <a:noFill/>
        </p:spPr>
        <p:txBody>
          <a:bodyPr wrap="none" lIns="0" tIns="0" rIns="0" bIns="0" rtlCol="0" anchor="t"/>
          <a:lstStyle/>
          <a:p>
            <a:pPr marL="0" indent="0" algn="l">
              <a:lnSpc>
                <a:spcPts val="900"/>
              </a:lnSpc>
              <a:buNone/>
            </a:pPr>
            <a:r>
              <a:rPr lang="en-US" sz="800" b="1"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데이터명</a:t>
            </a:r>
            <a:endParaRPr lang="en-US" sz="800" b="1"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9" name="Text 7"/>
          <p:cNvSpPr/>
          <p:nvPr/>
        </p:nvSpPr>
        <p:spPr>
          <a:xfrm>
            <a:off x="3238797" y="1027642"/>
            <a:ext cx="1131019" cy="118095"/>
          </a:xfrm>
          <a:prstGeom prst="rect">
            <a:avLst/>
          </a:prstGeom>
          <a:noFill/>
        </p:spPr>
        <p:txBody>
          <a:bodyPr wrap="none" lIns="0" tIns="0" rIns="0" bIns="0" rtlCol="0" anchor="t"/>
          <a:lstStyle/>
          <a:p>
            <a:pPr marL="0" indent="0" algn="l">
              <a:lnSpc>
                <a:spcPts val="900"/>
              </a:lnSpc>
              <a:buNone/>
            </a:pPr>
            <a:r>
              <a:rPr lang="en-US" sz="800" b="1"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출처</a:t>
            </a:r>
            <a:endParaRPr lang="en-US" sz="800" b="1"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0" name="Shape 8"/>
          <p:cNvSpPr/>
          <p:nvPr/>
        </p:nvSpPr>
        <p:spPr>
          <a:xfrm>
            <a:off x="496118" y="1186963"/>
            <a:ext cx="3960465" cy="200546"/>
          </a:xfrm>
          <a:prstGeom prst="rect">
            <a:avLst/>
          </a:prstGeom>
          <a:solidFill>
            <a:srgbClr val="000000">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1" name="Text 9"/>
          <p:cNvSpPr/>
          <p:nvPr/>
        </p:nvSpPr>
        <p:spPr>
          <a:xfrm>
            <a:off x="583034" y="1228188"/>
            <a:ext cx="695325" cy="118095"/>
          </a:xfrm>
          <a:prstGeom prst="rect">
            <a:avLst/>
          </a:prstGeom>
          <a:noFill/>
        </p:spPr>
        <p:txBody>
          <a:bodyPr wrap="none" lIns="0" tIns="0" rIns="0" bIns="0" rtlCol="0" anchor="t"/>
          <a:lstStyle/>
          <a:p>
            <a:pPr marL="0" indent="0" algn="l">
              <a:lnSpc>
                <a:spcPts val="900"/>
              </a:lnSpc>
              <a:buNone/>
            </a:pPr>
            <a:r>
              <a:rPr lang="en-US" sz="8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인구 축</a:t>
            </a:r>
            <a:endParaRPr lang="en-US" sz="8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 name="Text 10"/>
          <p:cNvSpPr/>
          <p:nvPr/>
        </p:nvSpPr>
        <p:spPr>
          <a:xfrm>
            <a:off x="1456655" y="1228188"/>
            <a:ext cx="1603846"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B031 서울시 거주인구</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3" name="Text 11"/>
          <p:cNvSpPr/>
          <p:nvPr/>
        </p:nvSpPr>
        <p:spPr>
          <a:xfrm>
            <a:off x="3238797" y="1228188"/>
            <a:ext cx="1131019"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서울시 빅데이터캠퍼스</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4" name="Shape 12"/>
          <p:cNvSpPr/>
          <p:nvPr/>
        </p:nvSpPr>
        <p:spPr>
          <a:xfrm>
            <a:off x="496118" y="1387509"/>
            <a:ext cx="3960465" cy="200546"/>
          </a:xfrm>
          <a:prstGeom prst="rect">
            <a:avLst/>
          </a:prstGeom>
          <a:solidFill>
            <a:srgbClr val="FFFFFF">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5" name="Text 13"/>
          <p:cNvSpPr/>
          <p:nvPr/>
        </p:nvSpPr>
        <p:spPr>
          <a:xfrm>
            <a:off x="583034" y="1428734"/>
            <a:ext cx="695325" cy="118095"/>
          </a:xfrm>
          <a:prstGeom prst="rect">
            <a:avLst/>
          </a:prstGeom>
          <a:noFill/>
        </p:spPr>
        <p:txBody>
          <a:bodyPr wrap="none" lIns="0" tIns="0" rIns="0" bIns="0" rtlCol="0" anchor="t"/>
          <a:lstStyle/>
          <a:p>
            <a:pPr marL="0" indent="0" algn="l">
              <a:lnSpc>
                <a:spcPts val="900"/>
              </a:lnSpc>
              <a:buNone/>
            </a:pPr>
            <a:r>
              <a:rPr lang="en-US" sz="8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인구 축</a:t>
            </a:r>
            <a:endParaRPr lang="en-US" sz="8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6" name="Text 14"/>
          <p:cNvSpPr/>
          <p:nvPr/>
        </p:nvSpPr>
        <p:spPr>
          <a:xfrm>
            <a:off x="1456655" y="1428734"/>
            <a:ext cx="1603846"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행안부 1인세대 현황</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7" name="Text 15"/>
          <p:cNvSpPr/>
          <p:nvPr/>
        </p:nvSpPr>
        <p:spPr>
          <a:xfrm>
            <a:off x="3238797" y="1428734"/>
            <a:ext cx="1131019"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행정안전부</a:t>
            </a:r>
            <a:endParaRPr lang="en-US" sz="8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8" name="Shape 16"/>
          <p:cNvSpPr/>
          <p:nvPr/>
        </p:nvSpPr>
        <p:spPr>
          <a:xfrm>
            <a:off x="496118" y="1588055"/>
            <a:ext cx="3960465" cy="200546"/>
          </a:xfrm>
          <a:prstGeom prst="rect">
            <a:avLst/>
          </a:prstGeom>
          <a:solidFill>
            <a:srgbClr val="000000">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9" name="Text 17"/>
          <p:cNvSpPr/>
          <p:nvPr/>
        </p:nvSpPr>
        <p:spPr>
          <a:xfrm>
            <a:off x="583034" y="1629280"/>
            <a:ext cx="695325" cy="118095"/>
          </a:xfrm>
          <a:prstGeom prst="rect">
            <a:avLst/>
          </a:prstGeom>
          <a:noFill/>
        </p:spPr>
        <p:txBody>
          <a:bodyPr wrap="none" lIns="0" tIns="0" rIns="0" bIns="0" rtlCol="0" anchor="t"/>
          <a:lstStyle/>
          <a:p>
            <a:pPr marL="0" indent="0" algn="l">
              <a:lnSpc>
                <a:spcPts val="900"/>
              </a:lnSpc>
              <a:buNone/>
            </a:pPr>
            <a:r>
              <a:rPr lang="en-US" sz="800" b="1" dirty="0">
                <a:solidFill>
                  <a:srgbClr val="2563EB"/>
                </a:solidFill>
                <a:latin typeface="Microsoft JhengHei" panose="020B0604030504040204" pitchFamily="34" charset="-120"/>
                <a:ea typeface="Microsoft JhengHei" panose="020B0604030504040204" pitchFamily="34" charset="-120"/>
                <a:cs typeface="Microsoft JhengHei" panose="020B0604030504040204" pitchFamily="34" charset="-120"/>
              </a:rPr>
              <a:t>이동 축</a:t>
            </a:r>
            <a:endParaRPr lang="en-US" sz="800" b="1" dirty="0">
              <a:solidFill>
                <a:srgbClr val="2563EB"/>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0" name="Text 18"/>
          <p:cNvSpPr/>
          <p:nvPr/>
        </p:nvSpPr>
        <p:spPr>
          <a:xfrm>
            <a:off x="1456655" y="1629280"/>
            <a:ext cx="1603846"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B076 KT 생활이동</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1" name="Text 19"/>
          <p:cNvSpPr/>
          <p:nvPr/>
        </p:nvSpPr>
        <p:spPr>
          <a:xfrm>
            <a:off x="3238797" y="1629280"/>
            <a:ext cx="1131019" cy="118095"/>
          </a:xfrm>
          <a:prstGeom prst="rect">
            <a:avLst/>
          </a:prstGeom>
          <a:noFill/>
        </p:spPr>
        <p:txBody>
          <a:bodyPr wrap="none" lIns="0" tIns="0" rIns="0" bIns="0" rtlCol="0" anchor="t"/>
          <a:lstStyle/>
          <a:p>
            <a:pPr marL="0" indent="0" algn="l">
              <a:lnSpc>
                <a:spcPts val="900"/>
              </a:lnSpc>
              <a:buNone/>
            </a:pPr>
            <a:r>
              <a:rPr lang="en-US" sz="8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서울시</a:t>
            </a: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8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빅데이터캠퍼스</a:t>
            </a: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/KT</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2" name="Shape 20"/>
          <p:cNvSpPr/>
          <p:nvPr/>
        </p:nvSpPr>
        <p:spPr>
          <a:xfrm>
            <a:off x="496118" y="1788601"/>
            <a:ext cx="3960465" cy="200546"/>
          </a:xfrm>
          <a:prstGeom prst="rect">
            <a:avLst/>
          </a:prstGeom>
          <a:solidFill>
            <a:srgbClr val="FFFFFF">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3" name="Text 21"/>
          <p:cNvSpPr/>
          <p:nvPr/>
        </p:nvSpPr>
        <p:spPr>
          <a:xfrm>
            <a:off x="583034" y="1829826"/>
            <a:ext cx="695325" cy="118095"/>
          </a:xfrm>
          <a:prstGeom prst="rect">
            <a:avLst/>
          </a:prstGeom>
          <a:noFill/>
        </p:spPr>
        <p:txBody>
          <a:bodyPr wrap="none" lIns="0" tIns="0" rIns="0" bIns="0" rtlCol="0" anchor="t"/>
          <a:lstStyle/>
          <a:p>
            <a:pPr marL="0" indent="0" algn="l">
              <a:lnSpc>
                <a:spcPts val="900"/>
              </a:lnSpc>
              <a:buNone/>
            </a:pPr>
            <a:r>
              <a:rPr lang="en-US" sz="800" b="1" dirty="0">
                <a:solidFill>
                  <a:srgbClr val="3B82F6"/>
                </a:solidFill>
                <a:latin typeface="Microsoft JhengHei" panose="020B0604030504040204" pitchFamily="34" charset="-120"/>
                <a:ea typeface="Microsoft JhengHei" panose="020B0604030504040204" pitchFamily="34" charset="-120"/>
                <a:cs typeface="Microsoft JhengHei" panose="020B0604030504040204" pitchFamily="34" charset="-120"/>
              </a:rPr>
              <a:t>인프라 축</a:t>
            </a:r>
            <a:endParaRPr lang="en-US" sz="800" b="1" dirty="0">
              <a:solidFill>
                <a:srgbClr val="3B82F6"/>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4" name="Text 22"/>
          <p:cNvSpPr/>
          <p:nvPr/>
        </p:nvSpPr>
        <p:spPr>
          <a:xfrm>
            <a:off x="1456655" y="1829826"/>
            <a:ext cx="1603846"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의료시설 현황</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5" name="Text 23"/>
          <p:cNvSpPr/>
          <p:nvPr/>
        </p:nvSpPr>
        <p:spPr>
          <a:xfrm>
            <a:off x="3238797" y="1829826"/>
            <a:ext cx="1131019"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건강보험심사평가원</a:t>
            </a:r>
            <a:endParaRPr lang="en-US" sz="8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6" name="Shape 24"/>
          <p:cNvSpPr/>
          <p:nvPr/>
        </p:nvSpPr>
        <p:spPr>
          <a:xfrm>
            <a:off x="496118" y="1989146"/>
            <a:ext cx="3960465" cy="200546"/>
          </a:xfrm>
          <a:prstGeom prst="rect">
            <a:avLst/>
          </a:prstGeom>
          <a:solidFill>
            <a:srgbClr val="000000">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7" name="Text 25"/>
          <p:cNvSpPr/>
          <p:nvPr/>
        </p:nvSpPr>
        <p:spPr>
          <a:xfrm>
            <a:off x="583034" y="2030372"/>
            <a:ext cx="695325" cy="118095"/>
          </a:xfrm>
          <a:prstGeom prst="rect">
            <a:avLst/>
          </a:prstGeom>
          <a:noFill/>
        </p:spPr>
        <p:txBody>
          <a:bodyPr wrap="none" lIns="0" tIns="0" rIns="0" bIns="0" rtlCol="0" anchor="t"/>
          <a:lstStyle/>
          <a:p>
            <a:pPr marL="0" indent="0" algn="l">
              <a:lnSpc>
                <a:spcPts val="900"/>
              </a:lnSpc>
              <a:buNone/>
            </a:pPr>
            <a:r>
              <a:rPr lang="en-US" sz="800" b="1" dirty="0">
                <a:solidFill>
                  <a:srgbClr val="3B82F6"/>
                </a:solidFill>
                <a:latin typeface="Microsoft JhengHei" panose="020B0604030504040204" pitchFamily="34" charset="-120"/>
                <a:ea typeface="Microsoft JhengHei" panose="020B0604030504040204" pitchFamily="34" charset="-120"/>
                <a:cs typeface="Microsoft JhengHei" panose="020B0604030504040204" pitchFamily="34" charset="-120"/>
              </a:rPr>
              <a:t>인프라 축</a:t>
            </a:r>
            <a:endParaRPr lang="en-US" sz="800" b="1" dirty="0">
              <a:solidFill>
                <a:srgbClr val="3B82F6"/>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8" name="Text 26"/>
          <p:cNvSpPr/>
          <p:nvPr/>
        </p:nvSpPr>
        <p:spPr>
          <a:xfrm>
            <a:off x="1456655" y="2030372"/>
            <a:ext cx="1603846"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노인복지시설 현황</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9" name="Text 27"/>
          <p:cNvSpPr/>
          <p:nvPr/>
        </p:nvSpPr>
        <p:spPr>
          <a:xfrm>
            <a:off x="3238797" y="2030372"/>
            <a:ext cx="1131019"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서울시 공공데이터</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0" name="Shape 28"/>
          <p:cNvSpPr/>
          <p:nvPr/>
        </p:nvSpPr>
        <p:spPr>
          <a:xfrm>
            <a:off x="496118" y="2189692"/>
            <a:ext cx="3960465" cy="200546"/>
          </a:xfrm>
          <a:prstGeom prst="rect">
            <a:avLst/>
          </a:prstGeom>
          <a:solidFill>
            <a:srgbClr val="FFFFFF">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1" name="Text 29"/>
          <p:cNvSpPr/>
          <p:nvPr/>
        </p:nvSpPr>
        <p:spPr>
          <a:xfrm>
            <a:off x="583034" y="2230918"/>
            <a:ext cx="695325" cy="118095"/>
          </a:xfrm>
          <a:prstGeom prst="rect">
            <a:avLst/>
          </a:prstGeom>
          <a:noFill/>
        </p:spPr>
        <p:txBody>
          <a:bodyPr wrap="none" lIns="0" tIns="0" rIns="0" bIns="0" rtlCol="0" anchor="t"/>
          <a:lstStyle/>
          <a:p>
            <a:pPr marL="0" indent="0" algn="l">
              <a:lnSpc>
                <a:spcPts val="900"/>
              </a:lnSpc>
              <a:buNone/>
            </a:pPr>
            <a:r>
              <a:rPr lang="en-US" sz="800" b="1" dirty="0">
                <a:solidFill>
                  <a:srgbClr val="3B82F6"/>
                </a:solidFill>
                <a:latin typeface="Microsoft JhengHei" panose="020B0604030504040204" pitchFamily="34" charset="-120"/>
                <a:ea typeface="Microsoft JhengHei" panose="020B0604030504040204" pitchFamily="34" charset="-120"/>
                <a:cs typeface="Microsoft JhengHei" panose="020B0604030504040204" pitchFamily="34" charset="-120"/>
              </a:rPr>
              <a:t>인프라 축</a:t>
            </a:r>
            <a:endParaRPr lang="en-US" sz="800" b="1" dirty="0">
              <a:solidFill>
                <a:srgbClr val="3B82F6"/>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2" name="Text 30"/>
          <p:cNvSpPr/>
          <p:nvPr/>
        </p:nvSpPr>
        <p:spPr>
          <a:xfrm>
            <a:off x="1456655" y="2230918"/>
            <a:ext cx="1603846"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버스정류장·지하철역</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3" name="Text 31"/>
          <p:cNvSpPr/>
          <p:nvPr/>
        </p:nvSpPr>
        <p:spPr>
          <a:xfrm>
            <a:off x="3238797" y="2230918"/>
            <a:ext cx="1131019"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서울시 열린데이터</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4" name="Shape 32"/>
          <p:cNvSpPr/>
          <p:nvPr/>
        </p:nvSpPr>
        <p:spPr>
          <a:xfrm>
            <a:off x="496118" y="2390238"/>
            <a:ext cx="3960465" cy="200546"/>
          </a:xfrm>
          <a:prstGeom prst="rect">
            <a:avLst/>
          </a:prstGeom>
          <a:solidFill>
            <a:srgbClr val="000000">
              <a:alpha val="4000"/>
            </a:srgbClr>
          </a:solidFill>
        </p:spPr>
        <p:txBody>
          <a:bodyPr/>
          <a:lstStyle/>
          <a:p>
            <a:endParaRPr lang="ko-KR" altLang="en-US" sz="80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5" name="Text 33"/>
          <p:cNvSpPr/>
          <p:nvPr/>
        </p:nvSpPr>
        <p:spPr>
          <a:xfrm>
            <a:off x="583034" y="2431464"/>
            <a:ext cx="695325" cy="118095"/>
          </a:xfrm>
          <a:prstGeom prst="rect">
            <a:avLst/>
          </a:prstGeom>
          <a:noFill/>
        </p:spPr>
        <p:txBody>
          <a:bodyPr wrap="none" lIns="0" tIns="0" rIns="0" bIns="0" rtlCol="0" anchor="t"/>
          <a:lstStyle/>
          <a:p>
            <a:pPr marL="0" indent="0" algn="l">
              <a:lnSpc>
                <a:spcPts val="900"/>
              </a:lnSpc>
              <a:buNone/>
            </a:pPr>
            <a:r>
              <a:rPr lang="en-US" sz="800" b="1" dirty="0">
                <a:solidFill>
                  <a:srgbClr val="16A34A"/>
                </a:solidFill>
                <a:latin typeface="Microsoft JhengHei" panose="020B0604030504040204" pitchFamily="34" charset="-120"/>
                <a:ea typeface="Microsoft JhengHei" panose="020B0604030504040204" pitchFamily="34" charset="-120"/>
                <a:cs typeface="맑은 고딕 Semilight" panose="020B0502040204020203" pitchFamily="50" charset="-127"/>
              </a:rPr>
              <a:t>교차검증</a:t>
            </a:r>
            <a:endParaRPr lang="en-US" sz="800" b="1" dirty="0">
              <a:solidFill>
                <a:srgbClr val="16A34A"/>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6" name="Text 34"/>
          <p:cNvSpPr/>
          <p:nvPr/>
        </p:nvSpPr>
        <p:spPr>
          <a:xfrm>
            <a:off x="1456655" y="2431464"/>
            <a:ext cx="1603846"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독거노인 현황</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7" name="Text 35"/>
          <p:cNvSpPr/>
          <p:nvPr/>
        </p:nvSpPr>
        <p:spPr>
          <a:xfrm>
            <a:off x="3238797" y="2431464"/>
            <a:ext cx="1131019"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행정안전부</a:t>
            </a:r>
            <a:endParaRPr lang="en-US" sz="8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8" name="Shape 36"/>
          <p:cNvSpPr/>
          <p:nvPr/>
        </p:nvSpPr>
        <p:spPr>
          <a:xfrm>
            <a:off x="496118" y="2590784"/>
            <a:ext cx="3960465" cy="200546"/>
          </a:xfrm>
          <a:prstGeom prst="rect">
            <a:avLst/>
          </a:prstGeom>
          <a:solidFill>
            <a:srgbClr val="FFFFFF">
              <a:alpha val="4000"/>
            </a:srgbClr>
          </a:solidFill>
        </p:spPr>
        <p:txBody>
          <a:bodyPr/>
          <a:lstStyle/>
          <a:p>
            <a:endParaRPr lang="ko-KR" altLang="en-US" sz="800"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9" name="Text 37"/>
          <p:cNvSpPr/>
          <p:nvPr/>
        </p:nvSpPr>
        <p:spPr>
          <a:xfrm>
            <a:off x="583034" y="2632010"/>
            <a:ext cx="695325" cy="118095"/>
          </a:xfrm>
          <a:prstGeom prst="rect">
            <a:avLst/>
          </a:prstGeom>
          <a:noFill/>
        </p:spPr>
        <p:txBody>
          <a:bodyPr wrap="none" lIns="0" tIns="0" rIns="0" bIns="0" rtlCol="0" anchor="t"/>
          <a:lstStyle/>
          <a:p>
            <a:pPr marL="0" indent="0" algn="l">
              <a:lnSpc>
                <a:spcPts val="900"/>
              </a:lnSpc>
              <a:buNone/>
            </a:pPr>
            <a:r>
              <a:rPr lang="en-US" sz="800" b="1" dirty="0">
                <a:solidFill>
                  <a:srgbClr val="16A34A"/>
                </a:solidFill>
                <a:latin typeface="Microsoft JhengHei" panose="020B0604030504040204" pitchFamily="34" charset="-120"/>
                <a:ea typeface="Microsoft JhengHei" panose="020B0604030504040204" pitchFamily="34" charset="-120"/>
                <a:cs typeface="맑은 고딕 Semilight" panose="020B0502040204020203" pitchFamily="50" charset="-127"/>
              </a:rPr>
              <a:t>교차검증</a:t>
            </a:r>
            <a:endParaRPr lang="en-US" sz="800" b="1" dirty="0">
              <a:solidFill>
                <a:srgbClr val="16A34A"/>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0" name="Text 38"/>
          <p:cNvSpPr/>
          <p:nvPr/>
        </p:nvSpPr>
        <p:spPr>
          <a:xfrm>
            <a:off x="1456655" y="2632010"/>
            <a:ext cx="1603846"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기초수급자·장애인 등</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1" name="Text 39"/>
          <p:cNvSpPr/>
          <p:nvPr/>
        </p:nvSpPr>
        <p:spPr>
          <a:xfrm>
            <a:off x="3238797" y="2632010"/>
            <a:ext cx="1131019" cy="118095"/>
          </a:xfrm>
          <a:prstGeom prst="rect">
            <a:avLst/>
          </a:prstGeom>
          <a:noFill/>
        </p:spPr>
        <p:txBody>
          <a:bodyPr wrap="none" lIns="0" tIns="0" rIns="0" bIns="0" rtlCol="0" anchor="t"/>
          <a:lstStyle/>
          <a:p>
            <a:pPr marL="0" indent="0" algn="l">
              <a:lnSpc>
                <a:spcPts val="900"/>
              </a:lnSpc>
              <a:buNone/>
            </a:pPr>
            <a:r>
              <a:rPr lang="en-US" sz="8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보건복지부</a:t>
            </a:r>
            <a:endParaRPr lang="en-US" sz="80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2" name="Text 40"/>
          <p:cNvSpPr/>
          <p:nvPr/>
        </p:nvSpPr>
        <p:spPr>
          <a:xfrm>
            <a:off x="548208" y="4170056"/>
            <a:ext cx="3969990" cy="118095"/>
          </a:xfrm>
          <a:prstGeom prst="rect">
            <a:avLst/>
          </a:prstGeom>
          <a:noFill/>
        </p:spPr>
        <p:txBody>
          <a:bodyPr wrap="none" lIns="0" tIns="0" rIns="0" bIns="0" rtlCol="0" anchor="t"/>
          <a:lstStyle/>
          <a:p>
            <a:pPr marL="0" indent="0" algn="l">
              <a:lnSpc>
                <a:spcPts val="900"/>
              </a:lnSpc>
              <a:buNone/>
            </a:pPr>
            <a:r>
              <a:rPr lang="en-US" sz="650" i="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각 데이터는 행정동 단위로 정제·병합되어 분석 축별로 지표를 구성합니다.</a:t>
            </a:r>
            <a:endParaRPr lang="en-US" sz="650" i="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3" name="Shape 41"/>
          <p:cNvSpPr/>
          <p:nvPr/>
        </p:nvSpPr>
        <p:spPr>
          <a:xfrm>
            <a:off x="4620146" y="934045"/>
            <a:ext cx="4095006" cy="3485704"/>
          </a:xfrm>
          <a:prstGeom prst="roundRect">
            <a:avLst>
              <a:gd name="adj" fmla="val 1794"/>
            </a:avLst>
          </a:prstGeom>
          <a:solidFill>
            <a:srgbClr val="FFFFFF">
              <a:alpha val="95000"/>
            </a:srgbClr>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4" name="Shape 42"/>
          <p:cNvSpPr/>
          <p:nvPr/>
        </p:nvSpPr>
        <p:spPr>
          <a:xfrm>
            <a:off x="4772025" y="1002357"/>
            <a:ext cx="9525" cy="3349079"/>
          </a:xfrm>
          <a:prstGeom prst="roundRect">
            <a:avLst>
              <a:gd name="adj" fmla="val 382883"/>
            </a:avLst>
          </a:prstGeom>
          <a:solidFill>
            <a:srgbClr val="C7C7D0"/>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5" name="Shape 43"/>
          <p:cNvSpPr/>
          <p:nvPr/>
        </p:nvSpPr>
        <p:spPr>
          <a:xfrm>
            <a:off x="4762500" y="1095226"/>
            <a:ext cx="173608" cy="9525"/>
          </a:xfrm>
          <a:prstGeom prst="roundRect">
            <a:avLst>
              <a:gd name="adj" fmla="val 382883"/>
            </a:avLst>
          </a:prstGeom>
          <a:solidFill>
            <a:srgbClr val="C7C7D0"/>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6" name="Shape 44"/>
          <p:cNvSpPr/>
          <p:nvPr/>
        </p:nvSpPr>
        <p:spPr>
          <a:xfrm>
            <a:off x="4739469" y="1067433"/>
            <a:ext cx="65112" cy="65112"/>
          </a:xfrm>
          <a:prstGeom prst="roundRect">
            <a:avLst>
              <a:gd name="adj" fmla="val 438859"/>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7" name="Text 45"/>
          <p:cNvSpPr/>
          <p:nvPr/>
        </p:nvSpPr>
        <p:spPr>
          <a:xfrm>
            <a:off x="5119315" y="1032197"/>
            <a:ext cx="1401738" cy="140419"/>
          </a:xfrm>
          <a:prstGeom prst="rect">
            <a:avLst/>
          </a:prstGeom>
          <a:noFill/>
        </p:spPr>
        <p:txBody>
          <a:bodyPr wrap="none" lIns="0" tIns="0" rIns="0" bIns="0" rtlCol="0" anchor="t"/>
          <a:lstStyle/>
          <a:p>
            <a:pPr marL="0" indent="0" algn="l">
              <a:lnSpc>
                <a:spcPts val="1050"/>
              </a:lnSpc>
              <a:buNone/>
            </a:pPr>
            <a:r>
              <a:rPr lang="en-US" sz="850"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인구 집중도 지표 (P_score)</a:t>
            </a:r>
            <a:endParaRPr lang="en-US" sz="8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8" name="Shape 46"/>
          <p:cNvSpPr/>
          <p:nvPr/>
        </p:nvSpPr>
        <p:spPr>
          <a:xfrm>
            <a:off x="5119315" y="1240929"/>
            <a:ext cx="3509070" cy="291629"/>
          </a:xfrm>
          <a:prstGeom prst="roundRect">
            <a:avLst>
              <a:gd name="adj" fmla="val 12505"/>
            </a:avLst>
          </a:prstGeom>
          <a:solidFill>
            <a:srgbClr val="F2F2F2"/>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9" name="Shape 47"/>
          <p:cNvSpPr/>
          <p:nvPr/>
        </p:nvSpPr>
        <p:spPr>
          <a:xfrm>
            <a:off x="5114999" y="1240929"/>
            <a:ext cx="3517702" cy="291629"/>
          </a:xfrm>
          <a:prstGeom prst="roundRect">
            <a:avLst>
              <a:gd name="adj" fmla="val 4466"/>
            </a:avLst>
          </a:prstGeom>
          <a:solidFill>
            <a:srgbClr val="F2F2F2"/>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50" name="Text 48"/>
          <p:cNvSpPr/>
          <p:nvPr/>
        </p:nvSpPr>
        <p:spPr>
          <a:xfrm>
            <a:off x="5223495" y="1327696"/>
            <a:ext cx="3300710" cy="118095"/>
          </a:xfrm>
          <a:prstGeom prst="rect">
            <a:avLst/>
          </a:prstGeom>
          <a:noFill/>
        </p:spPr>
        <p:txBody>
          <a:bodyPr wrap="none" lIns="0" tIns="0" rIns="0" bIns="0" rtlCol="0" anchor="t"/>
          <a:lstStyle/>
          <a:p>
            <a:pPr marL="0" indent="0" algn="l">
              <a:lnSpc>
                <a:spcPts val="900"/>
              </a:lnSpc>
              <a:buNone/>
            </a:pPr>
            <a:r>
              <a:rPr lang="en-US" sz="650" dirty="0">
                <a:solidFill>
                  <a:srgbClr val="3C3939"/>
                </a:solidFill>
                <a:highlight>
                  <a:srgbClr val="F2F2F2"/>
                </a:highlight>
                <a:latin typeface="Microsoft JhengHei" panose="020B0604030504040204" pitchFamily="34" charset="-120"/>
                <a:ea typeface="Microsoft JhengHei" panose="020B0604030504040204" pitchFamily="34" charset="-120"/>
                <a:cs typeface="Microsoft JhengHei" panose="020B0604030504040204" pitchFamily="34" charset="-120"/>
              </a:rPr>
              <a:t>P_score = Σ(연령별 1인가구) ÷ 전체 거주인구 × 100</a:t>
            </a:r>
            <a:endParaRPr lang="en-US" sz="650" dirty="0">
              <a:solidFill>
                <a:srgbClr val="3C3939"/>
              </a:solidFill>
              <a:highlight>
                <a:srgbClr val="F2F2F2"/>
              </a:highlight>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1" name="Text 49"/>
          <p:cNvSpPr/>
          <p:nvPr/>
        </p:nvSpPr>
        <p:spPr>
          <a:xfrm>
            <a:off x="5119315" y="1600870"/>
            <a:ext cx="3509070" cy="118095"/>
          </a:xfrm>
          <a:prstGeom prst="rect">
            <a:avLst/>
          </a:prstGeom>
          <a:noFill/>
        </p:spPr>
        <p:txBody>
          <a:bodyPr wrap="none" lIns="0" tIns="0" rIns="0" bIns="0" rtlCol="0" anchor="t"/>
          <a:lstStyle/>
          <a:p>
            <a:pPr marL="0" indent="0" algn="l">
              <a:lnSpc>
                <a:spcPts val="90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청년·중장년·노년 3개 연령대 분리 산출 → 행정동별 백분위 순위화 → </a:t>
            </a:r>
            <a:r>
              <a:rPr lang="en-US" sz="6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인구 축 점수</a:t>
            </a:r>
            <a:endParaRPr lang="en-US" sz="6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2" name="Shape 50"/>
          <p:cNvSpPr/>
          <p:nvPr/>
        </p:nvSpPr>
        <p:spPr>
          <a:xfrm>
            <a:off x="4762500" y="1933352"/>
            <a:ext cx="173608" cy="9525"/>
          </a:xfrm>
          <a:prstGeom prst="roundRect">
            <a:avLst>
              <a:gd name="adj" fmla="val 382883"/>
            </a:avLst>
          </a:prstGeom>
          <a:solidFill>
            <a:srgbClr val="C7C7D0"/>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53" name="Shape 51"/>
          <p:cNvSpPr/>
          <p:nvPr/>
        </p:nvSpPr>
        <p:spPr>
          <a:xfrm>
            <a:off x="4739469" y="1905558"/>
            <a:ext cx="65112" cy="65112"/>
          </a:xfrm>
          <a:prstGeom prst="roundRect">
            <a:avLst>
              <a:gd name="adj" fmla="val 438859"/>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54" name="Text 52"/>
          <p:cNvSpPr/>
          <p:nvPr/>
        </p:nvSpPr>
        <p:spPr>
          <a:xfrm>
            <a:off x="5119315" y="1870323"/>
            <a:ext cx="1329630" cy="140419"/>
          </a:xfrm>
          <a:prstGeom prst="rect">
            <a:avLst/>
          </a:prstGeom>
          <a:noFill/>
        </p:spPr>
        <p:txBody>
          <a:bodyPr wrap="none" lIns="0" tIns="0" rIns="0" bIns="0" rtlCol="0" anchor="t"/>
          <a:lstStyle/>
          <a:p>
            <a:pPr marL="0" indent="0" algn="l">
              <a:lnSpc>
                <a:spcPts val="1050"/>
              </a:lnSpc>
              <a:buNone/>
            </a:pPr>
            <a:r>
              <a:rPr lang="en-US" sz="850"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활동 단절 지수 (M_score)</a:t>
            </a:r>
            <a:endParaRPr lang="en-US" sz="8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5" name="Shape 53"/>
          <p:cNvSpPr/>
          <p:nvPr/>
        </p:nvSpPr>
        <p:spPr>
          <a:xfrm>
            <a:off x="5119315" y="2079054"/>
            <a:ext cx="3509070" cy="291629"/>
          </a:xfrm>
          <a:prstGeom prst="roundRect">
            <a:avLst>
              <a:gd name="adj" fmla="val 12505"/>
            </a:avLst>
          </a:prstGeom>
          <a:solidFill>
            <a:srgbClr val="F2F2F2"/>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56" name="Shape 54"/>
          <p:cNvSpPr/>
          <p:nvPr/>
        </p:nvSpPr>
        <p:spPr>
          <a:xfrm>
            <a:off x="5114999" y="2079054"/>
            <a:ext cx="3517702" cy="291629"/>
          </a:xfrm>
          <a:prstGeom prst="roundRect">
            <a:avLst>
              <a:gd name="adj" fmla="val 4466"/>
            </a:avLst>
          </a:prstGeom>
          <a:solidFill>
            <a:srgbClr val="F2F2F2"/>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57" name="Text 55"/>
          <p:cNvSpPr/>
          <p:nvPr/>
        </p:nvSpPr>
        <p:spPr>
          <a:xfrm>
            <a:off x="5223495" y="2165821"/>
            <a:ext cx="3300710" cy="118095"/>
          </a:xfrm>
          <a:prstGeom prst="rect">
            <a:avLst/>
          </a:prstGeom>
          <a:noFill/>
        </p:spPr>
        <p:txBody>
          <a:bodyPr wrap="none" lIns="0" tIns="0" rIns="0" bIns="0" rtlCol="0" anchor="t"/>
          <a:lstStyle/>
          <a:p>
            <a:pPr marL="0" indent="0" algn="l">
              <a:lnSpc>
                <a:spcPts val="900"/>
              </a:lnSpc>
              <a:buNone/>
            </a:pPr>
            <a:r>
              <a:rPr lang="en-US" sz="650" dirty="0">
                <a:solidFill>
                  <a:srgbClr val="3C3939"/>
                </a:solidFill>
                <a:highlight>
                  <a:srgbClr val="F2F2F2"/>
                </a:highlight>
                <a:latin typeface="Microsoft JhengHei" panose="020B0604030504040204" pitchFamily="34" charset="-120"/>
                <a:ea typeface="Microsoft JhengHei" panose="020B0604030504040204" pitchFamily="34" charset="-120"/>
                <a:cs typeface="Microsoft JhengHei" panose="020B0604030504040204" pitchFamily="34" charset="-120"/>
              </a:rPr>
              <a:t>M_score = 1 − (생활이동 관측량 ÷ 기준이동량)</a:t>
            </a:r>
            <a:endParaRPr lang="en-US" sz="650" dirty="0">
              <a:solidFill>
                <a:srgbClr val="3C3939"/>
              </a:solidFill>
              <a:highlight>
                <a:srgbClr val="F2F2F2"/>
              </a:highlight>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8" name="Text 56"/>
          <p:cNvSpPr/>
          <p:nvPr/>
        </p:nvSpPr>
        <p:spPr>
          <a:xfrm>
            <a:off x="5119315" y="2438995"/>
            <a:ext cx="3509070" cy="118095"/>
          </a:xfrm>
          <a:prstGeom prst="rect">
            <a:avLst/>
          </a:prstGeom>
          <a:noFill/>
        </p:spPr>
        <p:txBody>
          <a:bodyPr wrap="none" lIns="0" tIns="0" rIns="0" bIns="0" rtlCol="0" anchor="t"/>
          <a:lstStyle/>
          <a:p>
            <a:pPr marL="0" indent="0" algn="l">
              <a:lnSpc>
                <a:spcPts val="90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KT B076 LTE/5G 신호 기반 집계 이동자료 → 백분위 순위화 → </a:t>
            </a:r>
            <a:r>
              <a:rPr lang="en-US" sz="6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이동 축 점수</a:t>
            </a:r>
            <a:endParaRPr lang="en-US" sz="6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9" name="Shape 57"/>
          <p:cNvSpPr/>
          <p:nvPr/>
        </p:nvSpPr>
        <p:spPr>
          <a:xfrm>
            <a:off x="4762500" y="2771477"/>
            <a:ext cx="173608" cy="9525"/>
          </a:xfrm>
          <a:prstGeom prst="roundRect">
            <a:avLst>
              <a:gd name="adj" fmla="val 382883"/>
            </a:avLst>
          </a:prstGeom>
          <a:solidFill>
            <a:srgbClr val="C7C7D0"/>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60" name="Shape 58"/>
          <p:cNvSpPr/>
          <p:nvPr/>
        </p:nvSpPr>
        <p:spPr>
          <a:xfrm>
            <a:off x="4739469" y="2743684"/>
            <a:ext cx="65112" cy="65112"/>
          </a:xfrm>
          <a:prstGeom prst="roundRect">
            <a:avLst>
              <a:gd name="adj" fmla="val 438859"/>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61" name="Text 59"/>
          <p:cNvSpPr/>
          <p:nvPr/>
        </p:nvSpPr>
        <p:spPr>
          <a:xfrm>
            <a:off x="5119315" y="2708449"/>
            <a:ext cx="1361182" cy="140419"/>
          </a:xfrm>
          <a:prstGeom prst="rect">
            <a:avLst/>
          </a:prstGeom>
          <a:noFill/>
        </p:spPr>
        <p:txBody>
          <a:bodyPr wrap="none" lIns="0" tIns="0" rIns="0" bIns="0" rtlCol="0" anchor="t"/>
          <a:lstStyle/>
          <a:p>
            <a:pPr marL="0" indent="0" algn="l">
              <a:lnSpc>
                <a:spcPts val="1050"/>
              </a:lnSpc>
              <a:buNone/>
            </a:pPr>
            <a:r>
              <a:rPr lang="en-US" sz="850"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인프라 접근 밀도 (I_score)</a:t>
            </a:r>
            <a:endParaRPr lang="en-US" sz="8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2" name="Shape 60"/>
          <p:cNvSpPr/>
          <p:nvPr/>
        </p:nvSpPr>
        <p:spPr>
          <a:xfrm>
            <a:off x="5119315" y="2917180"/>
            <a:ext cx="3509070" cy="291629"/>
          </a:xfrm>
          <a:prstGeom prst="roundRect">
            <a:avLst>
              <a:gd name="adj" fmla="val 12505"/>
            </a:avLst>
          </a:prstGeom>
          <a:solidFill>
            <a:srgbClr val="F2F2F2"/>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63" name="Shape 61"/>
          <p:cNvSpPr/>
          <p:nvPr/>
        </p:nvSpPr>
        <p:spPr>
          <a:xfrm>
            <a:off x="5114999" y="2917180"/>
            <a:ext cx="3517702" cy="291629"/>
          </a:xfrm>
          <a:prstGeom prst="roundRect">
            <a:avLst>
              <a:gd name="adj" fmla="val 4466"/>
            </a:avLst>
          </a:prstGeom>
          <a:solidFill>
            <a:srgbClr val="F2F2F2"/>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64" name="Text 62"/>
          <p:cNvSpPr/>
          <p:nvPr/>
        </p:nvSpPr>
        <p:spPr>
          <a:xfrm>
            <a:off x="5223495" y="3003947"/>
            <a:ext cx="3300710" cy="118095"/>
          </a:xfrm>
          <a:prstGeom prst="rect">
            <a:avLst/>
          </a:prstGeom>
          <a:noFill/>
        </p:spPr>
        <p:txBody>
          <a:bodyPr wrap="none" lIns="0" tIns="0" rIns="0" bIns="0" rtlCol="0" anchor="t"/>
          <a:lstStyle/>
          <a:p>
            <a:pPr marL="0" indent="0" algn="l">
              <a:lnSpc>
                <a:spcPts val="900"/>
              </a:lnSpc>
              <a:buNone/>
            </a:pPr>
            <a:r>
              <a:rPr lang="en-US" sz="650" dirty="0">
                <a:solidFill>
                  <a:srgbClr val="3C3939"/>
                </a:solidFill>
                <a:highlight>
                  <a:srgbClr val="F2F2F2"/>
                </a:highlight>
                <a:latin typeface="Microsoft JhengHei" panose="020B0604030504040204" pitchFamily="34" charset="-120"/>
                <a:ea typeface="Microsoft JhengHei" panose="020B0604030504040204" pitchFamily="34" charset="-120"/>
                <a:cs typeface="Microsoft JhengHei" panose="020B0604030504040204" pitchFamily="34" charset="-120"/>
              </a:rPr>
              <a:t>I_score = 시설 수 ÷ 행정동 면적(km²) → 백분위</a:t>
            </a:r>
            <a:endParaRPr lang="en-US" sz="650" dirty="0">
              <a:solidFill>
                <a:srgbClr val="3C3939"/>
              </a:solidFill>
              <a:highlight>
                <a:srgbClr val="F2F2F2"/>
              </a:highlight>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5" name="Text 63"/>
          <p:cNvSpPr/>
          <p:nvPr/>
        </p:nvSpPr>
        <p:spPr>
          <a:xfrm>
            <a:off x="5119315" y="3277121"/>
            <a:ext cx="3509070" cy="236190"/>
          </a:xfrm>
          <a:prstGeom prst="rect">
            <a:avLst/>
          </a:prstGeom>
          <a:noFill/>
        </p:spPr>
        <p:txBody>
          <a:bodyPr wrap="square" lIns="0" tIns="0" rIns="0" bIns="0" rtlCol="0" anchor="t"/>
          <a:lstStyle/>
          <a:p>
            <a:pPr marL="0" indent="0" algn="l">
              <a:lnSpc>
                <a:spcPts val="90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의료밀도(병·의원+약국) · 복지밀도(노인복지시설) · 교통밀도(버스+지하철) → 3개 합산 → </a:t>
            </a:r>
            <a:r>
              <a:rPr lang="en-US" sz="6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인프라 축 점수</a:t>
            </a:r>
            <a:endParaRPr lang="en-US" sz="6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6" name="Shape 64"/>
          <p:cNvSpPr/>
          <p:nvPr/>
        </p:nvSpPr>
        <p:spPr>
          <a:xfrm>
            <a:off x="4762500" y="3727698"/>
            <a:ext cx="173608" cy="9525"/>
          </a:xfrm>
          <a:prstGeom prst="roundRect">
            <a:avLst>
              <a:gd name="adj" fmla="val 382883"/>
            </a:avLst>
          </a:prstGeom>
          <a:solidFill>
            <a:srgbClr val="C7C7D0"/>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67" name="Shape 65"/>
          <p:cNvSpPr/>
          <p:nvPr/>
        </p:nvSpPr>
        <p:spPr>
          <a:xfrm>
            <a:off x="4739469" y="3699904"/>
            <a:ext cx="65112" cy="65112"/>
          </a:xfrm>
          <a:prstGeom prst="roundRect">
            <a:avLst>
              <a:gd name="adj" fmla="val 438859"/>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68" name="Text 66"/>
          <p:cNvSpPr/>
          <p:nvPr/>
        </p:nvSpPr>
        <p:spPr>
          <a:xfrm>
            <a:off x="5119315" y="3664669"/>
            <a:ext cx="1085404" cy="140419"/>
          </a:xfrm>
          <a:prstGeom prst="rect">
            <a:avLst/>
          </a:prstGeom>
          <a:noFill/>
        </p:spPr>
        <p:txBody>
          <a:bodyPr wrap="none" lIns="0" tIns="0" rIns="0" bIns="0" rtlCol="0" anchor="t"/>
          <a:lstStyle/>
          <a:p>
            <a:pPr marL="0" indent="0" algn="l">
              <a:lnSpc>
                <a:spcPts val="1050"/>
              </a:lnSpc>
              <a:buNone/>
            </a:pPr>
            <a:r>
              <a:rPr lang="en-US" sz="850"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교차 검증 지표</a:t>
            </a:r>
            <a:endParaRPr lang="en-US" sz="8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9" name="Shape 67"/>
          <p:cNvSpPr/>
          <p:nvPr/>
        </p:nvSpPr>
        <p:spPr>
          <a:xfrm>
            <a:off x="5119315" y="3873401"/>
            <a:ext cx="3509070" cy="291629"/>
          </a:xfrm>
          <a:prstGeom prst="roundRect">
            <a:avLst>
              <a:gd name="adj" fmla="val 12505"/>
            </a:avLst>
          </a:prstGeom>
          <a:solidFill>
            <a:srgbClr val="F2F2F2"/>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70" name="Shape 68"/>
          <p:cNvSpPr/>
          <p:nvPr/>
        </p:nvSpPr>
        <p:spPr>
          <a:xfrm>
            <a:off x="5114999" y="3873401"/>
            <a:ext cx="3517702" cy="291629"/>
          </a:xfrm>
          <a:prstGeom prst="roundRect">
            <a:avLst>
              <a:gd name="adj" fmla="val 4466"/>
            </a:avLst>
          </a:prstGeom>
          <a:solidFill>
            <a:srgbClr val="F2F2F2"/>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71" name="Text 69"/>
          <p:cNvSpPr/>
          <p:nvPr/>
        </p:nvSpPr>
        <p:spPr>
          <a:xfrm>
            <a:off x="5223495" y="3960168"/>
            <a:ext cx="3300710" cy="118095"/>
          </a:xfrm>
          <a:prstGeom prst="rect">
            <a:avLst/>
          </a:prstGeom>
          <a:noFill/>
        </p:spPr>
        <p:txBody>
          <a:bodyPr wrap="none" lIns="0" tIns="0" rIns="0" bIns="0" rtlCol="0" anchor="t"/>
          <a:lstStyle/>
          <a:p>
            <a:pPr marL="0" indent="0" algn="l">
              <a:lnSpc>
                <a:spcPts val="900"/>
              </a:lnSpc>
              <a:buNone/>
            </a:pPr>
            <a:r>
              <a:rPr lang="en-US" sz="650" dirty="0">
                <a:solidFill>
                  <a:srgbClr val="3C3939"/>
                </a:solidFill>
                <a:highlight>
                  <a:srgbClr val="F2F2F2"/>
                </a:highlight>
                <a:latin typeface="Microsoft JhengHei" panose="020B0604030504040204" pitchFamily="34" charset="-120"/>
                <a:ea typeface="Microsoft JhengHei" panose="020B0604030504040204" pitchFamily="34" charset="-120"/>
                <a:cs typeface="Microsoft JhengHei" panose="020B0604030504040204" pitchFamily="34" charset="-120"/>
              </a:rPr>
              <a:t>Spearman 순위상관 분석 (ρ)</a:t>
            </a:r>
            <a:endParaRPr lang="en-US" sz="650" dirty="0">
              <a:solidFill>
                <a:srgbClr val="3C3939"/>
              </a:solidFill>
              <a:highlight>
                <a:srgbClr val="F2F2F2"/>
              </a:highlight>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72" name="Text 70"/>
          <p:cNvSpPr/>
          <p:nvPr/>
        </p:nvSpPr>
        <p:spPr>
          <a:xfrm>
            <a:off x="5119315" y="4233342"/>
            <a:ext cx="3509070" cy="118095"/>
          </a:xfrm>
          <a:prstGeom prst="rect">
            <a:avLst/>
          </a:prstGeom>
          <a:noFill/>
        </p:spPr>
        <p:txBody>
          <a:bodyPr wrap="none" lIns="0" tIns="0" rIns="0" bIns="0" rtlCol="0" anchor="t"/>
          <a:lstStyle/>
          <a:p>
            <a:pPr marL="0" indent="0" algn="l">
              <a:lnSpc>
                <a:spcPts val="90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독거노인 비율 </a:t>
            </a:r>
            <a:r>
              <a:rPr lang="en-US" sz="650"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노년 위험지수 보조 검증 / 기초수급·장애인 분포 </a:t>
            </a:r>
            <a:r>
              <a:rPr lang="en-US" sz="650"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외부 취약지표 정합성 확인</a:t>
            </a:r>
            <a:endParaRPr lang="en-US" sz="6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73" name="Text 71"/>
          <p:cNvSpPr/>
          <p:nvPr/>
        </p:nvSpPr>
        <p:spPr>
          <a:xfrm>
            <a:off x="626343" y="4556373"/>
            <a:ext cx="8021538" cy="118095"/>
          </a:xfrm>
          <a:prstGeom prst="rect">
            <a:avLst/>
          </a:prstGeom>
          <a:noFill/>
        </p:spPr>
        <p:txBody>
          <a:bodyPr wrap="none" lIns="0" tIns="0" rIns="0" bIns="0" rtlCol="0" anchor="t"/>
          <a:lstStyle/>
          <a:p>
            <a:pPr>
              <a:lnSpc>
                <a:spcPts val="900"/>
              </a:lnSpc>
            </a:pP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단일 데이터가 아닌 </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8</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종 데이터를 결합해</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구조적 취약성과 행동적 취약성을 함께 진단했습니다</a:t>
            </a:r>
            <a:r>
              <a:rPr lang="en-US" altLang="ko-KR" sz="800" dirty="0">
                <a:latin typeface="Microsoft JhengHei" panose="020B0604030504040204" pitchFamily="34" charset="-120"/>
                <a:ea typeface="Microsoft JhengHei" panose="020B0604030504040204" pitchFamily="34" charset="-120"/>
                <a:cs typeface="Microsoft JhengHei" panose="020B0604030504040204" pitchFamily="34" charset="-120"/>
              </a:rPr>
              <a:t>.</a:t>
            </a:r>
            <a:endParaRPr lang="en-US" sz="6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74" name="Shape 72"/>
          <p:cNvSpPr/>
          <p:nvPr/>
        </p:nvSpPr>
        <p:spPr>
          <a:xfrm>
            <a:off x="496119" y="4488061"/>
            <a:ext cx="9525" cy="254719"/>
          </a:xfrm>
          <a:prstGeom prst="rect">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79"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02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연구 설계</a:t>
            </a:r>
            <a:endParaRPr lang="en-US" sz="650" dirty="0">
              <a:latin typeface="Microsoft JhengHei" panose="020B0604030504040204" pitchFamily="34" charset="-120"/>
              <a:ea typeface="Microsoft JhengHei" panose="020B0604030504040204" pitchFamily="34" charset="-120"/>
            </a:endParaRPr>
          </a:p>
        </p:txBody>
      </p:sp>
      <p:sp>
        <p:nvSpPr>
          <p:cNvPr id="80"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활용 데이터</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1"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0" descr="preencoded.png"/>
          <p:cNvPicPr>
            <a:picLocks noChangeAspect="1"/>
          </p:cNvPicPr>
          <p:nvPr/>
        </p:nvPicPr>
        <p:blipFill>
          <a:blip r:embed="rId1"/>
          <a:stretch>
            <a:fillRect/>
          </a:stretch>
        </p:blipFill>
        <p:spPr>
          <a:xfrm>
            <a:off x="1241078" y="1477342"/>
            <a:ext cx="142875" cy="142875"/>
          </a:xfrm>
          <a:prstGeom prst="rect">
            <a:avLst/>
          </a:prstGeom>
        </p:spPr>
      </p:pic>
      <p:sp>
        <p:nvSpPr>
          <p:cNvPr id="8" name="Text 5"/>
          <p:cNvSpPr/>
          <p:nvPr/>
        </p:nvSpPr>
        <p:spPr>
          <a:xfrm>
            <a:off x="727397" y="1672456"/>
            <a:ext cx="1170310" cy="92720"/>
          </a:xfrm>
          <a:prstGeom prst="rect">
            <a:avLst/>
          </a:prstGeom>
          <a:noFill/>
        </p:spPr>
        <p:txBody>
          <a:bodyPr wrap="none" lIns="0" tIns="0" rIns="0" bIns="0" rtlCol="0" anchor="t"/>
          <a:lstStyle/>
          <a:p>
            <a:pPr marL="0" indent="0" algn="ctr">
              <a:lnSpc>
                <a:spcPts val="700"/>
              </a:lnSpc>
              <a:buNone/>
            </a:pPr>
            <a:r>
              <a:rPr lang="en-US" sz="500" dirty="0">
                <a:solidFill>
                  <a:srgbClr val="AEAEB2"/>
                </a:solidFill>
                <a:latin typeface="Microsoft JhengHei" panose="020B0604030504040204" pitchFamily="34" charset="-120"/>
                <a:ea typeface="Microsoft JhengHei" panose="020B0604030504040204" pitchFamily="34" charset="-120"/>
                <a:cs typeface="Microsoft JhengHei" panose="020B0604030504040204" pitchFamily="34" charset="-120"/>
              </a:rPr>
              <a:t>이미지를 생성하는 중 오류가 발생했습니다</a:t>
            </a:r>
            <a:endParaRPr lang="en-US" sz="500" dirty="0">
              <a:solidFill>
                <a:srgbClr val="AEAEB2"/>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42" name="그림 41"/>
          <p:cNvPicPr>
            <a:picLocks noChangeAspect="1"/>
          </p:cNvPicPr>
          <p:nvPr/>
        </p:nvPicPr>
        <p:blipFill>
          <a:blip r:embed="rId2"/>
          <a:stretch>
            <a:fillRect/>
          </a:stretch>
        </p:blipFill>
        <p:spPr>
          <a:xfrm>
            <a:off x="367529" y="817685"/>
            <a:ext cx="8363233" cy="3229586"/>
          </a:xfrm>
          <a:prstGeom prst="rect">
            <a:avLst/>
          </a:prstGeom>
        </p:spPr>
      </p:pic>
      <p:sp>
        <p:nvSpPr>
          <p:cNvPr id="43" name="Rectangle 7"/>
          <p:cNvSpPr/>
          <p:nvPr/>
        </p:nvSpPr>
        <p:spPr>
          <a:xfrm>
            <a:off x="512064" y="4407408"/>
            <a:ext cx="32004" cy="438912"/>
          </a:xfrm>
          <a:prstGeom prst="rect">
            <a:avLst/>
          </a:prstGeom>
          <a:solidFill>
            <a:srgbClr val="082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4" name="TextBox 43"/>
          <p:cNvSpPr txBox="1"/>
          <p:nvPr/>
        </p:nvSpPr>
        <p:spPr>
          <a:xfrm>
            <a:off x="640080" y="4423410"/>
            <a:ext cx="8001000" cy="141449"/>
          </a:xfrm>
          <a:prstGeom prst="rect">
            <a:avLst/>
          </a:prstGeom>
          <a:noFill/>
        </p:spPr>
        <p:txBody>
          <a:bodyPr wrap="square" lIns="0" tIns="0" rIns="0" bIns="0">
            <a:spAutoFit/>
          </a:bodyPr>
          <a:lstStyle/>
          <a:p>
            <a:r>
              <a:rPr sz="920" b="0">
                <a:solidFill>
                  <a:srgbClr val="5B6271"/>
                </a:solidFill>
                <a:latin typeface="Microsoft JhengHei" panose="020B0604030504040204" pitchFamily="34" charset="-120"/>
                <a:ea typeface="Microsoft JhengHei" panose="020B0604030504040204" pitchFamily="34" charset="-120"/>
                <a:cs typeface="Microsoft JhengHei" panose="020B0604030504040204" pitchFamily="34" charset="-120"/>
              </a:rPr>
              <a:t>데이터 수집부터 전처리·지표 산출·군집분석·정책 패키지 매칭까지 이어지는 전 과정을 하나의 분석 흐름으로 정리했습니다.</a:t>
            </a:r>
            <a:endParaRPr sz="920" b="0">
              <a:solidFill>
                <a:srgbClr val="5B6271"/>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5" name="TextBox 44"/>
          <p:cNvSpPr txBox="1"/>
          <p:nvPr/>
        </p:nvSpPr>
        <p:spPr>
          <a:xfrm>
            <a:off x="640080" y="4670298"/>
            <a:ext cx="8001000" cy="141449"/>
          </a:xfrm>
          <a:prstGeom prst="rect">
            <a:avLst/>
          </a:prstGeom>
          <a:noFill/>
        </p:spPr>
        <p:txBody>
          <a:bodyPr wrap="square" lIns="0" tIns="0" rIns="0" bIns="0">
            <a:spAutoFit/>
          </a:bodyPr>
          <a:lstStyle/>
          <a:p>
            <a:r>
              <a:rPr sz="920" b="0">
                <a:solidFill>
                  <a:srgbClr val="5B6271"/>
                </a:solidFill>
                <a:latin typeface="Microsoft JhengHei" panose="020B0604030504040204" pitchFamily="34" charset="-120"/>
                <a:ea typeface="Microsoft JhengHei" panose="020B0604030504040204" pitchFamily="34" charset="-120"/>
                <a:cs typeface="Microsoft JhengHei" panose="020B0604030504040204" pitchFamily="34" charset="-120"/>
              </a:rPr>
              <a:t>최종 결과는 생애주기별 위험지도와 복합 최고위험 TOP9, 맞춤형 정책 우선순위 제안으로 연결됩니다.</a:t>
            </a:r>
            <a:endParaRPr sz="920" b="0">
              <a:solidFill>
                <a:srgbClr val="5B6271"/>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9"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02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연구 설계</a:t>
            </a:r>
            <a:endParaRPr lang="en-US" sz="650" dirty="0">
              <a:latin typeface="Microsoft JhengHei" panose="020B0604030504040204" pitchFamily="34" charset="-120"/>
              <a:ea typeface="Microsoft JhengHei" panose="020B0604030504040204" pitchFamily="34" charset="-120"/>
            </a:endParaRPr>
          </a:p>
        </p:txBody>
      </p:sp>
      <p:sp>
        <p:nvSpPr>
          <p:cNvPr id="10"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연구 흐름도</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03 분석 방법론</a:t>
            </a:r>
            <a:endPar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삼중진단 프레임과 가중치</a:t>
            </a:r>
            <a:endParaRPr 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8" name="CardBg0"/>
          <p:cNvSpPr/>
          <p:nvPr/>
        </p:nvSpPr>
        <p:spPr>
          <a:xfrm>
            <a:off x="496119" y="928055"/>
            <a:ext cx="2650000" cy="975000"/>
          </a:xfrm>
          <a:prstGeom prst="roundRect">
            <a:avLst>
              <a:gd name="adj" fmla="val 2883"/>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9" name="CardTxt0"/>
          <p:cNvSpPr/>
          <p:nvPr/>
        </p:nvSpPr>
        <p:spPr>
          <a:xfrm>
            <a:off x="576119" y="988055"/>
            <a:ext cx="2490000" cy="855000"/>
          </a:xfrm>
          <a:prstGeom prst="rect">
            <a:avLst/>
          </a:prstGeom>
          <a:noFill/>
        </p:spPr>
        <p:txBody>
          <a:bodyPr wrap="square" lIns="0" tIns="0" rIns="0" bIns="0" rtlCol="0" anchor="t"/>
          <a:lstStyle/>
          <a:p>
            <a:pPr marL="0" indent="0" algn="l">
              <a:lnSpc>
                <a:spcPts val="1300"/>
              </a:lnSpc>
              <a:buNone/>
            </a:pPr>
            <a:r>
              <a:rPr lang="en-US" sz="9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인구 축 Population</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100"/>
              </a:lnSpc>
              <a:buNone/>
            </a:pPr>
            <a:r>
              <a:rPr lang="en-US" sz="7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지표: </a:t>
            </a: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연령별 1인가구 비율</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100"/>
              </a:lnSpc>
              <a:buNone/>
            </a:pPr>
            <a:r>
              <a:rPr lang="en-US" sz="7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데이터: </a:t>
            </a: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B031 거주인구 + 행안부 1인세대</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100"/>
              </a:lnSpc>
              <a:buNone/>
            </a:pPr>
            <a:r>
              <a:rPr lang="en-US" sz="7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가중치: </a:t>
            </a:r>
            <a:r>
              <a:rPr lang="en-US" sz="750"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20%  (전 연령 공통)</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050"/>
              </a:lnSpc>
              <a:buNone/>
            </a:pPr>
            <a:r>
              <a:rPr lang="en-US" sz="7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의미: </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잠재 취약집단의 집중 정도를 나타내는 기본 구조 지표. </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05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1인가구</a:t>
            </a:r>
            <a:r>
              <a:rPr lang="ko-KR" alt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를</a:t>
            </a:r>
            <a:r>
              <a:rPr lang="en-US" altLang="ko-KR"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고립</a:t>
            </a:r>
            <a:r>
              <a:rPr lang="en-US" altLang="ko-KR"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자체가</a:t>
            </a:r>
            <a:r>
              <a:rPr lang="en-US" altLang="ko-KR"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아닌</a:t>
            </a:r>
            <a:r>
              <a:rPr lang="en-US" altLang="ko-KR"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취약성 요인 중 하나로 해석.</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0" name="CardBg1"/>
          <p:cNvSpPr/>
          <p:nvPr/>
        </p:nvSpPr>
        <p:spPr>
          <a:xfrm>
            <a:off x="498024" y="2077715"/>
            <a:ext cx="2650000" cy="975000"/>
          </a:xfrm>
          <a:prstGeom prst="roundRect">
            <a:avLst>
              <a:gd name="adj" fmla="val 2883"/>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3" name="CardTxt1"/>
          <p:cNvSpPr/>
          <p:nvPr/>
        </p:nvSpPr>
        <p:spPr>
          <a:xfrm>
            <a:off x="578024" y="2137715"/>
            <a:ext cx="2490000" cy="855000"/>
          </a:xfrm>
          <a:prstGeom prst="rect">
            <a:avLst/>
          </a:prstGeom>
          <a:noFill/>
        </p:spPr>
        <p:txBody>
          <a:bodyPr wrap="square" lIns="0" tIns="0" rIns="0" bIns="0" rtlCol="0" anchor="t"/>
          <a:lstStyle/>
          <a:p>
            <a:pPr marL="0" indent="0" algn="l">
              <a:lnSpc>
                <a:spcPts val="1300"/>
              </a:lnSpc>
              <a:buNone/>
            </a:pPr>
            <a:r>
              <a:rPr lang="en-US" sz="9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이동 축 Mobility</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100"/>
              </a:lnSpc>
              <a:buNone/>
            </a:pPr>
            <a:r>
              <a:rPr lang="en-US" sz="7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지표: </a:t>
            </a: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연령별 생활이동량 저하</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100"/>
              </a:lnSpc>
              <a:buNone/>
            </a:pPr>
            <a:r>
              <a:rPr lang="en-US" sz="7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데이터: </a:t>
            </a: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B076 생활이동</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100"/>
              </a:lnSpc>
              <a:buNone/>
            </a:pPr>
            <a:r>
              <a:rPr lang="en-US" sz="7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가중치: </a:t>
            </a:r>
            <a:r>
              <a:rPr lang="en-US" sz="750"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청년·중장년 40% / 노년 35%</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050"/>
              </a:lnSpc>
              <a:buNone/>
            </a:pPr>
            <a:r>
              <a:rPr lang="en-US" sz="7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주의: </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고립의 직접 측정치가 아닌 활동 저하 대리 지표로 제한 해석. KT 통신 기반 특성 감안.</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4" name="CardBg2"/>
          <p:cNvSpPr/>
          <p:nvPr/>
        </p:nvSpPr>
        <p:spPr>
          <a:xfrm>
            <a:off x="496119" y="3227375"/>
            <a:ext cx="2650000" cy="975000"/>
          </a:xfrm>
          <a:prstGeom prst="roundRect">
            <a:avLst>
              <a:gd name="adj" fmla="val 2883"/>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5" name="CardTxt2"/>
          <p:cNvSpPr/>
          <p:nvPr/>
        </p:nvSpPr>
        <p:spPr>
          <a:xfrm>
            <a:off x="576119" y="3287375"/>
            <a:ext cx="2490000" cy="855000"/>
          </a:xfrm>
          <a:prstGeom prst="rect">
            <a:avLst/>
          </a:prstGeom>
          <a:noFill/>
        </p:spPr>
        <p:txBody>
          <a:bodyPr wrap="square" lIns="0" tIns="0" rIns="0" bIns="0" rtlCol="0" anchor="t"/>
          <a:lstStyle/>
          <a:p>
            <a:pPr marL="0" indent="0" algn="l">
              <a:lnSpc>
                <a:spcPts val="1300"/>
              </a:lnSpc>
              <a:buNone/>
            </a:pPr>
            <a:r>
              <a:rPr lang="en-US" sz="9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인프라 축 Infrastructure</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100"/>
              </a:lnSpc>
              <a:buNone/>
            </a:pPr>
            <a:r>
              <a:rPr lang="en-US" sz="7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지표: </a:t>
            </a: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의료·복지·교통 시설 접근성 밀도</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100"/>
              </a:lnSpc>
              <a:buNone/>
            </a:pPr>
            <a:r>
              <a:rPr lang="en-US" sz="7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데이터: </a:t>
            </a: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의료시설, 노인복지시설, 교통시설</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100"/>
              </a:lnSpc>
              <a:buNone/>
            </a:pPr>
            <a:r>
              <a:rPr lang="en-US" sz="75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가중치: </a:t>
            </a:r>
            <a:r>
              <a:rPr lang="en-US" sz="750"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청년·중장년 40% / 노년 45%</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050"/>
              </a:lnSpc>
              <a:buNone/>
            </a:pPr>
            <a:r>
              <a:rPr lang="en-US" sz="7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설계 근거: </a:t>
            </a: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노년층은 근접 인프라 의존도가 높아 가중치 상향.</a:t>
            </a:r>
            <a:endParaRPr 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36" name="v2_01_weight"/>
          <p:cNvPicPr>
            <a:picLocks noChangeAspect="1"/>
          </p:cNvPicPr>
          <p:nvPr/>
        </p:nvPicPr>
        <p:blipFill>
          <a:blip r:embed="rId1"/>
          <a:stretch>
            <a:fillRect/>
          </a:stretch>
        </p:blipFill>
        <p:spPr>
          <a:xfrm>
            <a:off x="3525000" y="928220"/>
            <a:ext cx="5200000" cy="2357037"/>
          </a:xfrm>
          <a:prstGeom prst="rect">
            <a:avLst/>
          </a:prstGeom>
        </p:spPr>
      </p:pic>
      <p:sp>
        <p:nvSpPr>
          <p:cNvPr id="37" name="MainBody"/>
          <p:cNvSpPr/>
          <p:nvPr/>
        </p:nvSpPr>
        <p:spPr>
          <a:xfrm>
            <a:off x="3524885" y="3498215"/>
            <a:ext cx="5210810" cy="422275"/>
          </a:xfrm>
          <a:prstGeom prst="rect">
            <a:avLst/>
          </a:prstGeom>
          <a:noFill/>
        </p:spPr>
        <p:txBody>
          <a:bodyPr wrap="square" lIns="0" tIns="0" rIns="0" bIns="0" rtlCol="0" anchor="t"/>
          <a:lstStyle/>
          <a:p>
            <a:pPr marL="0" indent="0" algn="l">
              <a:lnSpc>
                <a:spcPts val="1350"/>
              </a:lnSpc>
              <a:buNone/>
            </a:pPr>
            <a:r>
              <a:rPr lang="en-US"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복합위험지수는 인구·이동·인프라 세 축의 가중합으로 산출하며, 각 축은 </a:t>
            </a:r>
            <a:r>
              <a:rPr lang="en-US"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Min-Max </a:t>
            </a:r>
            <a:r>
              <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정규화(0~100점)를 적용합니다. </a:t>
            </a:r>
            <a:endPar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1350"/>
              </a:lnSpc>
              <a:buNone/>
            </a:pPr>
            <a:r>
              <a:rPr lang="en-US"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가중치는 개인 고립 판정이 아닌, 행정동 단위 정책 우선순위 비교를 위한 분석 기준입니다.</a:t>
            </a:r>
            <a:endPar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6" name="Text 29"/>
          <p:cNvSpPr/>
          <p:nvPr/>
        </p:nvSpPr>
        <p:spPr>
          <a:xfrm>
            <a:off x="626343" y="4614580"/>
            <a:ext cx="8021538" cy="118095"/>
          </a:xfrm>
          <a:prstGeom prst="rect">
            <a:avLst/>
          </a:prstGeom>
          <a:noFill/>
        </p:spPr>
        <p:txBody>
          <a:bodyPr wrap="none" lIns="0" tIns="0" rIns="0" bIns="0" rtlCol="0" anchor="t"/>
          <a:lstStyle/>
          <a:p>
            <a:pPr marL="0" indent="0" algn="l">
              <a:lnSpc>
                <a:spcPts val="900"/>
              </a:lnSpc>
              <a:buNone/>
            </a:pPr>
            <a:r>
              <a:rPr lang="ko-KR" altLang="en-US" sz="650" dirty="0">
                <a:latin typeface="Microsoft JhengHei" panose="020B0604030504040204" pitchFamily="34" charset="-120"/>
                <a:ea typeface="Microsoft JhengHei" panose="020B0604030504040204" pitchFamily="34" charset="-120"/>
                <a:cs typeface="Microsoft JhengHei" panose="020B0604030504040204" pitchFamily="34" charset="-120"/>
              </a:rPr>
              <a:t>고립 위험은 하나의 신호로 단정하지 않고, 인구·이동·인프라가 함께 취약한 지역을 정책 우선순위로 봅니다</a:t>
            </a:r>
            <a:r>
              <a:rPr lang="en-US" altLang="ko-KR" sz="650" dirty="0">
                <a:latin typeface="Microsoft JhengHei" panose="020B0604030504040204" pitchFamily="34" charset="-120"/>
                <a:ea typeface="Microsoft JhengHei" panose="020B0604030504040204" pitchFamily="34" charset="-120"/>
                <a:cs typeface="Microsoft JhengHei" panose="020B0604030504040204" pitchFamily="34" charset="-120"/>
              </a:rPr>
              <a:t>.</a:t>
            </a:r>
            <a:endParaRPr lang="en-US" altLang="ko-KR" sz="6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1" name="Shape 30"/>
          <p:cNvSpPr/>
          <p:nvPr/>
        </p:nvSpPr>
        <p:spPr>
          <a:xfrm>
            <a:off x="496119" y="4551983"/>
            <a:ext cx="9525" cy="254719"/>
          </a:xfrm>
          <a:prstGeom prst="rect">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496119" y="1017657"/>
            <a:ext cx="1526753" cy="155004"/>
          </a:xfrm>
          <a:prstGeom prst="rect">
            <a:avLst/>
          </a:prstGeom>
          <a:noFill/>
        </p:spPr>
        <p:txBody>
          <a:bodyPr wrap="none" lIns="0" tIns="0" rIns="0" bIns="0" rtlCol="0" anchor="t"/>
          <a:lstStyle/>
          <a:p>
            <a:pPr marL="0" indent="0" algn="l">
              <a:lnSpc>
                <a:spcPts val="1200"/>
              </a:lnSpc>
              <a:buNone/>
            </a:pPr>
            <a:r>
              <a:rPr lang="en-US" sz="9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결핍 유형별 정의 및 정책 방향</a:t>
            </a:r>
            <a:endParaRPr lang="en-US" sz="9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7" name="Shape 5"/>
          <p:cNvSpPr/>
          <p:nvPr/>
        </p:nvSpPr>
        <p:spPr>
          <a:xfrm>
            <a:off x="496119" y="1261958"/>
            <a:ext cx="1937742" cy="1024830"/>
          </a:xfrm>
          <a:prstGeom prst="roundRect">
            <a:avLst>
              <a:gd name="adj" fmla="val 4067"/>
            </a:avLst>
          </a:prstGeom>
          <a:solidFill>
            <a:srgbClr val="FFFFFF">
              <a:alpha val="95000"/>
            </a:srgbClr>
          </a:solidFill>
          <a:ln w="14288">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 name="Shape 6"/>
          <p:cNvSpPr/>
          <p:nvPr/>
        </p:nvSpPr>
        <p:spPr>
          <a:xfrm>
            <a:off x="510406" y="1276246"/>
            <a:ext cx="1909167" cy="297656"/>
          </a:xfrm>
          <a:prstGeom prst="roundRect">
            <a:avLst>
              <a:gd name="adj" fmla="val 824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9" name="Text 7"/>
          <p:cNvSpPr/>
          <p:nvPr/>
        </p:nvSpPr>
        <p:spPr>
          <a:xfrm>
            <a:off x="1390576" y="1329675"/>
            <a:ext cx="148828" cy="186035"/>
          </a:xfrm>
          <a:prstGeom prst="rect">
            <a:avLst/>
          </a:prstGeom>
          <a:noFill/>
        </p:spPr>
        <p:txBody>
          <a:bodyPr wrap="none" lIns="0" tIns="0" rIns="0" bIns="0" rtlCol="0" anchor="ctr"/>
          <a:lstStyle/>
          <a:p>
            <a:pPr marL="0" indent="0" algn="ctr">
              <a:lnSpc>
                <a:spcPct val="100000"/>
              </a:lnSpc>
              <a:buNone/>
            </a:pPr>
            <a:r>
              <a:rPr lang="en-US" sz="11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1</a:t>
            </a:r>
            <a:endParaRPr lang="en-US" sz="11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 name="Text 8"/>
          <p:cNvSpPr/>
          <p:nvPr/>
        </p:nvSpPr>
        <p:spPr>
          <a:xfrm>
            <a:off x="609600" y="1653227"/>
            <a:ext cx="1240408" cy="155004"/>
          </a:xfrm>
          <a:prstGeom prst="rect">
            <a:avLst/>
          </a:prstGeom>
          <a:noFill/>
        </p:spPr>
        <p:txBody>
          <a:bodyPr wrap="none" lIns="0" tIns="0" rIns="0" bIns="0" rtlCol="0" anchor="t"/>
          <a:lstStyle/>
          <a:p>
            <a:pPr marL="0" indent="0" algn="l">
              <a:lnSpc>
                <a:spcPts val="1200"/>
              </a:lnSpc>
              <a:buNone/>
            </a:pPr>
            <a:r>
              <a:rPr lang="en-US" sz="9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0형 인프라 양호</a:t>
            </a:r>
            <a:endParaRPr lang="en-US" sz="9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 name="Text 9"/>
          <p:cNvSpPr/>
          <p:nvPr/>
        </p:nvSpPr>
        <p:spPr>
          <a:xfrm>
            <a:off x="609600" y="1887557"/>
            <a:ext cx="1710779" cy="285750"/>
          </a:xfrm>
          <a:prstGeom prst="rect">
            <a:avLst/>
          </a:prstGeom>
          <a:noFill/>
        </p:spPr>
        <p:txBody>
          <a:bodyPr wrap="square" lIns="0" tIns="0" rIns="0" bIns="0" rtlCol="0" anchor="t"/>
          <a:lstStyle/>
          <a:p>
            <a:pPr marL="0" indent="0" algn="l">
              <a:lnSpc>
                <a:spcPts val="110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의료·복지·교통 모두 상대적으로 양호한 지역. 정기 모니터링 중심으로 유지.</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 name="Shape 10"/>
          <p:cNvSpPr/>
          <p:nvPr/>
        </p:nvSpPr>
        <p:spPr>
          <a:xfrm>
            <a:off x="2513186" y="1261958"/>
            <a:ext cx="1937817" cy="1024830"/>
          </a:xfrm>
          <a:prstGeom prst="roundRect">
            <a:avLst>
              <a:gd name="adj" fmla="val 4067"/>
            </a:avLst>
          </a:prstGeom>
          <a:solidFill>
            <a:srgbClr val="FFFFFF">
              <a:alpha val="95000"/>
            </a:srgbClr>
          </a:solidFill>
          <a:ln w="14288">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3" name="Shape 11"/>
          <p:cNvSpPr/>
          <p:nvPr/>
        </p:nvSpPr>
        <p:spPr>
          <a:xfrm>
            <a:off x="2527474" y="1276246"/>
            <a:ext cx="1909242" cy="297656"/>
          </a:xfrm>
          <a:prstGeom prst="roundRect">
            <a:avLst>
              <a:gd name="adj" fmla="val 824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4" name="Text 12"/>
          <p:cNvSpPr/>
          <p:nvPr/>
        </p:nvSpPr>
        <p:spPr>
          <a:xfrm>
            <a:off x="3407643" y="1329675"/>
            <a:ext cx="148828" cy="186035"/>
          </a:xfrm>
          <a:prstGeom prst="rect">
            <a:avLst/>
          </a:prstGeom>
          <a:noFill/>
        </p:spPr>
        <p:txBody>
          <a:bodyPr wrap="none" lIns="0" tIns="0" rIns="0" bIns="0" rtlCol="0" anchor="ctr"/>
          <a:lstStyle/>
          <a:p>
            <a:pPr marL="0" indent="0" algn="ctr">
              <a:lnSpc>
                <a:spcPct val="100000"/>
              </a:lnSpc>
              <a:buNone/>
            </a:pPr>
            <a:r>
              <a:rPr lang="en-US" sz="11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2</a:t>
            </a:r>
            <a:endParaRPr lang="en-US" sz="11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5" name="Text 13"/>
          <p:cNvSpPr/>
          <p:nvPr/>
        </p:nvSpPr>
        <p:spPr>
          <a:xfrm>
            <a:off x="2626668" y="1653227"/>
            <a:ext cx="1240408" cy="155004"/>
          </a:xfrm>
          <a:prstGeom prst="rect">
            <a:avLst/>
          </a:prstGeom>
          <a:noFill/>
        </p:spPr>
        <p:txBody>
          <a:bodyPr wrap="none" lIns="0" tIns="0" rIns="0" bIns="0" rtlCol="0" anchor="t"/>
          <a:lstStyle/>
          <a:p>
            <a:pPr marL="0" indent="0" algn="l">
              <a:lnSpc>
                <a:spcPts val="1200"/>
              </a:lnSpc>
              <a:buNone/>
            </a:pPr>
            <a:r>
              <a:rPr lang="en-US" sz="9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1형 단일 결핍</a:t>
            </a:r>
            <a:endParaRPr lang="en-US" sz="9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6" name="Text 14"/>
          <p:cNvSpPr/>
          <p:nvPr/>
        </p:nvSpPr>
        <p:spPr>
          <a:xfrm>
            <a:off x="2626668" y="1887557"/>
            <a:ext cx="1710854" cy="285750"/>
          </a:xfrm>
          <a:prstGeom prst="rect">
            <a:avLst/>
          </a:prstGeom>
          <a:noFill/>
        </p:spPr>
        <p:txBody>
          <a:bodyPr wrap="square" lIns="0" tIns="0" rIns="0" bIns="0" rtlCol="0" anchor="t"/>
          <a:lstStyle/>
          <a:p>
            <a:pPr marL="0" indent="0" algn="l">
              <a:lnSpc>
                <a:spcPts val="110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의료·복지·교통 중 1개 축에서 접근성 보완 필요. 해당 축 단일 서비스 보완 중심.</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7" name="Shape 15"/>
          <p:cNvSpPr/>
          <p:nvPr/>
        </p:nvSpPr>
        <p:spPr>
          <a:xfrm>
            <a:off x="496119" y="2366114"/>
            <a:ext cx="1937742" cy="1167705"/>
          </a:xfrm>
          <a:prstGeom prst="roundRect">
            <a:avLst>
              <a:gd name="adj" fmla="val 3569"/>
            </a:avLst>
          </a:prstGeom>
          <a:solidFill>
            <a:srgbClr val="FFFFFF">
              <a:alpha val="95000"/>
            </a:srgbClr>
          </a:solidFill>
          <a:ln w="14288">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8" name="Shape 16"/>
          <p:cNvSpPr/>
          <p:nvPr/>
        </p:nvSpPr>
        <p:spPr>
          <a:xfrm>
            <a:off x="510406" y="2380402"/>
            <a:ext cx="1909167" cy="297656"/>
          </a:xfrm>
          <a:prstGeom prst="roundRect">
            <a:avLst>
              <a:gd name="adj" fmla="val 824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9" name="Text 17"/>
          <p:cNvSpPr/>
          <p:nvPr/>
        </p:nvSpPr>
        <p:spPr>
          <a:xfrm>
            <a:off x="1390576" y="2433831"/>
            <a:ext cx="148828" cy="186035"/>
          </a:xfrm>
          <a:prstGeom prst="rect">
            <a:avLst/>
          </a:prstGeom>
          <a:noFill/>
        </p:spPr>
        <p:txBody>
          <a:bodyPr wrap="none" lIns="0" tIns="0" rIns="0" bIns="0" rtlCol="0" anchor="ctr"/>
          <a:lstStyle/>
          <a:p>
            <a:pPr marL="0" indent="0" algn="ctr">
              <a:lnSpc>
                <a:spcPct val="100000"/>
              </a:lnSpc>
              <a:buNone/>
            </a:pPr>
            <a:r>
              <a:rPr lang="en-US" sz="11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3</a:t>
            </a:r>
            <a:endParaRPr lang="en-US" sz="11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0" name="Text 18"/>
          <p:cNvSpPr/>
          <p:nvPr/>
        </p:nvSpPr>
        <p:spPr>
          <a:xfrm>
            <a:off x="609600" y="2757383"/>
            <a:ext cx="1240408" cy="155004"/>
          </a:xfrm>
          <a:prstGeom prst="rect">
            <a:avLst/>
          </a:prstGeom>
          <a:noFill/>
        </p:spPr>
        <p:txBody>
          <a:bodyPr wrap="none" lIns="0" tIns="0" rIns="0" bIns="0" rtlCol="0" anchor="t"/>
          <a:lstStyle/>
          <a:p>
            <a:pPr marL="0" indent="0" algn="l">
              <a:lnSpc>
                <a:spcPts val="1200"/>
              </a:lnSpc>
              <a:buNone/>
            </a:pPr>
            <a:r>
              <a:rPr lang="en-US" sz="9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2형 복합 결핍</a:t>
            </a:r>
            <a:endParaRPr lang="en-US" sz="9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1" name="Text 19"/>
          <p:cNvSpPr/>
          <p:nvPr/>
        </p:nvSpPr>
        <p:spPr>
          <a:xfrm>
            <a:off x="609600" y="2991713"/>
            <a:ext cx="1710779" cy="285750"/>
          </a:xfrm>
          <a:prstGeom prst="rect">
            <a:avLst/>
          </a:prstGeom>
          <a:noFill/>
        </p:spPr>
        <p:txBody>
          <a:bodyPr wrap="square" lIns="0" tIns="0" rIns="0" bIns="0" rtlCol="0" anchor="t"/>
          <a:lstStyle/>
          <a:p>
            <a:pPr marL="0" indent="0" algn="l">
              <a:lnSpc>
                <a:spcPts val="110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2개 축에서 결핍 가능성 확인. 통합돌봄, 이동지원, 의료연계 등 복합 패키지 필요.</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2" name="Shape 20"/>
          <p:cNvSpPr/>
          <p:nvPr/>
        </p:nvSpPr>
        <p:spPr>
          <a:xfrm>
            <a:off x="2513186" y="2366114"/>
            <a:ext cx="1937817" cy="1167705"/>
          </a:xfrm>
          <a:prstGeom prst="roundRect">
            <a:avLst>
              <a:gd name="adj" fmla="val 3569"/>
            </a:avLst>
          </a:prstGeom>
          <a:solidFill>
            <a:srgbClr val="FFFFFF">
              <a:alpha val="95000"/>
            </a:srgbClr>
          </a:solidFill>
          <a:ln w="14288">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3" name="Shape 21"/>
          <p:cNvSpPr/>
          <p:nvPr/>
        </p:nvSpPr>
        <p:spPr>
          <a:xfrm>
            <a:off x="2527474" y="2380402"/>
            <a:ext cx="1909242" cy="297656"/>
          </a:xfrm>
          <a:prstGeom prst="roundRect">
            <a:avLst>
              <a:gd name="adj" fmla="val 824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4" name="Text 22"/>
          <p:cNvSpPr/>
          <p:nvPr/>
        </p:nvSpPr>
        <p:spPr>
          <a:xfrm>
            <a:off x="3407643" y="2433831"/>
            <a:ext cx="148828" cy="186035"/>
          </a:xfrm>
          <a:prstGeom prst="rect">
            <a:avLst/>
          </a:prstGeom>
          <a:noFill/>
        </p:spPr>
        <p:txBody>
          <a:bodyPr wrap="none" lIns="0" tIns="0" rIns="0" bIns="0" rtlCol="0" anchor="ctr"/>
          <a:lstStyle/>
          <a:p>
            <a:pPr marL="0" indent="0" algn="ctr">
              <a:lnSpc>
                <a:spcPct val="100000"/>
              </a:lnSpc>
              <a:buNone/>
            </a:pPr>
            <a:r>
              <a:rPr lang="en-US" sz="11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4</a:t>
            </a:r>
            <a:endParaRPr lang="en-US" sz="11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5" name="Text 23"/>
          <p:cNvSpPr/>
          <p:nvPr/>
        </p:nvSpPr>
        <p:spPr>
          <a:xfrm>
            <a:off x="2626668" y="2757383"/>
            <a:ext cx="1240408" cy="155004"/>
          </a:xfrm>
          <a:prstGeom prst="rect">
            <a:avLst/>
          </a:prstGeom>
          <a:noFill/>
        </p:spPr>
        <p:txBody>
          <a:bodyPr wrap="none" lIns="0" tIns="0" rIns="0" bIns="0" rtlCol="0" anchor="t"/>
          <a:lstStyle/>
          <a:p>
            <a:pPr marL="0" indent="0" algn="l">
              <a:lnSpc>
                <a:spcPts val="1200"/>
              </a:lnSpc>
              <a:buNone/>
            </a:pPr>
            <a:r>
              <a:rPr lang="en-US" sz="9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3형 삼중 결핍</a:t>
            </a:r>
            <a:endParaRPr lang="en-US" sz="9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6" name="Text 24"/>
          <p:cNvSpPr/>
          <p:nvPr/>
        </p:nvSpPr>
        <p:spPr>
          <a:xfrm>
            <a:off x="2626668" y="2991713"/>
            <a:ext cx="1710854" cy="428625"/>
          </a:xfrm>
          <a:prstGeom prst="rect">
            <a:avLst/>
          </a:prstGeom>
          <a:noFill/>
        </p:spPr>
        <p:txBody>
          <a:bodyPr wrap="square" lIns="0" tIns="0" rIns="0" bIns="0" rtlCol="0" anchor="t"/>
          <a:lstStyle/>
          <a:p>
            <a:pPr marL="0" indent="0" algn="l">
              <a:lnSpc>
                <a:spcPts val="110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의료·복지·교통 모두에서 접근성 보완 필요성이 큰 지역. 동 단위 정책 패키지 우선 검토.</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7" name="Text 25"/>
          <p:cNvSpPr/>
          <p:nvPr/>
        </p:nvSpPr>
        <p:spPr>
          <a:xfrm>
            <a:off x="5155565" y="1017905"/>
            <a:ext cx="2329815" cy="154940"/>
          </a:xfrm>
          <a:prstGeom prst="rect">
            <a:avLst/>
          </a:prstGeom>
          <a:noFill/>
        </p:spPr>
        <p:txBody>
          <a:bodyPr wrap="none" lIns="0" tIns="0" rIns="0" bIns="0" rtlCol="0" anchor="t"/>
          <a:lstStyle/>
          <a:p>
            <a:pPr marL="0" indent="0" algn="l">
              <a:lnSpc>
                <a:spcPts val="1200"/>
              </a:lnSpc>
              <a:buNone/>
            </a:pPr>
            <a:r>
              <a:rPr lang="en-US" sz="9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인프라 결핍 유형 분포 (행정동 단위 분석 결과)</a:t>
            </a:r>
            <a:endParaRPr lang="en-US" sz="9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9" name="Text 42"/>
          <p:cNvSpPr/>
          <p:nvPr/>
        </p:nvSpPr>
        <p:spPr>
          <a:xfrm>
            <a:off x="5155565" y="3332480"/>
            <a:ext cx="2627630" cy="142875"/>
          </a:xfrm>
          <a:prstGeom prst="rect">
            <a:avLst/>
          </a:prstGeom>
          <a:noFill/>
        </p:spPr>
        <p:txBody>
          <a:bodyPr wrap="none" lIns="0" tIns="0" rIns="0" bIns="0" rtlCol="0" anchor="t"/>
          <a:lstStyle/>
          <a:p>
            <a:pPr marL="0" indent="0" algn="l">
              <a:lnSpc>
                <a:spcPts val="110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분석 기준 : 결핍 유형 분류는 인구 1,000명당 시설 밀도 기준.</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0" name="Text 43"/>
          <p:cNvSpPr/>
          <p:nvPr/>
        </p:nvSpPr>
        <p:spPr>
          <a:xfrm>
            <a:off x="496119" y="3712413"/>
            <a:ext cx="8151763" cy="428625"/>
          </a:xfrm>
          <a:prstGeom prst="rect">
            <a:avLst/>
          </a:prstGeom>
          <a:noFill/>
        </p:spPr>
        <p:txBody>
          <a:bodyPr wrap="square" lIns="0" tIns="0" rIns="0" bIns="0" rtlCol="0" anchor="t"/>
          <a:lstStyle/>
          <a:p>
            <a:pPr marL="0" indent="0" algn="l">
              <a:lnSpc>
                <a:spcPts val="110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위험점수가 높더라도 부족한 인프라는 지역마다 다릅니다. 어떤 지역은 의료 접근성이 부족하고, 어떤 지역은 복지시설이 부족하며, 또 다른 지역은 교통 접근성이 취약할 수 있습니다. 따라서 본 연구는 의료·복지·교통 인프라를 인구 1,000명당 시설 밀도로 변환한 뒤, 행정동별 결핍 유형을 0형부터 3형까지 분류했습니다. 이 결핍 유형은 위험지수를 실제 정책 패키지로 연결하는 핵심 매개입니다. 같은 고위험 행정동이라도 결핍 유형이 다르면 필요한 정책 조합도 달라져야 합니다.</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53" name="Picture 52" descr="도넛차트"/>
          <p:cNvPicPr>
            <a:picLocks noChangeAspect="1"/>
          </p:cNvPicPr>
          <p:nvPr/>
        </p:nvPicPr>
        <p:blipFill>
          <a:blip r:embed="rId1"/>
          <a:stretch>
            <a:fillRect/>
          </a:stretch>
        </p:blipFill>
        <p:spPr>
          <a:xfrm>
            <a:off x="5155565" y="1261745"/>
            <a:ext cx="2627630" cy="1981835"/>
          </a:xfrm>
          <a:prstGeom prst="rect">
            <a:avLst/>
          </a:prstGeom>
        </p:spPr>
      </p:pic>
      <p:sp>
        <p:nvSpPr>
          <p:cNvPr id="54"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55" name="Text 1"/>
          <p:cNvSpPr/>
          <p:nvPr/>
        </p:nvSpPr>
        <p:spPr>
          <a:xfrm>
            <a:off x="559371" y="171792"/>
            <a:ext cx="524470" cy="124867"/>
          </a:xfrm>
          <a:prstGeom prst="rect">
            <a:avLst/>
          </a:prstGeom>
          <a:noFill/>
        </p:spPr>
        <p:txBody>
          <a:bodyPr wrap="none" lIns="0" tIns="0" rIns="0" bIns="0" rtlCol="0" anchor="t"/>
          <a:lstStyle/>
          <a:p>
            <a:pPr>
              <a:lnSpc>
                <a:spcPts val="950"/>
              </a:lnSpc>
            </a:pPr>
            <a:r>
              <a:rPr lang="en-US" altLang="ko-KR"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03 </a:t>
            </a:r>
            <a:r>
              <a:rPr lang="en-US" altLang="ko-KR" sz="65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분석</a:t>
            </a:r>
            <a:r>
              <a:rPr lang="en-US" altLang="ko-KR"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altLang="ko-KR" sz="65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방법론</a:t>
            </a:r>
            <a:endParaRPr lang="en-US" altLang="ko-KR" sz="650" dirty="0">
              <a:latin typeface="Microsoft JhengHei" panose="020B0604030504040204" pitchFamily="34" charset="-120"/>
              <a:ea typeface="Microsoft JhengHei" panose="020B0604030504040204" pitchFamily="34" charset="-120"/>
            </a:endParaRPr>
          </a:p>
        </p:txBody>
      </p:sp>
      <p:sp>
        <p:nvSpPr>
          <p:cNvPr id="56"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인프라</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결핍</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유형</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분류</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7"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96" name="Text 29"/>
          <p:cNvSpPr/>
          <p:nvPr/>
        </p:nvSpPr>
        <p:spPr>
          <a:xfrm>
            <a:off x="626343" y="4614580"/>
            <a:ext cx="8021538" cy="118095"/>
          </a:xfrm>
          <a:prstGeom prst="rect">
            <a:avLst/>
          </a:prstGeom>
          <a:noFill/>
        </p:spPr>
        <p:txBody>
          <a:bodyPr wrap="none" lIns="0" tIns="0" rIns="0" bIns="0" rtlCol="0" anchor="t"/>
          <a:lstStyle/>
          <a:p>
            <a:pPr marL="0" indent="0" algn="l">
              <a:lnSpc>
                <a:spcPts val="900"/>
              </a:lnSpc>
              <a:buNone/>
            </a:pPr>
            <a:r>
              <a:rPr lang="ko-KR" altLang="en-US" sz="650" dirty="0">
                <a:latin typeface="Microsoft JhengHei" panose="020B0604030504040204" pitchFamily="34" charset="-120"/>
                <a:ea typeface="Microsoft JhengHei" panose="020B0604030504040204" pitchFamily="34" charset="-120"/>
                <a:cs typeface="Microsoft JhengHei" panose="020B0604030504040204" pitchFamily="34" charset="-120"/>
              </a:rPr>
              <a:t>위험의 원인을 알아야 필요한 정책을 정할 수 있습니다.</a:t>
            </a:r>
            <a:endParaRPr lang="ko-KR" altLang="en-US" sz="6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8" name="Shape 30"/>
          <p:cNvSpPr/>
          <p:nvPr/>
        </p:nvSpPr>
        <p:spPr>
          <a:xfrm>
            <a:off x="496119" y="4551983"/>
            <a:ext cx="9525" cy="254719"/>
          </a:xfrm>
          <a:prstGeom prst="rect">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9"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03 분석 방법론</a:t>
            </a:r>
            <a:endPar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0"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K-Means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군집분</a:t>
            </a:r>
            <a:r>
              <a:rPr lang="ko-KR" altLang="en-US" sz="1600" u="heavy"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석</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1"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70" name="Shape 4"/>
          <p:cNvSpPr/>
          <p:nvPr/>
        </p:nvSpPr>
        <p:spPr>
          <a:xfrm>
            <a:off x="496119" y="1428006"/>
            <a:ext cx="1562919" cy="868263"/>
          </a:xfrm>
          <a:prstGeom prst="roundRect">
            <a:avLst>
              <a:gd name="adj" fmla="val 4200"/>
            </a:avLst>
          </a:prstGeom>
          <a:solidFill>
            <a:srgbClr val="DFDFE0"/>
          </a:solidFill>
        </p:spPr>
        <p:txBody>
          <a:bodyPr/>
          <a:lstStyle/>
          <a:p>
            <a:endParaRPr lang="ko-KR" altLang="en-US">
              <a:latin typeface="Microsoft JhengHei" panose="020B0604030504040204" pitchFamily="34" charset="-120"/>
              <a:ea typeface="Microsoft JhengHei" panose="020B0604030504040204" pitchFamily="34" charset="-120"/>
            </a:endParaRPr>
          </a:p>
        </p:txBody>
      </p:sp>
      <p:pic>
        <p:nvPicPr>
          <p:cNvPr id="71" name="Image 0" descr="preencoded.png"/>
          <p:cNvPicPr>
            <a:picLocks noChangeAspect="1"/>
          </p:cNvPicPr>
          <p:nvPr/>
        </p:nvPicPr>
        <p:blipFill>
          <a:blip r:embed="rId1"/>
          <a:stretch>
            <a:fillRect/>
          </a:stretch>
        </p:blipFill>
        <p:spPr>
          <a:xfrm>
            <a:off x="1206103" y="1727969"/>
            <a:ext cx="142875" cy="142875"/>
          </a:xfrm>
          <a:prstGeom prst="rect">
            <a:avLst/>
          </a:prstGeom>
        </p:spPr>
      </p:pic>
      <p:sp>
        <p:nvSpPr>
          <p:cNvPr id="72" name="Text 5"/>
          <p:cNvSpPr/>
          <p:nvPr/>
        </p:nvSpPr>
        <p:spPr>
          <a:xfrm>
            <a:off x="692423" y="1923455"/>
            <a:ext cx="1170310" cy="90636"/>
          </a:xfrm>
          <a:prstGeom prst="rect">
            <a:avLst/>
          </a:prstGeom>
          <a:noFill/>
        </p:spPr>
        <p:txBody>
          <a:bodyPr wrap="none" lIns="0" tIns="0" rIns="0" bIns="0" rtlCol="0" anchor="t"/>
          <a:lstStyle/>
          <a:p>
            <a:pPr marL="0" indent="0" algn="ctr">
              <a:lnSpc>
                <a:spcPts val="700"/>
              </a:lnSpc>
              <a:buNone/>
            </a:pPr>
            <a:r>
              <a:rPr lang="en-US" sz="500" dirty="0">
                <a:solidFill>
                  <a:srgbClr val="AEAEB2"/>
                </a:solidFill>
                <a:latin typeface="Microsoft JhengHei" panose="020B0604030504040204" pitchFamily="34" charset="-120"/>
                <a:ea typeface="Microsoft JhengHei" panose="020B0604030504040204" pitchFamily="34" charset="-120"/>
                <a:cs typeface="Microsoft JhengHei" panose="020B0604030504040204" pitchFamily="34" charset="-120"/>
              </a:rPr>
              <a:t>이미지를 생성하는 중 오류가 발생했습니다</a:t>
            </a:r>
            <a:endParaRPr lang="en-US" sz="500" dirty="0">
              <a:solidFill>
                <a:srgbClr val="AEAEB2"/>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73" name="Text 6"/>
          <p:cNvSpPr/>
          <p:nvPr/>
        </p:nvSpPr>
        <p:spPr>
          <a:xfrm>
            <a:off x="496119" y="2364581"/>
            <a:ext cx="4388123" cy="118095"/>
          </a:xfrm>
          <a:prstGeom prst="rect">
            <a:avLst/>
          </a:prstGeom>
          <a:noFill/>
        </p:spPr>
        <p:txBody>
          <a:bodyPr wrap="none" lIns="0" tIns="0" rIns="0" bIns="0" rtlCol="0" anchor="t"/>
          <a:lstStyle/>
          <a:p>
            <a:pPr marL="0" indent="0" algn="l">
              <a:lnSpc>
                <a:spcPts val="900"/>
              </a:lnSpc>
              <a:buNone/>
            </a:pPr>
            <a:r>
              <a:rPr lang="en-US" sz="650" i="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 행정동 군집 유형 분포도 — 색상별 군집 유형 구분</a:t>
            </a:r>
            <a:endParaRPr lang="en-US" sz="650" i="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5" name="Text 28"/>
          <p:cNvSpPr/>
          <p:nvPr/>
        </p:nvSpPr>
        <p:spPr>
          <a:xfrm>
            <a:off x="495935" y="3876040"/>
            <a:ext cx="5727065" cy="236220"/>
          </a:xfrm>
          <a:prstGeom prst="rect">
            <a:avLst/>
          </a:prstGeom>
          <a:noFill/>
        </p:spPr>
        <p:txBody>
          <a:bodyPr wrap="square" lIns="0" tIns="0" rIns="0" bIns="0" rtlCol="0" anchor="t"/>
          <a:lstStyle/>
          <a:p>
            <a:pPr marL="0" indent="0" algn="l">
              <a:lnSpc>
                <a:spcPts val="90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K-Means 군집분석은 위험도를 단순히 높고 낮음으로 구분하기 위한 것이 아니라, 비슷한 생활·이동·인프라 구조를 가진 행정동을 유형화하기 위해 사용했습니다. 같은 위험점수를 가진 지역이라도 1인가구 집중형인지, 도심상업형인지, 활동적 도심형인지에 따라 필요한 정책 접근은 달라질 수 있습니다. 따라서 군집분석은 이후 정책 패키지 매칭과 플랫폼 추천 기준의 기초가 됩니다.</a:t>
            </a:r>
            <a:endPar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6" name="Text 29"/>
          <p:cNvSpPr/>
          <p:nvPr/>
        </p:nvSpPr>
        <p:spPr>
          <a:xfrm>
            <a:off x="626343" y="4614580"/>
            <a:ext cx="8021538" cy="118095"/>
          </a:xfrm>
          <a:prstGeom prst="rect">
            <a:avLst/>
          </a:prstGeom>
          <a:noFill/>
        </p:spPr>
        <p:txBody>
          <a:bodyPr wrap="none" lIns="0" tIns="0" rIns="0" bIns="0" rtlCol="0" anchor="t"/>
          <a:lstStyle/>
          <a:p>
            <a:pPr marL="0" indent="0" algn="l">
              <a:lnSpc>
                <a:spcPts val="900"/>
              </a:lnSpc>
              <a:buNone/>
            </a:pPr>
            <a:r>
              <a:rPr lang="ko-KR" altLang="en-US" sz="650" dirty="0">
                <a:latin typeface="Microsoft JhengHei" panose="020B0604030504040204" pitchFamily="34" charset="-120"/>
                <a:ea typeface="Microsoft JhengHei" panose="020B0604030504040204" pitchFamily="34" charset="-120"/>
                <a:cs typeface="Microsoft JhengHei" panose="020B0604030504040204" pitchFamily="34" charset="-120"/>
              </a:rPr>
              <a:t>군집은 순위가 아니라 정책 연결을 위한 원인 유형입니다.</a:t>
            </a:r>
            <a:endParaRPr lang="ko-KR" altLang="en-US" sz="6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7" name="Shape 30"/>
          <p:cNvSpPr/>
          <p:nvPr/>
        </p:nvSpPr>
        <p:spPr>
          <a:xfrm>
            <a:off x="496119" y="4551983"/>
            <a:ext cx="9525" cy="254719"/>
          </a:xfrm>
          <a:prstGeom prst="rect">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endParaRPr>
          </a:p>
        </p:txBody>
      </p:sp>
      <p:pic>
        <p:nvPicPr>
          <p:cNvPr id="98" name="v2_04_cluster"/>
          <p:cNvPicPr>
            <a:picLocks noChangeAspect="1"/>
          </p:cNvPicPr>
          <p:nvPr/>
        </p:nvPicPr>
        <p:blipFill>
          <a:blip r:embed="rId2"/>
          <a:stretch>
            <a:fillRect/>
          </a:stretch>
        </p:blipFill>
        <p:spPr>
          <a:xfrm>
            <a:off x="495300" y="1016000"/>
            <a:ext cx="5723890" cy="2732405"/>
          </a:xfrm>
          <a:prstGeom prst="rect">
            <a:avLst/>
          </a:prstGeom>
        </p:spPr>
      </p:pic>
      <p:sp>
        <p:nvSpPr>
          <p:cNvPr id="99" name="Text 7"/>
          <p:cNvSpPr/>
          <p:nvPr/>
        </p:nvSpPr>
        <p:spPr>
          <a:xfrm>
            <a:off x="6775916" y="970836"/>
            <a:ext cx="1085404" cy="135657"/>
          </a:xfrm>
          <a:prstGeom prst="rect">
            <a:avLst/>
          </a:prstGeom>
          <a:noFill/>
        </p:spPr>
        <p:txBody>
          <a:bodyPr wrap="none" lIns="0" tIns="0" rIns="0" bIns="0" rtlCol="0" anchor="t"/>
          <a:lstStyle/>
          <a:p>
            <a:pPr marL="0" indent="0" algn="l">
              <a:lnSpc>
                <a:spcPts val="1050"/>
              </a:lnSpc>
              <a:buNone/>
            </a:pPr>
            <a:r>
              <a:rPr lang="en-US" sz="8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K=4 주요 군집 + </a:t>
            </a:r>
            <a:endParaRPr lang="en-US" sz="8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0" name="Shape 8"/>
          <p:cNvSpPr/>
          <p:nvPr/>
        </p:nvSpPr>
        <p:spPr>
          <a:xfrm>
            <a:off x="6775916" y="1174805"/>
            <a:ext cx="1835821" cy="703359"/>
          </a:xfrm>
          <a:prstGeom prst="roundRect">
            <a:avLst>
              <a:gd name="adj" fmla="val 6151"/>
            </a:avLst>
          </a:prstGeom>
          <a:solidFill>
            <a:srgbClr val="FFFFFF">
              <a:alpha val="95000"/>
            </a:srgbClr>
          </a:solidFill>
          <a:ln w="9525">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01" name="Shape 9"/>
          <p:cNvSpPr/>
          <p:nvPr/>
        </p:nvSpPr>
        <p:spPr>
          <a:xfrm>
            <a:off x="6766391" y="1174805"/>
            <a:ext cx="38100" cy="703359"/>
          </a:xfrm>
          <a:prstGeom prst="roundRect">
            <a:avLst>
              <a:gd name="adj" fmla="val 95721"/>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02" name="Text 10"/>
          <p:cNvSpPr/>
          <p:nvPr/>
        </p:nvSpPr>
        <p:spPr>
          <a:xfrm>
            <a:off x="6900783" y="1271096"/>
            <a:ext cx="1477268" cy="135657"/>
          </a:xfrm>
          <a:prstGeom prst="rect">
            <a:avLst/>
          </a:prstGeom>
          <a:noFill/>
        </p:spPr>
        <p:txBody>
          <a:bodyPr wrap="none" lIns="0" tIns="0" rIns="0" bIns="0" rtlCol="0" anchor="t"/>
          <a:lstStyle/>
          <a:p>
            <a:pPr marL="0" indent="0" algn="l">
              <a:lnSpc>
                <a:spcPts val="1050"/>
              </a:lnSpc>
              <a:buNone/>
            </a:pPr>
            <a:r>
              <a:rPr lang="en-US" sz="850" dirty="0">
                <a:solidFill>
                  <a:srgbClr val="E6A15A"/>
                </a:solidFill>
                <a:latin typeface="Microsoft JhengHei" panose="020B0604030504040204" pitchFamily="34" charset="-120"/>
                <a:ea typeface="Microsoft JhengHei" panose="020B0604030504040204" pitchFamily="34" charset="-120"/>
                <a:cs typeface="Microsoft JhengHei" panose="020B0604030504040204" pitchFamily="34" charset="-120"/>
              </a:rPr>
              <a:t>군집 1 :</a:t>
            </a: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1인가구 </a:t>
            </a:r>
            <a:r>
              <a:rPr lang="en-US" sz="85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집중형</a:t>
            </a: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 78개 동</a:t>
            </a:r>
            <a:endParaRPr lang="en-US" sz="850" dirty="0">
              <a:latin typeface="Microsoft JhengHei" panose="020B0604030504040204" pitchFamily="34" charset="-120"/>
              <a:ea typeface="Microsoft JhengHei" panose="020B0604030504040204" pitchFamily="34" charset="-120"/>
            </a:endParaRPr>
          </a:p>
        </p:txBody>
      </p:sp>
      <p:sp>
        <p:nvSpPr>
          <p:cNvPr id="103" name="Text 11"/>
          <p:cNvSpPr/>
          <p:nvPr/>
        </p:nvSpPr>
        <p:spPr>
          <a:xfrm>
            <a:off x="6900783" y="1467475"/>
            <a:ext cx="1524372" cy="354285"/>
          </a:xfrm>
          <a:prstGeom prst="rect">
            <a:avLst/>
          </a:prstGeom>
          <a:noFill/>
        </p:spPr>
        <p:txBody>
          <a:bodyPr wrap="square" lIns="0" tIns="0" rIns="0" bIns="0" rtlCol="0" anchor="t"/>
          <a:lstStyle/>
          <a:p>
            <a:pPr marL="0" indent="0" algn="l">
              <a:lnSpc>
                <a:spcPts val="90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1인가구 비율이 높고 이동 저하와 인프라 결핍이 복합적으로 나타나는 유형. 안부확인과 생활상담 우선 검토.</a:t>
            </a:r>
            <a:endPar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4" name="Shape 12"/>
          <p:cNvSpPr/>
          <p:nvPr/>
        </p:nvSpPr>
        <p:spPr>
          <a:xfrm>
            <a:off x="6775916" y="1918164"/>
            <a:ext cx="1835821" cy="703359"/>
          </a:xfrm>
          <a:prstGeom prst="roundRect">
            <a:avLst>
              <a:gd name="adj" fmla="val 6151"/>
            </a:avLst>
          </a:prstGeom>
          <a:solidFill>
            <a:srgbClr val="FFFFFF">
              <a:alpha val="95000"/>
            </a:srgbClr>
          </a:solidFill>
          <a:ln w="9525">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05" name="Shape 13"/>
          <p:cNvSpPr/>
          <p:nvPr/>
        </p:nvSpPr>
        <p:spPr>
          <a:xfrm>
            <a:off x="6766391" y="1918164"/>
            <a:ext cx="38100" cy="703359"/>
          </a:xfrm>
          <a:prstGeom prst="roundRect">
            <a:avLst>
              <a:gd name="adj" fmla="val 95721"/>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06" name="Text 14"/>
          <p:cNvSpPr/>
          <p:nvPr/>
        </p:nvSpPr>
        <p:spPr>
          <a:xfrm>
            <a:off x="6900783" y="2014455"/>
            <a:ext cx="1315343" cy="135657"/>
          </a:xfrm>
          <a:prstGeom prst="rect">
            <a:avLst/>
          </a:prstGeom>
          <a:noFill/>
        </p:spPr>
        <p:txBody>
          <a:bodyPr wrap="none" lIns="0" tIns="0" rIns="0" bIns="0" rtlCol="0" anchor="t"/>
          <a:lstStyle/>
          <a:p>
            <a:pPr marL="0" indent="0" algn="l">
              <a:lnSpc>
                <a:spcPts val="1050"/>
              </a:lnSpc>
              <a:buNone/>
            </a:pP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군집 2 </a:t>
            </a:r>
            <a:r>
              <a:rPr lang="en-US" sz="85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도심상업형</a:t>
            </a: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 30개 동</a:t>
            </a:r>
            <a:endParaRPr lang="en-US" sz="850" dirty="0">
              <a:latin typeface="Microsoft JhengHei" panose="020B0604030504040204" pitchFamily="34" charset="-120"/>
              <a:ea typeface="Microsoft JhengHei" panose="020B0604030504040204" pitchFamily="34" charset="-120"/>
            </a:endParaRPr>
          </a:p>
        </p:txBody>
      </p:sp>
      <p:sp>
        <p:nvSpPr>
          <p:cNvPr id="107" name="Text 15"/>
          <p:cNvSpPr/>
          <p:nvPr/>
        </p:nvSpPr>
        <p:spPr>
          <a:xfrm>
            <a:off x="6900783" y="2210834"/>
            <a:ext cx="1524372" cy="354285"/>
          </a:xfrm>
          <a:prstGeom prst="rect">
            <a:avLst/>
          </a:prstGeom>
          <a:noFill/>
        </p:spPr>
        <p:txBody>
          <a:bodyPr wrap="square" lIns="0" tIns="0" rIns="0" bIns="0" rtlCol="0" anchor="t"/>
          <a:lstStyle/>
          <a:p>
            <a:pPr marL="0" indent="0" algn="l">
              <a:lnSpc>
                <a:spcPts val="90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유동성은 높지만 실거주민의 생활지원 인프라가 약해질 수 있는 유형. 야간·비대면 접근 채널 필요.</a:t>
            </a:r>
            <a:endPar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8" name="Shape 16"/>
          <p:cNvSpPr/>
          <p:nvPr/>
        </p:nvSpPr>
        <p:spPr>
          <a:xfrm>
            <a:off x="6775916" y="2661523"/>
            <a:ext cx="1835821" cy="703359"/>
          </a:xfrm>
          <a:prstGeom prst="roundRect">
            <a:avLst>
              <a:gd name="adj" fmla="val 7313"/>
            </a:avLst>
          </a:prstGeom>
          <a:solidFill>
            <a:srgbClr val="FFFFFF">
              <a:alpha val="95000"/>
            </a:srgbClr>
          </a:solidFill>
          <a:ln w="9525">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09" name="Shape 17"/>
          <p:cNvSpPr/>
          <p:nvPr/>
        </p:nvSpPr>
        <p:spPr>
          <a:xfrm>
            <a:off x="6766391" y="2661523"/>
            <a:ext cx="38100" cy="703359"/>
          </a:xfrm>
          <a:prstGeom prst="roundRect">
            <a:avLst>
              <a:gd name="adj" fmla="val 95721"/>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10" name="Text 18"/>
          <p:cNvSpPr/>
          <p:nvPr/>
        </p:nvSpPr>
        <p:spPr>
          <a:xfrm>
            <a:off x="6900783" y="2757814"/>
            <a:ext cx="1486421" cy="135657"/>
          </a:xfrm>
          <a:prstGeom prst="rect">
            <a:avLst/>
          </a:prstGeom>
          <a:noFill/>
        </p:spPr>
        <p:txBody>
          <a:bodyPr wrap="none" lIns="0" tIns="0" rIns="0" bIns="0" rtlCol="0" anchor="t"/>
          <a:lstStyle/>
          <a:p>
            <a:pPr marL="0" indent="0" algn="l">
              <a:lnSpc>
                <a:spcPts val="1050"/>
              </a:lnSpc>
              <a:buNone/>
            </a:pP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군집 3 </a:t>
            </a:r>
            <a:r>
              <a:rPr lang="en-US" sz="85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활동적</a:t>
            </a: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85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도심형</a:t>
            </a: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 129개 동</a:t>
            </a:r>
            <a:endParaRPr lang="en-US" sz="850" dirty="0">
              <a:latin typeface="Microsoft JhengHei" panose="020B0604030504040204" pitchFamily="34" charset="-120"/>
              <a:ea typeface="Microsoft JhengHei" panose="020B0604030504040204" pitchFamily="34" charset="-120"/>
            </a:endParaRPr>
          </a:p>
        </p:txBody>
      </p:sp>
      <p:sp>
        <p:nvSpPr>
          <p:cNvPr id="111" name="Text 19"/>
          <p:cNvSpPr/>
          <p:nvPr/>
        </p:nvSpPr>
        <p:spPr>
          <a:xfrm>
            <a:off x="6900783" y="2954193"/>
            <a:ext cx="1524372" cy="354285"/>
          </a:xfrm>
          <a:prstGeom prst="rect">
            <a:avLst/>
          </a:prstGeom>
          <a:noFill/>
        </p:spPr>
        <p:txBody>
          <a:bodyPr wrap="square" lIns="0" tIns="0" rIns="0" bIns="0" rtlCol="0" anchor="t"/>
          <a:lstStyle/>
          <a:p>
            <a:pPr marL="0" indent="0" algn="l">
              <a:lnSpc>
                <a:spcPts val="90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이동은 활발하지만 생활 기반 인프라 편차가 존재하는 유형. 복지 접근성 보완 필요.</a:t>
            </a:r>
            <a:endPar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2" name="Shape 20"/>
          <p:cNvSpPr/>
          <p:nvPr/>
        </p:nvSpPr>
        <p:spPr>
          <a:xfrm>
            <a:off x="6775916" y="3404882"/>
            <a:ext cx="1835821" cy="703359"/>
          </a:xfrm>
          <a:prstGeom prst="roundRect">
            <a:avLst>
              <a:gd name="adj" fmla="val 7313"/>
            </a:avLst>
          </a:prstGeom>
          <a:solidFill>
            <a:srgbClr val="FFFFFF">
              <a:alpha val="95000"/>
            </a:srgbClr>
          </a:solidFill>
          <a:ln w="9525">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13" name="Shape 21"/>
          <p:cNvSpPr/>
          <p:nvPr/>
        </p:nvSpPr>
        <p:spPr>
          <a:xfrm>
            <a:off x="6766391" y="3404882"/>
            <a:ext cx="38100" cy="703359"/>
          </a:xfrm>
          <a:prstGeom prst="roundRect">
            <a:avLst>
              <a:gd name="adj" fmla="val 95721"/>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14" name="Text 22"/>
          <p:cNvSpPr/>
          <p:nvPr/>
        </p:nvSpPr>
        <p:spPr>
          <a:xfrm>
            <a:off x="6900783" y="3501173"/>
            <a:ext cx="1345778" cy="135657"/>
          </a:xfrm>
          <a:prstGeom prst="rect">
            <a:avLst/>
          </a:prstGeom>
          <a:noFill/>
        </p:spPr>
        <p:txBody>
          <a:bodyPr wrap="none" lIns="0" tIns="0" rIns="0" bIns="0" rtlCol="0" anchor="t"/>
          <a:lstStyle/>
          <a:p>
            <a:pPr marL="0" indent="0" algn="l">
              <a:lnSpc>
                <a:spcPts val="1050"/>
              </a:lnSpc>
              <a:buNone/>
            </a:pP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군집 4 </a:t>
            </a:r>
            <a:r>
              <a:rPr lang="en-US" sz="85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생활안정형</a:t>
            </a:r>
            <a:r>
              <a:rPr lang="en-US" sz="8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 141개 동</a:t>
            </a:r>
            <a:endParaRPr lang="en-US" sz="850" dirty="0">
              <a:latin typeface="Microsoft JhengHei" panose="020B0604030504040204" pitchFamily="34" charset="-120"/>
              <a:ea typeface="Microsoft JhengHei" panose="020B0604030504040204" pitchFamily="34" charset="-120"/>
            </a:endParaRPr>
          </a:p>
        </p:txBody>
      </p:sp>
      <p:sp>
        <p:nvSpPr>
          <p:cNvPr id="115" name="Text 23"/>
          <p:cNvSpPr/>
          <p:nvPr/>
        </p:nvSpPr>
        <p:spPr>
          <a:xfrm>
            <a:off x="6900783" y="3697552"/>
            <a:ext cx="1524372" cy="354285"/>
          </a:xfrm>
          <a:prstGeom prst="rect">
            <a:avLst/>
          </a:prstGeom>
          <a:noFill/>
        </p:spPr>
        <p:txBody>
          <a:bodyPr wrap="square" lIns="0" tIns="0" rIns="0" bIns="0" rtlCol="0" anchor="t"/>
          <a:lstStyle/>
          <a:p>
            <a:pPr marL="0" indent="0" algn="l">
              <a:lnSpc>
                <a:spcPts val="90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인구·이동·인프라가 상대적으로 균형적인 유형. 현행 모니터링 유지.</a:t>
            </a:r>
            <a:endPar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9"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04 분석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결과</a:t>
            </a:r>
            <a:endPar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0"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생애주기별</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고립</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위험지도</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1"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2" name="Text 5"/>
          <p:cNvSpPr/>
          <p:nvPr/>
        </p:nvSpPr>
        <p:spPr>
          <a:xfrm>
            <a:off x="918086" y="878279"/>
            <a:ext cx="1771129" cy="193849"/>
          </a:xfrm>
          <a:prstGeom prst="rect">
            <a:avLst/>
          </a:prstGeom>
          <a:noFill/>
        </p:spPr>
        <p:txBody>
          <a:bodyPr wrap="none" lIns="0" tIns="0" rIns="0" bIns="0" rtlCol="0" anchor="t"/>
          <a:lstStyle/>
          <a:p>
            <a:pPr marL="0" indent="0" algn="ctr">
              <a:lnSpc>
                <a:spcPts val="1500"/>
              </a:lnSpc>
              <a:buNone/>
            </a:pPr>
            <a:r>
              <a:rPr lang="en-US" sz="10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청년층 (20~39세)</a:t>
            </a:r>
            <a:endParaRPr lang="en-US" sz="10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3" name="Text 6"/>
          <p:cNvSpPr/>
          <p:nvPr/>
        </p:nvSpPr>
        <p:spPr>
          <a:xfrm>
            <a:off x="496754" y="1095107"/>
            <a:ext cx="2613868" cy="198462"/>
          </a:xfrm>
          <a:prstGeom prst="rect">
            <a:avLst/>
          </a:prstGeom>
          <a:noFill/>
        </p:spPr>
        <p:txBody>
          <a:bodyPr wrap="none" lIns="0" tIns="0" rIns="0" bIns="0" rtlCol="0" anchor="t"/>
          <a:lstStyle/>
          <a:p>
            <a:pPr marL="0" indent="0" algn="ctr">
              <a:lnSpc>
                <a:spcPts val="1550"/>
              </a:lnSpc>
              <a:buNone/>
            </a:pPr>
            <a:r>
              <a:rPr lang="ko-KR" alt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인구</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20% + </a:t>
            </a:r>
            <a:r>
              <a:rPr lang="ko-KR" alt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이동</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40% + </a:t>
            </a:r>
            <a:r>
              <a:rPr lang="ko-KR" alt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인프라</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40%</a:t>
            </a:r>
            <a:b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b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70점 이상 40개 동 | 최고위험: </a:t>
            </a:r>
            <a:r>
              <a:rPr lang="en-US" sz="600"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가리봉동</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a:t>
            </a:r>
            <a:endParaRPr lang="en-US" sz="600" dirty="0">
              <a:latin typeface="Microsoft JhengHei" panose="020B0604030504040204" pitchFamily="34" charset="-120"/>
              <a:ea typeface="Microsoft JhengHei" panose="020B0604030504040204" pitchFamily="34" charset="-120"/>
            </a:endParaRPr>
          </a:p>
        </p:txBody>
      </p:sp>
      <p:sp>
        <p:nvSpPr>
          <p:cNvPr id="24" name="Text 8"/>
          <p:cNvSpPr/>
          <p:nvPr/>
        </p:nvSpPr>
        <p:spPr>
          <a:xfrm>
            <a:off x="3611503" y="878279"/>
            <a:ext cx="1922115" cy="193849"/>
          </a:xfrm>
          <a:prstGeom prst="rect">
            <a:avLst/>
          </a:prstGeom>
          <a:noFill/>
        </p:spPr>
        <p:txBody>
          <a:bodyPr wrap="none" lIns="0" tIns="0" rIns="0" bIns="0" rtlCol="0" anchor="t"/>
          <a:lstStyle/>
          <a:p>
            <a:pPr marL="0" indent="0" algn="ctr">
              <a:lnSpc>
                <a:spcPts val="1500"/>
              </a:lnSpc>
              <a:buNone/>
            </a:pPr>
            <a:r>
              <a:rPr lang="en-US" sz="10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중장년층 (40~64세)</a:t>
            </a:r>
            <a:endParaRPr lang="en-US" sz="10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5" name="Text 9"/>
          <p:cNvSpPr/>
          <p:nvPr/>
        </p:nvSpPr>
        <p:spPr>
          <a:xfrm>
            <a:off x="3265626" y="1095107"/>
            <a:ext cx="2613943" cy="198462"/>
          </a:xfrm>
          <a:prstGeom prst="rect">
            <a:avLst/>
          </a:prstGeom>
          <a:noFill/>
        </p:spPr>
        <p:txBody>
          <a:bodyPr wrap="none" lIns="0" tIns="0" rIns="0" bIns="0" rtlCol="0" anchor="t"/>
          <a:lstStyle/>
          <a:p>
            <a:pPr marL="0" indent="0" algn="ctr">
              <a:lnSpc>
                <a:spcPts val="1550"/>
              </a:lnSpc>
              <a:buNone/>
            </a:pPr>
            <a:r>
              <a:rPr lang="ko-KR" alt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인구</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 20% + </a:t>
            </a:r>
            <a:r>
              <a:rPr lang="ko-KR" alt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이동</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 40% + </a:t>
            </a:r>
            <a:r>
              <a:rPr lang="ko-KR" alt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인프라</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 40%</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ctr">
              <a:lnSpc>
                <a:spcPts val="155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[70점 이상 52개 동 | 최고위험: </a:t>
            </a:r>
            <a:r>
              <a:rPr lang="en-US" sz="600"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신원동</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a:t>
            </a:r>
            <a:endParaRPr lang="en-US" sz="600" dirty="0">
              <a:latin typeface="Microsoft JhengHei" panose="020B0604030504040204" pitchFamily="34" charset="-120"/>
              <a:ea typeface="Microsoft JhengHei" panose="020B0604030504040204" pitchFamily="34" charset="-120"/>
            </a:endParaRPr>
          </a:p>
        </p:txBody>
      </p:sp>
      <p:sp>
        <p:nvSpPr>
          <p:cNvPr id="26" name="Text 11"/>
          <p:cNvSpPr/>
          <p:nvPr/>
        </p:nvSpPr>
        <p:spPr>
          <a:xfrm>
            <a:off x="6419666" y="878279"/>
            <a:ext cx="1843683" cy="193849"/>
          </a:xfrm>
          <a:prstGeom prst="rect">
            <a:avLst/>
          </a:prstGeom>
          <a:noFill/>
        </p:spPr>
        <p:txBody>
          <a:bodyPr wrap="none" lIns="0" tIns="0" rIns="0" bIns="0" rtlCol="0" anchor="t"/>
          <a:lstStyle/>
          <a:p>
            <a:pPr marL="0" indent="0" algn="ctr">
              <a:lnSpc>
                <a:spcPts val="1500"/>
              </a:lnSpc>
              <a:buNone/>
            </a:pPr>
            <a:r>
              <a:rPr lang="en-US" sz="10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노년층 (65세 이상)</a:t>
            </a:r>
            <a:endParaRPr lang="en-US" sz="10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7" name="Text 12"/>
          <p:cNvSpPr/>
          <p:nvPr/>
        </p:nvSpPr>
        <p:spPr>
          <a:xfrm>
            <a:off x="6034574" y="1095107"/>
            <a:ext cx="2613943" cy="198462"/>
          </a:xfrm>
          <a:prstGeom prst="rect">
            <a:avLst/>
          </a:prstGeom>
          <a:noFill/>
        </p:spPr>
        <p:txBody>
          <a:bodyPr wrap="none" lIns="0" tIns="0" rIns="0" bIns="0" rtlCol="0" anchor="t"/>
          <a:lstStyle/>
          <a:p>
            <a:pPr marL="0" indent="0" algn="ctr">
              <a:lnSpc>
                <a:spcPts val="1550"/>
              </a:lnSpc>
              <a:buNone/>
            </a:pPr>
            <a:r>
              <a:rPr lang="ko-KR" alt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인구</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 20% + </a:t>
            </a:r>
            <a:r>
              <a:rPr lang="ko-KR" alt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이동</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 35% + </a:t>
            </a:r>
            <a:r>
              <a:rPr lang="ko-KR" alt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인프라</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 45%</a:t>
            </a:r>
            <a:b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b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a:t>
            </a: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70점 이상 26개 동 | 최고위험: </a:t>
            </a:r>
            <a:r>
              <a:rPr lang="en-US" sz="600"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가리봉동</a:t>
            </a:r>
            <a:r>
              <a:rPr lang="en-US" altLang="ko-KR"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a:t>
            </a:r>
            <a:endParaRPr lang="en-US" sz="600" dirty="0">
              <a:latin typeface="Microsoft JhengHei" panose="020B0604030504040204" pitchFamily="34" charset="-120"/>
              <a:ea typeface="Microsoft JhengHei" panose="020B0604030504040204" pitchFamily="34" charset="-120"/>
            </a:endParaRPr>
          </a:p>
        </p:txBody>
      </p:sp>
      <p:sp>
        <p:nvSpPr>
          <p:cNvPr id="28" name="Body"/>
          <p:cNvSpPr/>
          <p:nvPr/>
        </p:nvSpPr>
        <p:spPr>
          <a:xfrm>
            <a:off x="505460" y="4201795"/>
            <a:ext cx="8151495" cy="447040"/>
          </a:xfrm>
          <a:prstGeom prst="rect">
            <a:avLst/>
          </a:prstGeom>
          <a:noFill/>
        </p:spPr>
        <p:txBody>
          <a:bodyPr wrap="square" lIns="0" tIns="0" rIns="0" bIns="0" rtlCol="0" anchor="t"/>
          <a:lstStyle/>
          <a:p>
            <a:pPr marL="0" indent="0" algn="l">
              <a:lnSpc>
                <a:spcPts val="1350"/>
              </a:lnSpc>
              <a:buNone/>
            </a:pPr>
            <a:r>
              <a:rPr lang="ko-KR"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일부 지역은 세대와 무관하게 반복적으로 높게 나타났으며, 특정 생애주기에서만 취약성이 두드러지는 곳도 확인됩니다. 청년층은 활동 저하와 1인가구 집중, 중장년층은 이동제약, 노년층은 의료·복지 접근성 부족이 상대적으로 중요한 해석 포인트입니다. 세 연령대 모두에서 위험이 중첩되는 복합 최고위험 TOP9 행정동은 별도 관리가 필요합니다.</a:t>
            </a:r>
            <a:endParaRPr lang="ko-KR"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 name="Text 29"/>
          <p:cNvSpPr/>
          <p:nvPr/>
        </p:nvSpPr>
        <p:spPr>
          <a:xfrm>
            <a:off x="626343" y="4848895"/>
            <a:ext cx="8021538" cy="118095"/>
          </a:xfrm>
          <a:prstGeom prst="rect">
            <a:avLst/>
          </a:prstGeom>
          <a:noFill/>
        </p:spPr>
        <p:txBody>
          <a:bodyPr wrap="none" lIns="0" tIns="0" rIns="0" bIns="0" rtlCol="0" anchor="t"/>
          <a:lstStyle/>
          <a:p>
            <a:pPr marL="0" indent="0" algn="l">
              <a:lnSpc>
                <a:spcPts val="900"/>
              </a:lnSpc>
              <a:buNone/>
            </a:pPr>
            <a:r>
              <a:rPr lang="ko-KR" altLang="en-US" sz="650" dirty="0">
                <a:latin typeface="Microsoft JhengHei" panose="020B0604030504040204" pitchFamily="34" charset="-120"/>
                <a:ea typeface="Microsoft JhengHei" panose="020B0604030504040204" pitchFamily="34" charset="-120"/>
                <a:cs typeface="Microsoft JhengHei" panose="020B0604030504040204" pitchFamily="34" charset="-120"/>
              </a:rPr>
              <a:t>"위험은 세대마다 다르게 분포한다 — 중장년 고위험 동이 가장 많아 별도 관리가 필요하다."</a:t>
            </a:r>
            <a:endParaRPr lang="ko-KR" altLang="en-US" sz="65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900"/>
              </a:lnSpc>
              <a:buNone/>
            </a:pPr>
            <a:endParaRPr lang="ko-KR" altLang="en-US" sz="65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 name="Shape 30"/>
          <p:cNvSpPr/>
          <p:nvPr/>
        </p:nvSpPr>
        <p:spPr>
          <a:xfrm>
            <a:off x="496119" y="4786298"/>
            <a:ext cx="9525" cy="254719"/>
          </a:xfrm>
          <a:prstGeom prst="rect">
            <a:avLst/>
          </a:prstGeom>
          <a:solidFill>
            <a:srgbClr val="1B1B27"/>
          </a:solidFill>
          <a:ln w="3175">
            <a:solidFill>
              <a:schemeClr val="tx1"/>
            </a:solidFill>
          </a:ln>
        </p:spPr>
        <p:txBody>
          <a:bodyPr/>
          <a:lstStyle/>
          <a:p>
            <a:endParaRPr lang="ko-KR" altLang="en-US">
              <a:latin typeface="Microsoft JhengHei" panose="020B0604030504040204" pitchFamily="34" charset="-120"/>
              <a:ea typeface="Microsoft JhengHei" panose="020B0604030504040204" pitchFamily="34" charset="-120"/>
            </a:endParaRPr>
          </a:p>
        </p:txBody>
      </p:sp>
      <p:pic>
        <p:nvPicPr>
          <p:cNvPr id="6" name="Picture 5"/>
          <p:cNvPicPr>
            <a:picLocks noChangeAspect="1"/>
          </p:cNvPicPr>
          <p:nvPr/>
        </p:nvPicPr>
        <p:blipFill>
          <a:blip r:embed="rId1"/>
          <a:stretch>
            <a:fillRect/>
          </a:stretch>
        </p:blipFill>
        <p:spPr>
          <a:xfrm>
            <a:off x="699770" y="1549400"/>
            <a:ext cx="2175510" cy="2597150"/>
          </a:xfrm>
          <a:prstGeom prst="rect">
            <a:avLst/>
          </a:prstGeom>
        </p:spPr>
      </p:pic>
      <p:pic>
        <p:nvPicPr>
          <p:cNvPr id="7" name="Picture 6"/>
          <p:cNvPicPr>
            <a:picLocks noChangeAspect="1"/>
          </p:cNvPicPr>
          <p:nvPr/>
        </p:nvPicPr>
        <p:blipFill>
          <a:blip r:embed="rId2"/>
          <a:stretch>
            <a:fillRect/>
          </a:stretch>
        </p:blipFill>
        <p:spPr>
          <a:xfrm>
            <a:off x="3488690" y="1549400"/>
            <a:ext cx="2113915" cy="2583815"/>
          </a:xfrm>
          <a:prstGeom prst="rect">
            <a:avLst/>
          </a:prstGeom>
        </p:spPr>
      </p:pic>
      <p:pic>
        <p:nvPicPr>
          <p:cNvPr id="8" name="Picture 7"/>
          <p:cNvPicPr>
            <a:picLocks noChangeAspect="1"/>
          </p:cNvPicPr>
          <p:nvPr/>
        </p:nvPicPr>
        <p:blipFill>
          <a:blip r:embed="rId3"/>
          <a:stretch>
            <a:fillRect/>
          </a:stretch>
        </p:blipFill>
        <p:spPr>
          <a:xfrm>
            <a:off x="6221095" y="1549400"/>
            <a:ext cx="2172335" cy="2578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v2_02_gu_risk"/>
          <p:cNvPicPr>
            <a:picLocks noChangeAspect="1"/>
          </p:cNvPicPr>
          <p:nvPr/>
        </p:nvPicPr>
        <p:blipFill>
          <a:blip r:embed="rId1"/>
          <a:stretch>
            <a:fillRect/>
          </a:stretch>
        </p:blipFill>
        <p:spPr>
          <a:xfrm>
            <a:off x="495935" y="927100"/>
            <a:ext cx="8044180" cy="3560445"/>
          </a:xfrm>
          <a:prstGeom prst="rect">
            <a:avLst/>
          </a:prstGeom>
        </p:spPr>
      </p:pic>
      <p:sp>
        <p:nvSpPr>
          <p:cNvPr id="40"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행정동별</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고립</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위험지수</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비교</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1"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2"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04 분석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결과</a:t>
            </a:r>
            <a:endPar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교차검증</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 </a:t>
            </a:r>
            <a:r>
              <a:rPr 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위험지수가 실제 생활취약</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 </a:t>
            </a:r>
            <a:r>
              <a:rPr 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지역을 제대로 가리키는가?</a:t>
            </a:r>
            <a:endPar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1"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9"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04 분석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결과</a:t>
            </a:r>
            <a:endPar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6" name="TopCard1Bg"/>
          <p:cNvSpPr/>
          <p:nvPr/>
        </p:nvSpPr>
        <p:spPr>
          <a:xfrm>
            <a:off x="243205" y="1013460"/>
            <a:ext cx="2820035" cy="463550"/>
          </a:xfrm>
          <a:prstGeom prst="roundRect">
            <a:avLst>
              <a:gd name="adj" fmla="val 2500"/>
            </a:avLst>
          </a:prstGeom>
          <a:solidFill>
            <a:srgbClr val="F3F3F7"/>
          </a:solidFill>
          <a:ln w="6350">
            <a:solidFill>
              <a:srgbClr val="1B1B27"/>
            </a:solid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27" name="TopCard1Text"/>
          <p:cNvSpPr/>
          <p:nvPr/>
        </p:nvSpPr>
        <p:spPr>
          <a:xfrm>
            <a:off x="243205" y="1013460"/>
            <a:ext cx="2820035" cy="463550"/>
          </a:xfrm>
          <a:prstGeom prst="rect">
            <a:avLst/>
          </a:prstGeom>
          <a:noFill/>
        </p:spPr>
        <p:txBody>
          <a:bodyPr lIns="110000" tIns="70000" rIns="110000" bIns="70000" anchor="t"/>
          <a:lstStyle/>
          <a:p>
            <a:pPr algn="l">
              <a:buNone/>
            </a:pPr>
            <a:r>
              <a:rPr lang="ko-KR" sz="8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①  복합위험지수란</a:t>
            </a:r>
            <a:r>
              <a:rPr lang="en-US" altLang="ko-KR" sz="8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a:t>
            </a:r>
            <a:endParaRPr lang="ko-KR" sz="8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buNone/>
            </a:pPr>
            <a:r>
              <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설문이 아닌 인구·이동·인프라 기반 합성지표 </a:t>
            </a:r>
            <a:endPar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buNone/>
            </a:pPr>
            <a:r>
              <a:rPr lang="en-US" altLang="ko-KR"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외부 검증이 필요한 간접 지표</a:t>
            </a:r>
            <a:endPar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8" name="TopCard2Bg"/>
          <p:cNvSpPr/>
          <p:nvPr/>
        </p:nvSpPr>
        <p:spPr>
          <a:xfrm>
            <a:off x="3122930" y="1013460"/>
            <a:ext cx="2820035" cy="463550"/>
          </a:xfrm>
          <a:prstGeom prst="roundRect">
            <a:avLst>
              <a:gd name="adj" fmla="val 2500"/>
            </a:avLst>
          </a:prstGeom>
          <a:solidFill>
            <a:srgbClr val="EEF4FB"/>
          </a:solidFill>
          <a:ln w="6350">
            <a:solidFill>
              <a:srgbClr val="4F7FA8"/>
            </a:solid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29" name="TopCard2Text"/>
          <p:cNvSpPr/>
          <p:nvPr/>
        </p:nvSpPr>
        <p:spPr>
          <a:xfrm>
            <a:off x="3122930" y="1013460"/>
            <a:ext cx="2820035" cy="463550"/>
          </a:xfrm>
          <a:prstGeom prst="rect">
            <a:avLst/>
          </a:prstGeom>
          <a:noFill/>
        </p:spPr>
        <p:txBody>
          <a:bodyPr lIns="110000" tIns="70000" rIns="110000" bIns="70000" anchor="t"/>
          <a:lstStyle/>
          <a:p>
            <a:pPr algn="l">
              <a:buNone/>
            </a:pPr>
            <a:r>
              <a:rPr lang="ko-KR" sz="800" b="1" dirty="0">
                <a:solidFill>
                  <a:srgbClr val="1B4F72"/>
                </a:solidFill>
                <a:latin typeface="Microsoft JhengHei" panose="020B0604030504040204" pitchFamily="34" charset="-120"/>
                <a:ea typeface="Microsoft JhengHei" panose="020B0604030504040204" pitchFamily="34" charset="-120"/>
                <a:cs typeface="Microsoft JhengHei" panose="020B0604030504040204" pitchFamily="34" charset="-120"/>
              </a:rPr>
              <a:t>②  왜 기초수급자 비율인가?</a:t>
            </a:r>
            <a:endParaRPr lang="ko-KR" sz="800" b="1" dirty="0">
              <a:solidFill>
                <a:srgbClr val="1B4F72"/>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buNone/>
            </a:pPr>
            <a:r>
              <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기초수급자 밀집 지역 = 생계·주거·의료 공적 지원</a:t>
            </a:r>
            <a:r>
              <a:rPr lang="en-US" altLang="ko-KR"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필요</a:t>
            </a:r>
            <a:r>
              <a:rPr lang="en-US" altLang="ko-KR"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지역</a:t>
            </a:r>
            <a:endPar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buNone/>
            </a:pPr>
            <a:r>
              <a:rPr lang="en-US"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altLang="ko-KR"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생활취약성을 보여주는 대표적인</a:t>
            </a:r>
            <a:r>
              <a:rPr lang="en-US" altLang="ko-KR"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공식 외부 지표</a:t>
            </a:r>
            <a:endPar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2" name="TopCard3Bg"/>
          <p:cNvSpPr/>
          <p:nvPr/>
        </p:nvSpPr>
        <p:spPr>
          <a:xfrm>
            <a:off x="6002655" y="1013460"/>
            <a:ext cx="2820035" cy="463550"/>
          </a:xfrm>
          <a:prstGeom prst="roundRect">
            <a:avLst>
              <a:gd name="adj" fmla="val 2500"/>
            </a:avLst>
          </a:prstGeom>
          <a:solidFill>
            <a:srgbClr val="F5F0E8"/>
          </a:solidFill>
          <a:ln w="6350">
            <a:solidFill>
              <a:srgbClr val="B8860B"/>
            </a:solid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33" name="TopCard3Text"/>
          <p:cNvSpPr/>
          <p:nvPr/>
        </p:nvSpPr>
        <p:spPr>
          <a:xfrm>
            <a:off x="6002655" y="1013460"/>
            <a:ext cx="2820035" cy="463550"/>
          </a:xfrm>
          <a:prstGeom prst="rect">
            <a:avLst/>
          </a:prstGeom>
          <a:noFill/>
        </p:spPr>
        <p:txBody>
          <a:bodyPr lIns="110000" tIns="70000" rIns="110000" bIns="70000" anchor="t"/>
          <a:lstStyle/>
          <a:p>
            <a:pPr algn="l">
              <a:buNone/>
            </a:pPr>
            <a:r>
              <a:rPr lang="ko-KR" sz="800" b="1" dirty="0">
                <a:solidFill>
                  <a:srgbClr val="7A5200"/>
                </a:solidFill>
                <a:latin typeface="Microsoft JhengHei" panose="020B0604030504040204" pitchFamily="34" charset="-120"/>
                <a:ea typeface="Microsoft JhengHei" panose="020B0604030504040204" pitchFamily="34" charset="-120"/>
                <a:cs typeface="Microsoft JhengHei" panose="020B0604030504040204" pitchFamily="34" charset="-120"/>
              </a:rPr>
              <a:t>③  무엇을 확인했나?</a:t>
            </a:r>
            <a:endParaRPr lang="ko-KR" sz="800" b="1" dirty="0">
              <a:solidFill>
                <a:srgbClr val="7A5200"/>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buNone/>
            </a:pPr>
            <a:r>
              <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3개 연령군 모두 유의한 양의 상관</a:t>
            </a:r>
            <a:endPar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buNone/>
            </a:pPr>
            <a:r>
              <a:rPr lang="en-US" altLang="ko-KR"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위험지수가 높은 곳은 실제로 생활취약성</a:t>
            </a:r>
            <a:r>
              <a:rPr lang="en-US" altLang="ko-KR"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또한</a:t>
            </a:r>
            <a:r>
              <a:rPr lang="en-US" altLang="ko-KR"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rPr>
              <a:t>높았다</a:t>
            </a:r>
            <a:endParaRPr lang="ko-KR"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buNone/>
            </a:pPr>
            <a:endParaRPr lang="en-US" altLang="en-US" sz="750" b="0" dirty="0">
              <a:solidFill>
                <a:srgbClr val="444444"/>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4" name="MethodBoxBg"/>
          <p:cNvSpPr/>
          <p:nvPr/>
        </p:nvSpPr>
        <p:spPr>
          <a:xfrm>
            <a:off x="243389" y="1621490"/>
            <a:ext cx="3800000" cy="1130000"/>
          </a:xfrm>
          <a:prstGeom prst="roundRect">
            <a:avLst>
              <a:gd name="adj" fmla="val 1500"/>
            </a:avLst>
          </a:prstGeom>
          <a:solidFill>
            <a:srgbClr val="F8F8FA"/>
          </a:solidFill>
          <a:ln w="6350">
            <a:solidFill>
              <a:srgbClr val="CCCCCC"/>
            </a:solid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37" name="MethodTitle"/>
          <p:cNvSpPr/>
          <p:nvPr/>
        </p:nvSpPr>
        <p:spPr>
          <a:xfrm>
            <a:off x="243389" y="1621490"/>
            <a:ext cx="3800000" cy="160000"/>
          </a:xfrm>
          <a:prstGeom prst="rect">
            <a:avLst/>
          </a:prstGeom>
          <a:noFill/>
        </p:spPr>
        <p:txBody>
          <a:bodyPr lIns="120000" tIns="0" rIns="0" bIns="0" anchor="ctr"/>
          <a:lstStyle/>
          <a:p>
            <a:pPr algn="l">
              <a:buNone/>
            </a:pPr>
            <a:r>
              <a:rPr lang="ko-KR" sz="8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검증 방법</a:t>
            </a:r>
            <a:endParaRPr lang="ko-KR" sz="8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8" name="MethodTable"/>
          <p:cNvSpPr/>
          <p:nvPr/>
        </p:nvSpPr>
        <p:spPr>
          <a:xfrm>
            <a:off x="243389" y="1791490"/>
            <a:ext cx="3800000" cy="930000"/>
          </a:xfrm>
          <a:prstGeom prst="rect">
            <a:avLst/>
          </a:prstGeom>
          <a:noFill/>
        </p:spPr>
        <p:txBody>
          <a:bodyPr lIns="120000" tIns="60000" rIns="120000" bIns="60000" anchor="t"/>
          <a:lstStyle/>
          <a:p>
            <a:pPr algn="l">
              <a:lnSpc>
                <a:spcPts val="1300"/>
              </a:lnSpc>
              <a:buNone/>
            </a:pPr>
            <a:r>
              <a:rPr lang="ko-KR" sz="740" b="1"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분석 단위</a:t>
            </a:r>
            <a:r>
              <a:rPr lang="ko-KR" sz="740" b="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서울시 25개 자치구</a:t>
            </a:r>
            <a:endParaRPr lang="ko-KR" sz="740" b="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lnSpc>
                <a:spcPts val="1300"/>
              </a:lnSpc>
              <a:buNone/>
            </a:pPr>
            <a:r>
              <a:rPr lang="ko-KR" sz="740" b="1"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비교 지표</a:t>
            </a:r>
            <a:r>
              <a:rPr lang="ko-KR" sz="740" b="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합산 기초생활수급자 비율</a:t>
            </a:r>
            <a:endParaRPr lang="ko-KR" sz="740" b="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lnSpc>
                <a:spcPts val="1300"/>
              </a:lnSpc>
              <a:buNone/>
            </a:pPr>
            <a:r>
              <a:rPr lang="ko-KR" sz="740" b="1"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분석 방법</a:t>
            </a:r>
            <a:r>
              <a:rPr lang="ko-KR" sz="740" b="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Spearman 순위상관분석</a:t>
            </a:r>
            <a:endParaRPr lang="ko-KR" sz="740" b="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lnSpc>
                <a:spcPts val="1300"/>
              </a:lnSpc>
              <a:buNone/>
            </a:pPr>
            <a:r>
              <a:rPr lang="ko-KR" sz="740" b="1"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해석 기준</a:t>
            </a:r>
            <a:r>
              <a:rPr lang="ko-KR" sz="740" b="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r &gt; 0,  p &lt; 0.05  이면 유의한 양의 정합성</a:t>
            </a:r>
            <a:endParaRPr lang="ko-KR" sz="740" b="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spcBef>
                <a:spcPts val="400"/>
              </a:spcBef>
              <a:buNone/>
            </a:pPr>
            <a:r>
              <a:rPr lang="ko-KR" sz="650" b="0" i="1" dirty="0">
                <a:solidFill>
                  <a:srgbClr val="888888"/>
                </a:solidFill>
                <a:latin typeface="Microsoft JhengHei" panose="020B0604030504040204" pitchFamily="34" charset="-120"/>
                <a:ea typeface="Microsoft JhengHei" panose="020B0604030504040204" pitchFamily="34" charset="-120"/>
                <a:cs typeface="Microsoft JhengHei" panose="020B0604030504040204" pitchFamily="34" charset="-120"/>
              </a:rPr>
              <a:t>※ 순위가 높은 지역일수록 외부 취약지표 순위도 높은가 확인</a:t>
            </a:r>
            <a:endParaRPr lang="ko-KR" sz="650" b="0" i="1" dirty="0">
              <a:solidFill>
                <a:srgbClr val="88888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9" name="Card1Bg"/>
          <p:cNvSpPr/>
          <p:nvPr/>
        </p:nvSpPr>
        <p:spPr>
          <a:xfrm>
            <a:off x="4142865" y="1621490"/>
            <a:ext cx="1570000" cy="1130000"/>
          </a:xfrm>
          <a:prstGeom prst="roundRect">
            <a:avLst>
              <a:gd name="adj" fmla="val 2500"/>
            </a:avLst>
          </a:prstGeom>
          <a:solidFill>
            <a:srgbClr val="FFF5EC"/>
          </a:solidFill>
          <a:ln w="9525">
            <a:solidFill>
              <a:srgbClr val="E8844A"/>
            </a:solid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42" name="Card1Text"/>
          <p:cNvSpPr/>
          <p:nvPr/>
        </p:nvSpPr>
        <p:spPr>
          <a:xfrm>
            <a:off x="4142865" y="1621490"/>
            <a:ext cx="1570000" cy="1130000"/>
          </a:xfrm>
          <a:prstGeom prst="rect">
            <a:avLst/>
          </a:prstGeom>
          <a:noFill/>
        </p:spPr>
        <p:txBody>
          <a:bodyPr lIns="60960" tIns="80000" rIns="60960" bIns="60960" anchor="t"/>
          <a:lstStyle/>
          <a:p>
            <a:pPr algn="ctr">
              <a:buNone/>
            </a:pPr>
            <a:r>
              <a:rPr lang="ko-KR" sz="800" b="1" dirty="0">
                <a:solidFill>
                  <a:srgbClr val="E8844A"/>
                </a:solidFill>
                <a:latin typeface="Microsoft JhengHei" panose="020B0604030504040204" pitchFamily="34" charset="-120"/>
                <a:ea typeface="Microsoft JhengHei" panose="020B0604030504040204" pitchFamily="34" charset="-120"/>
                <a:cs typeface="Microsoft JhengHei" panose="020B0604030504040204" pitchFamily="34" charset="-120"/>
              </a:rPr>
              <a:t>청년층</a:t>
            </a:r>
            <a:endParaRPr lang="ko-KR" sz="800" b="1" dirty="0">
              <a:solidFill>
                <a:srgbClr val="E8844A"/>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buNone/>
            </a:pPr>
            <a:r>
              <a:rPr lang="ko-KR" sz="680" b="0" dirty="0">
                <a:solidFill>
                  <a:srgbClr val="888888"/>
                </a:solidFill>
                <a:latin typeface="Microsoft JhengHei" panose="020B0604030504040204" pitchFamily="34" charset="-120"/>
                <a:ea typeface="Microsoft JhengHei" panose="020B0604030504040204" pitchFamily="34" charset="-120"/>
                <a:cs typeface="Microsoft JhengHei" panose="020B0604030504040204" pitchFamily="34" charset="-120"/>
              </a:rPr>
              <a:t>20~39세</a:t>
            </a:r>
            <a:endParaRPr lang="ko-KR" sz="680" b="0" dirty="0">
              <a:solidFill>
                <a:srgbClr val="88888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spcBef>
                <a:spcPts val="400"/>
              </a:spcBef>
              <a:buNone/>
            </a:pPr>
            <a:r>
              <a:rPr lang="en-US" sz="2800" b="1" dirty="0">
                <a:solidFill>
                  <a:srgbClr val="E8844A"/>
                </a:solidFill>
                <a:latin typeface="Microsoft JhengHei" panose="020B0604030504040204" pitchFamily="34" charset="-120"/>
                <a:ea typeface="Microsoft JhengHei" panose="020B0604030504040204" pitchFamily="34" charset="-120"/>
                <a:cs typeface="Microsoft JhengHei" panose="020B0604030504040204" pitchFamily="34" charset="-120"/>
              </a:rPr>
              <a:t>0.625</a:t>
            </a:r>
            <a:endParaRPr lang="en-US" sz="2800" b="1" dirty="0">
              <a:solidFill>
                <a:srgbClr val="E8844A"/>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buNone/>
            </a:pPr>
            <a:r>
              <a:rPr lang="ko-KR" sz="68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p = 0.001</a:t>
            </a:r>
            <a:endParaRPr lang="ko-KR" sz="68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buNone/>
            </a:pPr>
            <a:r>
              <a:rPr lang="ko-KR" sz="720" b="1" dirty="0">
                <a:solidFill>
                  <a:srgbClr val="E8844A"/>
                </a:solidFill>
                <a:latin typeface="Microsoft JhengHei" panose="020B0604030504040204" pitchFamily="34" charset="-120"/>
                <a:ea typeface="Microsoft JhengHei" panose="020B0604030504040204" pitchFamily="34" charset="-120"/>
                <a:cs typeface="Microsoft JhengHei" panose="020B0604030504040204" pitchFamily="34" charset="-120"/>
              </a:rPr>
              <a:t>비교적 높은 정합성</a:t>
            </a:r>
            <a:endParaRPr lang="ko-KR" sz="720" b="1" dirty="0">
              <a:solidFill>
                <a:srgbClr val="E8844A"/>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3" name="Card2Bg"/>
          <p:cNvSpPr/>
          <p:nvPr/>
        </p:nvSpPr>
        <p:spPr>
          <a:xfrm>
            <a:off x="5772865" y="1621490"/>
            <a:ext cx="1570000" cy="1130000"/>
          </a:xfrm>
          <a:prstGeom prst="roundRect">
            <a:avLst>
              <a:gd name="adj" fmla="val 2500"/>
            </a:avLst>
          </a:prstGeom>
          <a:solidFill>
            <a:srgbClr val="FFF9EC"/>
          </a:solidFill>
          <a:ln w="9525">
            <a:solidFill>
              <a:srgbClr val="E8A040"/>
            </a:solid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44" name="Card2Text"/>
          <p:cNvSpPr/>
          <p:nvPr/>
        </p:nvSpPr>
        <p:spPr>
          <a:xfrm>
            <a:off x="5772865" y="1621490"/>
            <a:ext cx="1570000" cy="1130000"/>
          </a:xfrm>
          <a:prstGeom prst="rect">
            <a:avLst/>
          </a:prstGeom>
          <a:noFill/>
        </p:spPr>
        <p:txBody>
          <a:bodyPr lIns="60960" tIns="80000" rIns="60960" bIns="60960" anchor="t"/>
          <a:lstStyle/>
          <a:p>
            <a:pPr algn="ctr">
              <a:buNone/>
            </a:pPr>
            <a:r>
              <a:rPr lang="ko-KR" sz="800" b="1"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중장년층</a:t>
            </a:r>
            <a:endParaRPr lang="ko-KR" sz="800" b="1"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buNone/>
            </a:pPr>
            <a:r>
              <a:rPr lang="ko-KR" sz="680" b="0" dirty="0">
                <a:solidFill>
                  <a:srgbClr val="888888"/>
                </a:solidFill>
                <a:latin typeface="Microsoft JhengHei" panose="020B0604030504040204" pitchFamily="34" charset="-120"/>
                <a:ea typeface="Microsoft JhengHei" panose="020B0604030504040204" pitchFamily="34" charset="-120"/>
                <a:cs typeface="Microsoft JhengHei" panose="020B0604030504040204" pitchFamily="34" charset="-120"/>
              </a:rPr>
              <a:t>40~64세</a:t>
            </a:r>
            <a:endParaRPr lang="ko-KR" sz="680" b="0" dirty="0">
              <a:solidFill>
                <a:srgbClr val="88888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spcBef>
                <a:spcPts val="400"/>
              </a:spcBef>
              <a:buNone/>
            </a:pPr>
            <a:r>
              <a:rPr lang="en-US" sz="2800" b="1"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0.592</a:t>
            </a:r>
            <a:endParaRPr lang="en-US" sz="2800" b="1"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buNone/>
            </a:pPr>
            <a:r>
              <a:rPr lang="ko-KR" sz="68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p = 0.002</a:t>
            </a:r>
            <a:endParaRPr lang="ko-KR" sz="68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buNone/>
            </a:pPr>
            <a:r>
              <a:rPr lang="ko-KR" sz="720" b="1"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비교적 높은 정합성</a:t>
            </a:r>
            <a:endParaRPr lang="ko-KR" sz="720" b="1"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5" name="Card3Bg"/>
          <p:cNvSpPr/>
          <p:nvPr/>
        </p:nvSpPr>
        <p:spPr>
          <a:xfrm>
            <a:off x="7402865" y="1621490"/>
            <a:ext cx="1570000" cy="1130000"/>
          </a:xfrm>
          <a:prstGeom prst="roundRect">
            <a:avLst>
              <a:gd name="adj" fmla="val 2500"/>
            </a:avLst>
          </a:prstGeom>
          <a:solidFill>
            <a:srgbClr val="EEF4FB"/>
          </a:solidFill>
          <a:ln w="9525">
            <a:solidFill>
              <a:srgbClr val="4F7FA8"/>
            </a:solid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46" name="Card3Text"/>
          <p:cNvSpPr/>
          <p:nvPr/>
        </p:nvSpPr>
        <p:spPr>
          <a:xfrm>
            <a:off x="7402865" y="1621490"/>
            <a:ext cx="1570000" cy="1130000"/>
          </a:xfrm>
          <a:prstGeom prst="rect">
            <a:avLst/>
          </a:prstGeom>
          <a:noFill/>
        </p:spPr>
        <p:txBody>
          <a:bodyPr lIns="60960" tIns="80000" rIns="60960" bIns="60960" anchor="t"/>
          <a:lstStyle/>
          <a:p>
            <a:pPr algn="ctr">
              <a:buNone/>
            </a:pPr>
            <a:r>
              <a:rPr lang="ko-KR" sz="800" b="1" dirty="0">
                <a:solidFill>
                  <a:srgbClr val="4F7FA8"/>
                </a:solidFill>
                <a:latin typeface="Microsoft JhengHei" panose="020B0604030504040204" pitchFamily="34" charset="-120"/>
                <a:ea typeface="Microsoft JhengHei" panose="020B0604030504040204" pitchFamily="34" charset="-120"/>
                <a:cs typeface="Microsoft JhengHei" panose="020B0604030504040204" pitchFamily="34" charset="-120"/>
              </a:rPr>
              <a:t>노년층</a:t>
            </a:r>
            <a:endParaRPr lang="ko-KR" sz="800" b="1" dirty="0">
              <a:solidFill>
                <a:srgbClr val="4F7FA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buNone/>
            </a:pPr>
            <a:r>
              <a:rPr lang="ko-KR" sz="680" b="0" dirty="0">
                <a:solidFill>
                  <a:srgbClr val="888888"/>
                </a:solidFill>
                <a:latin typeface="Microsoft JhengHei" panose="020B0604030504040204" pitchFamily="34" charset="-120"/>
                <a:ea typeface="Microsoft JhengHei" panose="020B0604030504040204" pitchFamily="34" charset="-120"/>
                <a:cs typeface="Microsoft JhengHei" panose="020B0604030504040204" pitchFamily="34" charset="-120"/>
              </a:rPr>
              <a:t>65세 이상</a:t>
            </a:r>
            <a:endParaRPr lang="ko-KR" sz="680" b="0" dirty="0">
              <a:solidFill>
                <a:srgbClr val="88888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spcBef>
                <a:spcPts val="400"/>
              </a:spcBef>
              <a:buNone/>
            </a:pPr>
            <a:r>
              <a:rPr lang="en-US" sz="2800" b="1" dirty="0">
                <a:solidFill>
                  <a:srgbClr val="4F7FA8"/>
                </a:solidFill>
                <a:latin typeface="Microsoft JhengHei" panose="020B0604030504040204" pitchFamily="34" charset="-120"/>
                <a:ea typeface="Microsoft JhengHei" panose="020B0604030504040204" pitchFamily="34" charset="-120"/>
                <a:cs typeface="Microsoft JhengHei" panose="020B0604030504040204" pitchFamily="34" charset="-120"/>
              </a:rPr>
              <a:t>0.413</a:t>
            </a:r>
            <a:endParaRPr lang="en-US" sz="2800" b="1" dirty="0">
              <a:solidFill>
                <a:srgbClr val="4F7FA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buNone/>
            </a:pPr>
            <a:r>
              <a:rPr lang="ko-KR" sz="68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p = 0.040</a:t>
            </a:r>
            <a:endParaRPr lang="ko-KR" sz="68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ctr">
              <a:buNone/>
            </a:pPr>
            <a:r>
              <a:rPr lang="ko-KR" sz="720" b="1" dirty="0">
                <a:solidFill>
                  <a:srgbClr val="4F7FA8"/>
                </a:solidFill>
                <a:latin typeface="Microsoft JhengHei" panose="020B0604030504040204" pitchFamily="34" charset="-120"/>
                <a:ea typeface="Microsoft JhengHei" panose="020B0604030504040204" pitchFamily="34" charset="-120"/>
                <a:cs typeface="Microsoft JhengHei" panose="020B0604030504040204" pitchFamily="34" charset="-120"/>
              </a:rPr>
              <a:t>유의한 정합성</a:t>
            </a:r>
            <a:endParaRPr lang="ko-KR" sz="720" b="1" dirty="0">
              <a:solidFill>
                <a:srgbClr val="4F7FA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7" name="InterpretLabel"/>
          <p:cNvSpPr/>
          <p:nvPr/>
        </p:nvSpPr>
        <p:spPr>
          <a:xfrm>
            <a:off x="243389" y="2882925"/>
            <a:ext cx="8783000" cy="140000"/>
          </a:xfrm>
          <a:prstGeom prst="rect">
            <a:avLst/>
          </a:prstGeom>
          <a:noFill/>
        </p:spPr>
        <p:txBody>
          <a:bodyPr lIns="0" tIns="0" rIns="0" bIns="0" anchor="ctr"/>
          <a:lstStyle/>
          <a:p>
            <a:pPr algn="l">
              <a:buNone/>
            </a:pPr>
            <a:r>
              <a:rPr lang="ko-KR" sz="85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이 숫자가 말하는 것</a:t>
            </a:r>
            <a:endParaRPr lang="ko-KR" sz="85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8" name="InterpBg1"/>
          <p:cNvSpPr/>
          <p:nvPr/>
        </p:nvSpPr>
        <p:spPr>
          <a:xfrm>
            <a:off x="243389" y="3042925"/>
            <a:ext cx="2820000" cy="450000"/>
          </a:xfrm>
          <a:prstGeom prst="roundRect">
            <a:avLst>
              <a:gd name="adj" fmla="val 2500"/>
            </a:avLst>
          </a:prstGeom>
          <a:solidFill>
            <a:srgbClr val="F8F8FA"/>
          </a:solidFill>
          <a:ln w="6350">
            <a:solidFill>
              <a:srgbClr val="CCCCCC"/>
            </a:solid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49" name="InterpText1"/>
          <p:cNvSpPr/>
          <p:nvPr/>
        </p:nvSpPr>
        <p:spPr>
          <a:xfrm>
            <a:off x="243389" y="3042925"/>
            <a:ext cx="2820000" cy="450000"/>
          </a:xfrm>
          <a:prstGeom prst="rect">
            <a:avLst/>
          </a:prstGeom>
          <a:noFill/>
        </p:spPr>
        <p:txBody>
          <a:bodyPr lIns="120000" tIns="80000" rIns="120000" bIns="80000" anchor="t"/>
          <a:lstStyle/>
          <a:p>
            <a:pPr algn="l">
              <a:buNone/>
            </a:pPr>
            <a:r>
              <a:rPr lang="ko-KR" sz="82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외부 생활취약 지표와 같은 방향</a:t>
            </a:r>
            <a:endParaRPr lang="ko-KR" sz="82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buNone/>
            </a:pPr>
            <a:r>
              <a:rPr lang="ko-KR"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위험지수 높은 자치구일수록 기초수급자 비율도 높게 나타남</a:t>
            </a:r>
            <a:endParaRPr lang="ko-KR"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4" name="InterpBg2"/>
          <p:cNvSpPr/>
          <p:nvPr/>
        </p:nvSpPr>
        <p:spPr>
          <a:xfrm>
            <a:off x="3122865" y="3042925"/>
            <a:ext cx="2820000" cy="450000"/>
          </a:xfrm>
          <a:prstGeom prst="roundRect">
            <a:avLst>
              <a:gd name="adj" fmla="val 2500"/>
            </a:avLst>
          </a:prstGeom>
          <a:solidFill>
            <a:srgbClr val="F8F8FA"/>
          </a:solidFill>
          <a:ln w="6350">
            <a:solidFill>
              <a:srgbClr val="CCCCCC"/>
            </a:solid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55" name="InterpText2"/>
          <p:cNvSpPr/>
          <p:nvPr/>
        </p:nvSpPr>
        <p:spPr>
          <a:xfrm>
            <a:off x="3122865" y="3042925"/>
            <a:ext cx="2820000" cy="450000"/>
          </a:xfrm>
          <a:prstGeom prst="rect">
            <a:avLst/>
          </a:prstGeom>
          <a:noFill/>
        </p:spPr>
        <p:txBody>
          <a:bodyPr lIns="120000" tIns="80000" rIns="120000" bIns="80000" anchor="t"/>
          <a:lstStyle/>
          <a:p>
            <a:pPr algn="l">
              <a:buNone/>
            </a:pPr>
            <a:r>
              <a:rPr lang="ko-KR" sz="82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청년</a:t>
            </a:r>
            <a:r>
              <a:rPr lang="en-US" altLang="ko-KR" sz="82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sz="82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중장년에서 정합성이 더 </a:t>
            </a:r>
            <a:r>
              <a:rPr lang="ko-KR" sz="82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뚜렷함</a:t>
            </a:r>
            <a:endParaRPr lang="ko-KR" sz="82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buNone/>
            </a:pPr>
            <a:r>
              <a:rPr lang="ko-KR"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경제생활 취약성이 활동 단절 위험과 더 직접 맞물리는 가능성</a:t>
            </a:r>
            <a:endParaRPr lang="ko-KR"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6" name="InterpBg3"/>
          <p:cNvSpPr/>
          <p:nvPr/>
        </p:nvSpPr>
        <p:spPr>
          <a:xfrm>
            <a:off x="6002865" y="3042925"/>
            <a:ext cx="2820000" cy="450000"/>
          </a:xfrm>
          <a:prstGeom prst="roundRect">
            <a:avLst>
              <a:gd name="adj" fmla="val 2500"/>
            </a:avLst>
          </a:prstGeom>
          <a:solidFill>
            <a:srgbClr val="F8F8FA"/>
          </a:solidFill>
          <a:ln w="6350">
            <a:solidFill>
              <a:srgbClr val="CCCCCC"/>
            </a:solid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57" name="InterpText3"/>
          <p:cNvSpPr/>
          <p:nvPr/>
        </p:nvSpPr>
        <p:spPr>
          <a:xfrm>
            <a:off x="6002865" y="3042925"/>
            <a:ext cx="2820000" cy="450000"/>
          </a:xfrm>
          <a:prstGeom prst="rect">
            <a:avLst/>
          </a:prstGeom>
          <a:noFill/>
        </p:spPr>
        <p:txBody>
          <a:bodyPr lIns="120000" tIns="80000" rIns="120000" bIns="80000" anchor="t"/>
          <a:lstStyle/>
          <a:p>
            <a:pPr algn="l">
              <a:buNone/>
            </a:pPr>
            <a:r>
              <a:rPr lang="ko-KR" sz="82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정책 우선순위 도구로서 신뢰도 보강</a:t>
            </a:r>
            <a:endParaRPr lang="ko-KR" sz="82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algn="l">
              <a:buNone/>
            </a:pPr>
            <a:r>
              <a:rPr lang="ko-KR"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외부 지표로 보조 확인하여</a:t>
            </a:r>
            <a:r>
              <a:rPr lang="en-US" altLang="ko-KR"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신뢰성</a:t>
            </a:r>
            <a:r>
              <a:rPr lang="en-US" altLang="ko-KR"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있는</a:t>
            </a:r>
            <a:r>
              <a:rPr lang="en-US" altLang="ko-KR"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 TOP9 </a:t>
            </a:r>
            <a:r>
              <a:rPr lang="ko-KR" altLang="en-US"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행정동</a:t>
            </a:r>
            <a:r>
              <a:rPr lang="en-US" altLang="ko-KR"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rPr>
              <a:t>도출</a:t>
            </a:r>
            <a:endParaRPr lang="ko-KR" altLang="en-US" sz="74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8" name="SubIndicatorBg"/>
          <p:cNvSpPr/>
          <p:nvPr/>
        </p:nvSpPr>
        <p:spPr>
          <a:xfrm>
            <a:off x="243389" y="3545780"/>
            <a:ext cx="8783000" cy="130000"/>
          </a:xfrm>
          <a:prstGeom prst="rect">
            <a:avLst/>
          </a:prstGeom>
          <a:noFill/>
        </p:spPr>
        <p:txBody>
          <a:bodyPr lIns="0" tIns="0" rIns="0" bIns="0" anchor="ctr"/>
          <a:lstStyle/>
          <a:p>
            <a:pPr algn="l">
              <a:buNone/>
            </a:pPr>
            <a:r>
              <a:rPr lang="ko-KR" sz="650" b="0" dirty="0">
                <a:solidFill>
                  <a:srgbClr val="888888"/>
                </a:solidFill>
                <a:latin typeface="Microsoft JhengHei" panose="020B0604030504040204" pitchFamily="34" charset="-120"/>
                <a:ea typeface="Microsoft JhengHei" panose="020B0604030504040204" pitchFamily="34" charset="-120"/>
                <a:cs typeface="Microsoft JhengHei" panose="020B0604030504040204" pitchFamily="34" charset="-120"/>
              </a:rPr>
              <a:t>※ 독거노인비율 ↔ 노년 위험지수: r=0.278, p&lt;0.001  (행정동 단위 보조 정합성 확인)</a:t>
            </a:r>
            <a:endParaRPr lang="ko-KR" sz="650" b="0" dirty="0">
              <a:solidFill>
                <a:srgbClr val="888888"/>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9" name="CautionBg"/>
          <p:cNvSpPr/>
          <p:nvPr/>
        </p:nvSpPr>
        <p:spPr>
          <a:xfrm>
            <a:off x="243389" y="3807220"/>
            <a:ext cx="8783000" cy="430000"/>
          </a:xfrm>
          <a:prstGeom prst="roundRect">
            <a:avLst>
              <a:gd name="adj" fmla="val 2000"/>
            </a:avLst>
          </a:prstGeom>
          <a:solidFill>
            <a:srgbClr val="FFF8E6"/>
          </a:solidFill>
          <a:ln w="9525">
            <a:solidFill>
              <a:srgbClr val="D4A020"/>
            </a:solid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62" name="CautionText"/>
          <p:cNvSpPr/>
          <p:nvPr/>
        </p:nvSpPr>
        <p:spPr>
          <a:xfrm>
            <a:off x="243389" y="3807220"/>
            <a:ext cx="8783000" cy="430000"/>
          </a:xfrm>
          <a:prstGeom prst="rect">
            <a:avLst/>
          </a:prstGeom>
          <a:noFill/>
        </p:spPr>
        <p:txBody>
          <a:bodyPr lIns="160000" tIns="0" rIns="160000" bIns="0" anchor="ctr"/>
          <a:lstStyle/>
          <a:p>
            <a:pPr algn="l">
              <a:buNone/>
            </a:pPr>
            <a:r>
              <a:rPr lang="ko-KR" sz="1200" b="0" dirty="0">
                <a:solidFill>
                  <a:srgbClr val="C8860A"/>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sz="750" b="1" dirty="0">
                <a:solidFill>
                  <a:srgbClr val="7A5200"/>
                </a:solidFill>
                <a:latin typeface="Microsoft JhengHei" panose="020B0604030504040204" pitchFamily="34" charset="-120"/>
                <a:ea typeface="Microsoft JhengHei" panose="020B0604030504040204" pitchFamily="34" charset="-120"/>
                <a:cs typeface="Microsoft JhengHei" panose="020B0604030504040204" pitchFamily="34" charset="-120"/>
              </a:rPr>
              <a:t>해석 주의</a:t>
            </a:r>
            <a:r>
              <a:rPr lang="ko-KR" sz="750" b="0" dirty="0">
                <a:solidFill>
                  <a:srgbClr val="7A5200"/>
                </a:solidFill>
                <a:latin typeface="Microsoft JhengHei" panose="020B0604030504040204" pitchFamily="34" charset="-120"/>
                <a:ea typeface="Microsoft JhengHei" panose="020B0604030504040204" pitchFamily="34" charset="-120"/>
                <a:cs typeface="Microsoft JhengHei" panose="020B0604030504040204" pitchFamily="34" charset="-120"/>
              </a:rPr>
              <a:t>  본 검증은 인과관계나 개인 고립 여부를 증명하는 것이 아니라, 외부 생활취약 지표와의 방향성을 확인한 보조 검증입니다. </a:t>
            </a:r>
            <a:endParaRPr lang="ko-KR" sz="750" b="0" dirty="0">
              <a:solidFill>
                <a:srgbClr val="7A5200"/>
              </a:solidFill>
              <a:latin typeface="Microsoft JhengHei" panose="020B0604030504040204" pitchFamily="34" charset="-120"/>
              <a:ea typeface="Microsoft JhengHei" panose="020B0604030504040204" pitchFamily="34" charset="-120"/>
              <a:cs typeface="Microsoft JhengHei" panose="020B0604030504040204" pitchFamily="34" charset="-120"/>
            </a:endParaRPr>
          </a:p>
          <a:p>
            <a:pPr indent="457200" algn="l">
              <a:buNone/>
            </a:pPr>
            <a:r>
              <a:rPr lang="ko-KR" sz="750" b="0" dirty="0">
                <a:solidFill>
                  <a:srgbClr val="7A5200"/>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altLang="ko-KR" sz="750" b="0" dirty="0">
                <a:solidFill>
                  <a:srgbClr val="7A5200"/>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sz="750" b="0" dirty="0">
                <a:solidFill>
                  <a:srgbClr val="7A5200"/>
                </a:solidFill>
                <a:latin typeface="Microsoft JhengHei" panose="020B0604030504040204" pitchFamily="34" charset="-120"/>
                <a:ea typeface="Microsoft JhengHei" panose="020B0604030504040204" pitchFamily="34" charset="-120"/>
                <a:cs typeface="Microsoft JhengHei" panose="020B0604030504040204" pitchFamily="34" charset="-120"/>
              </a:rPr>
              <a:t>자살률은 정신건강이개인 사건 등 복합 요인의 영향이 크므</a:t>
            </a:r>
            <a:r>
              <a:rPr lang="ko-KR" sz="750" b="0" dirty="0">
                <a:solidFill>
                  <a:srgbClr val="7A5200"/>
                </a:solidFill>
                <a:latin typeface="Microsoft JhengHei" panose="020B0604030504040204" pitchFamily="34" charset="-120"/>
                <a:ea typeface="Microsoft JhengHei" panose="020B0604030504040204" pitchFamily="34" charset="-120"/>
                <a:cs typeface="Microsoft JhengHei" panose="020B0604030504040204" pitchFamily="34" charset="-120"/>
              </a:rPr>
              <a:t>로 별도 해석했습니다.</a:t>
            </a:r>
            <a:endParaRPr lang="ko-KR" sz="750" b="0" dirty="0">
              <a:solidFill>
                <a:srgbClr val="7A5200"/>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3" name="QuoteBar"/>
          <p:cNvSpPr/>
          <p:nvPr/>
        </p:nvSpPr>
        <p:spPr>
          <a:xfrm>
            <a:off x="558984" y="4595820"/>
            <a:ext cx="9525" cy="260000"/>
          </a:xfrm>
          <a:prstGeom prst="rect">
            <a:avLst/>
          </a:prstGeom>
          <a:solidFill>
            <a:srgbClr val="1B1B27"/>
          </a:solidFill>
          <a:ln>
            <a:no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64" name="QuoteText"/>
          <p:cNvSpPr/>
          <p:nvPr/>
        </p:nvSpPr>
        <p:spPr>
          <a:xfrm>
            <a:off x="682865" y="4605820"/>
            <a:ext cx="8300000" cy="200000"/>
          </a:xfrm>
          <a:prstGeom prst="rect">
            <a:avLst/>
          </a:prstGeom>
          <a:noFill/>
        </p:spPr>
        <p:txBody>
          <a:bodyPr wrap="square" lIns="0" tIns="0" rIns="0" bIns="0" rtlCol="0" anchor="ctr"/>
          <a:lstStyle/>
          <a:p>
            <a:pPr marL="0" indent="0" algn="l">
              <a:buNone/>
            </a:pPr>
            <a:r>
              <a:rPr lang="ko-KR" altLang="en-US" sz="70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외부 취약지표와의 정합성은 지수의 활용 가능성을 뒷받침합니다.</a:t>
            </a:r>
            <a:endParaRPr lang="ko-KR" altLang="en-US" sz="70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Shape 77"/>
          <p:cNvSpPr/>
          <p:nvPr/>
        </p:nvSpPr>
        <p:spPr>
          <a:xfrm>
            <a:off x="6392004" y="791952"/>
            <a:ext cx="156995" cy="156995"/>
          </a:xfrm>
          <a:prstGeom prst="roundRect">
            <a:avLst>
              <a:gd name="adj" fmla="val 18667"/>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0" name="Text 78"/>
          <p:cNvSpPr/>
          <p:nvPr/>
        </p:nvSpPr>
        <p:spPr>
          <a:xfrm>
            <a:off x="6418151" y="805011"/>
            <a:ext cx="104645" cy="130820"/>
          </a:xfrm>
          <a:prstGeom prst="rect">
            <a:avLst/>
          </a:prstGeom>
          <a:noFill/>
        </p:spPr>
        <p:txBody>
          <a:bodyPr wrap="none" lIns="0" tIns="0" rIns="0" bIns="0" rtlCol="0" anchor="ctr"/>
          <a:lstStyle/>
          <a:p>
            <a:pPr marL="0" indent="0" algn="ctr">
              <a:lnSpc>
                <a:spcPct val="1000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1</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1" name="Text 79"/>
          <p:cNvSpPr/>
          <p:nvPr/>
        </p:nvSpPr>
        <p:spPr>
          <a:xfrm>
            <a:off x="6601294" y="815894"/>
            <a:ext cx="872152" cy="108998"/>
          </a:xfrm>
          <a:prstGeom prst="rect">
            <a:avLst/>
          </a:prstGeom>
          <a:noFill/>
        </p:spPr>
        <p:txBody>
          <a:bodyPr wrap="none" lIns="0" tIns="0" rIns="0" bIns="0" rtlCol="0" anchor="t"/>
          <a:lstStyle/>
          <a:p>
            <a:pPr marL="0" indent="0" algn="l">
              <a:lnSpc>
                <a:spcPts val="11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가리봉동</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2" name="Text 80"/>
          <p:cNvSpPr/>
          <p:nvPr/>
        </p:nvSpPr>
        <p:spPr>
          <a:xfrm>
            <a:off x="6601294" y="977187"/>
            <a:ext cx="2008398" cy="78135"/>
          </a:xfrm>
          <a:prstGeom prst="rect">
            <a:avLst/>
          </a:prstGeom>
          <a:noFill/>
        </p:spPr>
        <p:txBody>
          <a:bodyPr wrap="none" lIns="0" tIns="0" rIns="0" bIns="0" rtlCol="0" anchor="t"/>
          <a:lstStyle/>
          <a:p>
            <a:pPr marL="0" indent="0" algn="l">
              <a:lnSpc>
                <a:spcPts val="8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청년·중장년·노년 모두 높고, 복합 결핍 가능성이 큰 지역</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3" name="Shape 81"/>
          <p:cNvSpPr/>
          <p:nvPr/>
        </p:nvSpPr>
        <p:spPr>
          <a:xfrm>
            <a:off x="6392004" y="1159967"/>
            <a:ext cx="156995" cy="156995"/>
          </a:xfrm>
          <a:prstGeom prst="roundRect">
            <a:avLst>
              <a:gd name="adj" fmla="val 18667"/>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4" name="Text 82"/>
          <p:cNvSpPr/>
          <p:nvPr/>
        </p:nvSpPr>
        <p:spPr>
          <a:xfrm>
            <a:off x="6418151" y="1173026"/>
            <a:ext cx="104645" cy="130820"/>
          </a:xfrm>
          <a:prstGeom prst="rect">
            <a:avLst/>
          </a:prstGeom>
          <a:noFill/>
        </p:spPr>
        <p:txBody>
          <a:bodyPr wrap="none" lIns="0" tIns="0" rIns="0" bIns="0" rtlCol="0" anchor="ctr"/>
          <a:lstStyle/>
          <a:p>
            <a:pPr marL="0" indent="0" algn="ctr">
              <a:lnSpc>
                <a:spcPct val="1000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2</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5" name="Text 83"/>
          <p:cNvSpPr/>
          <p:nvPr/>
        </p:nvSpPr>
        <p:spPr>
          <a:xfrm>
            <a:off x="6601294" y="1183910"/>
            <a:ext cx="872152" cy="108998"/>
          </a:xfrm>
          <a:prstGeom prst="rect">
            <a:avLst/>
          </a:prstGeom>
          <a:noFill/>
        </p:spPr>
        <p:txBody>
          <a:bodyPr wrap="none" lIns="0" tIns="0" rIns="0" bIns="0" rtlCol="0" anchor="t"/>
          <a:lstStyle/>
          <a:p>
            <a:pPr marL="0" indent="0" algn="l">
              <a:lnSpc>
                <a:spcPts val="11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신원동</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6" name="Text 84"/>
          <p:cNvSpPr/>
          <p:nvPr/>
        </p:nvSpPr>
        <p:spPr>
          <a:xfrm>
            <a:off x="6601294" y="1345201"/>
            <a:ext cx="2008398" cy="78135"/>
          </a:xfrm>
          <a:prstGeom prst="rect">
            <a:avLst/>
          </a:prstGeom>
          <a:noFill/>
        </p:spPr>
        <p:txBody>
          <a:bodyPr wrap="none" lIns="0" tIns="0" rIns="0" bIns="0" rtlCol="0" anchor="t"/>
          <a:lstStyle/>
          <a:p>
            <a:pPr marL="0" indent="0" algn="l">
              <a:lnSpc>
                <a:spcPts val="8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전생애 위험이 높고 정책 우선 연결이 필요한 지역</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7" name="Shape 85"/>
          <p:cNvSpPr/>
          <p:nvPr/>
        </p:nvSpPr>
        <p:spPr>
          <a:xfrm>
            <a:off x="6392004" y="1527981"/>
            <a:ext cx="156995" cy="156995"/>
          </a:xfrm>
          <a:prstGeom prst="roundRect">
            <a:avLst>
              <a:gd name="adj" fmla="val 18667"/>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8" name="Text 86"/>
          <p:cNvSpPr/>
          <p:nvPr/>
        </p:nvSpPr>
        <p:spPr>
          <a:xfrm>
            <a:off x="6418151" y="1541041"/>
            <a:ext cx="104645" cy="130820"/>
          </a:xfrm>
          <a:prstGeom prst="rect">
            <a:avLst/>
          </a:prstGeom>
          <a:noFill/>
        </p:spPr>
        <p:txBody>
          <a:bodyPr wrap="none" lIns="0" tIns="0" rIns="0" bIns="0" rtlCol="0" anchor="ctr"/>
          <a:lstStyle/>
          <a:p>
            <a:pPr marL="0" indent="0" algn="ctr">
              <a:lnSpc>
                <a:spcPct val="1000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3</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9" name="Text 87"/>
          <p:cNvSpPr/>
          <p:nvPr/>
        </p:nvSpPr>
        <p:spPr>
          <a:xfrm>
            <a:off x="6601294" y="1551924"/>
            <a:ext cx="872152" cy="108998"/>
          </a:xfrm>
          <a:prstGeom prst="rect">
            <a:avLst/>
          </a:prstGeom>
          <a:noFill/>
        </p:spPr>
        <p:txBody>
          <a:bodyPr wrap="none" lIns="0" tIns="0" rIns="0" bIns="0" rtlCol="0" anchor="t"/>
          <a:lstStyle/>
          <a:p>
            <a:pPr marL="0" indent="0" algn="l">
              <a:lnSpc>
                <a:spcPts val="11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독산2동</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0" name="Text 88"/>
          <p:cNvSpPr/>
          <p:nvPr/>
        </p:nvSpPr>
        <p:spPr>
          <a:xfrm>
            <a:off x="6601294" y="1713216"/>
            <a:ext cx="2008398" cy="78135"/>
          </a:xfrm>
          <a:prstGeom prst="rect">
            <a:avLst/>
          </a:prstGeom>
          <a:noFill/>
        </p:spPr>
        <p:txBody>
          <a:bodyPr wrap="none" lIns="0" tIns="0" rIns="0" bIns="0" rtlCol="0" anchor="t"/>
          <a:lstStyle/>
          <a:p>
            <a:pPr marL="0" indent="0" algn="l">
              <a:lnSpc>
                <a:spcPts val="8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중장년·노년 위험이 높고 생활기반 취약 가능성이 큼</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1" name="Shape 89"/>
          <p:cNvSpPr/>
          <p:nvPr/>
        </p:nvSpPr>
        <p:spPr>
          <a:xfrm>
            <a:off x="6392004" y="1895996"/>
            <a:ext cx="156995" cy="156995"/>
          </a:xfrm>
          <a:prstGeom prst="roundRect">
            <a:avLst>
              <a:gd name="adj" fmla="val 18667"/>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92" name="Text 90"/>
          <p:cNvSpPr/>
          <p:nvPr/>
        </p:nvSpPr>
        <p:spPr>
          <a:xfrm>
            <a:off x="6418151" y="1909055"/>
            <a:ext cx="104645" cy="130820"/>
          </a:xfrm>
          <a:prstGeom prst="rect">
            <a:avLst/>
          </a:prstGeom>
          <a:noFill/>
        </p:spPr>
        <p:txBody>
          <a:bodyPr wrap="none" lIns="0" tIns="0" rIns="0" bIns="0" rtlCol="0" anchor="ctr"/>
          <a:lstStyle/>
          <a:p>
            <a:pPr marL="0" indent="0" algn="ctr">
              <a:lnSpc>
                <a:spcPct val="1000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4</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3" name="Text 91"/>
          <p:cNvSpPr/>
          <p:nvPr/>
        </p:nvSpPr>
        <p:spPr>
          <a:xfrm>
            <a:off x="6601294" y="1919938"/>
            <a:ext cx="872152" cy="108998"/>
          </a:xfrm>
          <a:prstGeom prst="rect">
            <a:avLst/>
          </a:prstGeom>
          <a:noFill/>
        </p:spPr>
        <p:txBody>
          <a:bodyPr wrap="none" lIns="0" tIns="0" rIns="0" bIns="0" rtlCol="0" anchor="t"/>
          <a:lstStyle/>
          <a:p>
            <a:pPr marL="0" indent="0" algn="l">
              <a:lnSpc>
                <a:spcPts val="11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청림동</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4" name="Text 92"/>
          <p:cNvSpPr/>
          <p:nvPr/>
        </p:nvSpPr>
        <p:spPr>
          <a:xfrm>
            <a:off x="6601294" y="2081231"/>
            <a:ext cx="2008398" cy="78135"/>
          </a:xfrm>
          <a:prstGeom prst="rect">
            <a:avLst/>
          </a:prstGeom>
          <a:noFill/>
        </p:spPr>
        <p:txBody>
          <a:bodyPr wrap="none" lIns="0" tIns="0" rIns="0" bIns="0" rtlCol="0" anchor="t"/>
          <a:lstStyle/>
          <a:p>
            <a:pPr marL="0" indent="0" algn="l">
              <a:lnSpc>
                <a:spcPts val="8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생애주기 전반에서 고립 취약 신호가 높게 나타남</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5" name="Shape 93"/>
          <p:cNvSpPr/>
          <p:nvPr/>
        </p:nvSpPr>
        <p:spPr>
          <a:xfrm>
            <a:off x="6392004" y="2264011"/>
            <a:ext cx="156995" cy="156995"/>
          </a:xfrm>
          <a:prstGeom prst="roundRect">
            <a:avLst>
              <a:gd name="adj" fmla="val 18667"/>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96" name="Text 94"/>
          <p:cNvSpPr/>
          <p:nvPr/>
        </p:nvSpPr>
        <p:spPr>
          <a:xfrm>
            <a:off x="6418151" y="2277071"/>
            <a:ext cx="104645" cy="130820"/>
          </a:xfrm>
          <a:prstGeom prst="rect">
            <a:avLst/>
          </a:prstGeom>
          <a:noFill/>
        </p:spPr>
        <p:txBody>
          <a:bodyPr wrap="none" lIns="0" tIns="0" rIns="0" bIns="0" rtlCol="0" anchor="ctr"/>
          <a:lstStyle/>
          <a:p>
            <a:pPr marL="0" indent="0" algn="ctr">
              <a:lnSpc>
                <a:spcPct val="1000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5</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7" name="Text 95"/>
          <p:cNvSpPr/>
          <p:nvPr/>
        </p:nvSpPr>
        <p:spPr>
          <a:xfrm>
            <a:off x="6601294" y="2287953"/>
            <a:ext cx="872152" cy="108998"/>
          </a:xfrm>
          <a:prstGeom prst="rect">
            <a:avLst/>
          </a:prstGeom>
          <a:noFill/>
        </p:spPr>
        <p:txBody>
          <a:bodyPr wrap="none" lIns="0" tIns="0" rIns="0" bIns="0" rtlCol="0" anchor="t"/>
          <a:lstStyle/>
          <a:p>
            <a:pPr marL="0" indent="0" algn="l">
              <a:lnSpc>
                <a:spcPts val="11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신월3동</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8" name="Text 96"/>
          <p:cNvSpPr/>
          <p:nvPr/>
        </p:nvSpPr>
        <p:spPr>
          <a:xfrm>
            <a:off x="6601294" y="2449246"/>
            <a:ext cx="2008398" cy="78135"/>
          </a:xfrm>
          <a:prstGeom prst="rect">
            <a:avLst/>
          </a:prstGeom>
          <a:noFill/>
        </p:spPr>
        <p:txBody>
          <a:bodyPr wrap="none" lIns="0" tIns="0" rIns="0" bIns="0" rtlCol="0" anchor="t"/>
          <a:lstStyle/>
          <a:p>
            <a:pPr marL="0" indent="0" algn="l">
              <a:lnSpc>
                <a:spcPts val="8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복합위험 상위 지역으로 선제 대응 검토 필요</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9" name="Shape 97"/>
          <p:cNvSpPr/>
          <p:nvPr/>
        </p:nvSpPr>
        <p:spPr>
          <a:xfrm>
            <a:off x="6392004" y="2632025"/>
            <a:ext cx="156995" cy="156995"/>
          </a:xfrm>
          <a:prstGeom prst="roundRect">
            <a:avLst>
              <a:gd name="adj" fmla="val 18667"/>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00" name="Text 98"/>
          <p:cNvSpPr/>
          <p:nvPr/>
        </p:nvSpPr>
        <p:spPr>
          <a:xfrm>
            <a:off x="6418151" y="2645085"/>
            <a:ext cx="104645" cy="130820"/>
          </a:xfrm>
          <a:prstGeom prst="rect">
            <a:avLst/>
          </a:prstGeom>
          <a:noFill/>
        </p:spPr>
        <p:txBody>
          <a:bodyPr wrap="none" lIns="0" tIns="0" rIns="0" bIns="0" rtlCol="0" anchor="ctr"/>
          <a:lstStyle/>
          <a:p>
            <a:pPr marL="0" indent="0" algn="ctr">
              <a:lnSpc>
                <a:spcPct val="1000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6</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1" name="Text 99"/>
          <p:cNvSpPr/>
          <p:nvPr/>
        </p:nvSpPr>
        <p:spPr>
          <a:xfrm>
            <a:off x="6601294" y="2655968"/>
            <a:ext cx="872152" cy="108998"/>
          </a:xfrm>
          <a:prstGeom prst="rect">
            <a:avLst/>
          </a:prstGeom>
          <a:noFill/>
        </p:spPr>
        <p:txBody>
          <a:bodyPr wrap="none" lIns="0" tIns="0" rIns="0" bIns="0" rtlCol="0" anchor="t"/>
          <a:lstStyle/>
          <a:p>
            <a:pPr marL="0" indent="0" algn="l">
              <a:lnSpc>
                <a:spcPts val="11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망우3동</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2" name="Text 100"/>
          <p:cNvSpPr/>
          <p:nvPr/>
        </p:nvSpPr>
        <p:spPr>
          <a:xfrm>
            <a:off x="6601294" y="2817260"/>
            <a:ext cx="2008398" cy="78135"/>
          </a:xfrm>
          <a:prstGeom prst="rect">
            <a:avLst/>
          </a:prstGeom>
          <a:noFill/>
        </p:spPr>
        <p:txBody>
          <a:bodyPr wrap="none" lIns="0" tIns="0" rIns="0" bIns="0" rtlCol="0" anchor="t"/>
          <a:lstStyle/>
          <a:p>
            <a:pPr marL="0" indent="0" algn="l">
              <a:lnSpc>
                <a:spcPts val="8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중첩 위험과 인프라 보완 필요성이 함께 나타남</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3" name="Shape 101"/>
          <p:cNvSpPr/>
          <p:nvPr/>
        </p:nvSpPr>
        <p:spPr>
          <a:xfrm>
            <a:off x="6392004" y="3000041"/>
            <a:ext cx="156995" cy="156995"/>
          </a:xfrm>
          <a:prstGeom prst="roundRect">
            <a:avLst>
              <a:gd name="adj" fmla="val 18667"/>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04" name="Text 102"/>
          <p:cNvSpPr/>
          <p:nvPr/>
        </p:nvSpPr>
        <p:spPr>
          <a:xfrm>
            <a:off x="6418151" y="3013100"/>
            <a:ext cx="104645" cy="130820"/>
          </a:xfrm>
          <a:prstGeom prst="rect">
            <a:avLst/>
          </a:prstGeom>
          <a:noFill/>
        </p:spPr>
        <p:txBody>
          <a:bodyPr wrap="none" lIns="0" tIns="0" rIns="0" bIns="0" rtlCol="0" anchor="ctr"/>
          <a:lstStyle/>
          <a:p>
            <a:pPr marL="0" indent="0" algn="ctr">
              <a:lnSpc>
                <a:spcPct val="1000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7</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5" name="Text 103"/>
          <p:cNvSpPr/>
          <p:nvPr/>
        </p:nvSpPr>
        <p:spPr>
          <a:xfrm>
            <a:off x="6601294" y="3023983"/>
            <a:ext cx="872152" cy="108998"/>
          </a:xfrm>
          <a:prstGeom prst="rect">
            <a:avLst/>
          </a:prstGeom>
          <a:noFill/>
        </p:spPr>
        <p:txBody>
          <a:bodyPr wrap="none" lIns="0" tIns="0" rIns="0" bIns="0" rtlCol="0" anchor="t"/>
          <a:lstStyle/>
          <a:p>
            <a:pPr marL="0" indent="0" algn="l">
              <a:lnSpc>
                <a:spcPts val="11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창신2동</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6" name="Text 104"/>
          <p:cNvSpPr/>
          <p:nvPr/>
        </p:nvSpPr>
        <p:spPr>
          <a:xfrm>
            <a:off x="6601294" y="3185276"/>
            <a:ext cx="2008398" cy="78135"/>
          </a:xfrm>
          <a:prstGeom prst="rect">
            <a:avLst/>
          </a:prstGeom>
          <a:noFill/>
        </p:spPr>
        <p:txBody>
          <a:bodyPr wrap="none" lIns="0" tIns="0" rIns="0" bIns="0" rtlCol="0" anchor="t"/>
          <a:lstStyle/>
          <a:p>
            <a:pPr marL="0" indent="0" algn="l">
              <a:lnSpc>
                <a:spcPts val="8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삼중 결핍 가능성이 높은 대표 지역</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7" name="Shape 105"/>
          <p:cNvSpPr/>
          <p:nvPr/>
        </p:nvSpPr>
        <p:spPr>
          <a:xfrm>
            <a:off x="6392004" y="3368055"/>
            <a:ext cx="156995" cy="156995"/>
          </a:xfrm>
          <a:prstGeom prst="roundRect">
            <a:avLst>
              <a:gd name="adj" fmla="val 18667"/>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08" name="Text 106"/>
          <p:cNvSpPr/>
          <p:nvPr/>
        </p:nvSpPr>
        <p:spPr>
          <a:xfrm>
            <a:off x="6418151" y="3381115"/>
            <a:ext cx="104645" cy="130820"/>
          </a:xfrm>
          <a:prstGeom prst="rect">
            <a:avLst/>
          </a:prstGeom>
          <a:noFill/>
        </p:spPr>
        <p:txBody>
          <a:bodyPr wrap="none" lIns="0" tIns="0" rIns="0" bIns="0" rtlCol="0" anchor="ctr"/>
          <a:lstStyle/>
          <a:p>
            <a:pPr marL="0" indent="0" algn="ctr">
              <a:lnSpc>
                <a:spcPct val="1000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8</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9" name="Text 107"/>
          <p:cNvSpPr/>
          <p:nvPr/>
        </p:nvSpPr>
        <p:spPr>
          <a:xfrm>
            <a:off x="6601294" y="3391997"/>
            <a:ext cx="872152" cy="108998"/>
          </a:xfrm>
          <a:prstGeom prst="rect">
            <a:avLst/>
          </a:prstGeom>
          <a:noFill/>
        </p:spPr>
        <p:txBody>
          <a:bodyPr wrap="none" lIns="0" tIns="0" rIns="0" bIns="0" rtlCol="0" anchor="t"/>
          <a:lstStyle/>
          <a:p>
            <a:pPr marL="0" indent="0" algn="l">
              <a:lnSpc>
                <a:spcPts val="11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신길4동</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0" name="Text 108"/>
          <p:cNvSpPr/>
          <p:nvPr/>
        </p:nvSpPr>
        <p:spPr>
          <a:xfrm>
            <a:off x="6601294" y="3553290"/>
            <a:ext cx="2008398" cy="78135"/>
          </a:xfrm>
          <a:prstGeom prst="rect">
            <a:avLst/>
          </a:prstGeom>
          <a:noFill/>
        </p:spPr>
        <p:txBody>
          <a:bodyPr wrap="none" lIns="0" tIns="0" rIns="0" bIns="0" rtlCol="0" anchor="t"/>
          <a:lstStyle/>
          <a:p>
            <a:pPr marL="0" indent="0" algn="l">
              <a:lnSpc>
                <a:spcPts val="8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복합위험과 인프라 취약이 함께 관찰되는 지역</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1" name="Shape 109"/>
          <p:cNvSpPr/>
          <p:nvPr/>
        </p:nvSpPr>
        <p:spPr>
          <a:xfrm>
            <a:off x="6392004" y="3736070"/>
            <a:ext cx="156995" cy="156995"/>
          </a:xfrm>
          <a:prstGeom prst="roundRect">
            <a:avLst>
              <a:gd name="adj" fmla="val 18667"/>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12" name="Text 110"/>
          <p:cNvSpPr/>
          <p:nvPr/>
        </p:nvSpPr>
        <p:spPr>
          <a:xfrm>
            <a:off x="6418151" y="3749129"/>
            <a:ext cx="104645" cy="130820"/>
          </a:xfrm>
          <a:prstGeom prst="rect">
            <a:avLst/>
          </a:prstGeom>
          <a:noFill/>
        </p:spPr>
        <p:txBody>
          <a:bodyPr wrap="none" lIns="0" tIns="0" rIns="0" bIns="0" rtlCol="0" anchor="ctr"/>
          <a:lstStyle/>
          <a:p>
            <a:pPr marL="0" indent="0" algn="ctr">
              <a:lnSpc>
                <a:spcPct val="1000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9</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3" name="Text 111"/>
          <p:cNvSpPr/>
          <p:nvPr/>
        </p:nvSpPr>
        <p:spPr>
          <a:xfrm>
            <a:off x="6601294" y="3760013"/>
            <a:ext cx="872152" cy="108998"/>
          </a:xfrm>
          <a:prstGeom prst="rect">
            <a:avLst/>
          </a:prstGeom>
          <a:noFill/>
        </p:spPr>
        <p:txBody>
          <a:bodyPr wrap="none" lIns="0" tIns="0" rIns="0" bIns="0" rtlCol="0" anchor="t"/>
          <a:lstStyle/>
          <a:p>
            <a:pPr marL="0" indent="0" algn="l">
              <a:lnSpc>
                <a:spcPts val="11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청구동</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4" name="Text 112"/>
          <p:cNvSpPr/>
          <p:nvPr/>
        </p:nvSpPr>
        <p:spPr>
          <a:xfrm>
            <a:off x="6601294" y="3921305"/>
            <a:ext cx="2008398" cy="78135"/>
          </a:xfrm>
          <a:prstGeom prst="rect">
            <a:avLst/>
          </a:prstGeom>
          <a:noFill/>
        </p:spPr>
        <p:txBody>
          <a:bodyPr wrap="none" lIns="0" tIns="0" rIns="0" bIns="0" rtlCol="0" anchor="t"/>
          <a:lstStyle/>
          <a:p>
            <a:pPr marL="0" indent="0" algn="l">
              <a:lnSpc>
                <a:spcPts val="8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전생애 위험이 높아 우선 개입 후보로 검토 가능</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5" name="Shape 113"/>
          <p:cNvSpPr/>
          <p:nvPr/>
        </p:nvSpPr>
        <p:spPr>
          <a:xfrm>
            <a:off x="6392004" y="4149337"/>
            <a:ext cx="2217688" cy="5191"/>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16" name="Text 114"/>
          <p:cNvSpPr/>
          <p:nvPr/>
        </p:nvSpPr>
        <p:spPr>
          <a:xfrm>
            <a:off x="6392004" y="4230130"/>
            <a:ext cx="2217688" cy="78135"/>
          </a:xfrm>
          <a:prstGeom prst="rect">
            <a:avLst/>
          </a:prstGeom>
          <a:noFill/>
        </p:spPr>
        <p:txBody>
          <a:bodyPr wrap="none" lIns="0" tIns="0" rIns="0" bIns="0" rtlCol="0" anchor="t"/>
          <a:lstStyle/>
          <a:p>
            <a:pPr marL="0" indent="0" algn="l">
              <a:lnSpc>
                <a:spcPts val="800"/>
              </a:lnSpc>
              <a:buNone/>
            </a:pPr>
            <a:r>
              <a:rPr lang="en-US" sz="8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선정 기준</a:t>
            </a:r>
            <a:endParaRPr lang="en-US" sz="8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7" name="Text 115"/>
          <p:cNvSpPr/>
          <p:nvPr/>
        </p:nvSpPr>
        <p:spPr>
          <a:xfrm>
            <a:off x="6392004" y="4355313"/>
            <a:ext cx="2217688" cy="367457"/>
          </a:xfrm>
          <a:prstGeom prst="rect">
            <a:avLst/>
          </a:prstGeom>
          <a:noFill/>
        </p:spPr>
        <p:txBody>
          <a:bodyPr wrap="square" lIns="0" tIns="0" rIns="0" bIns="0" rtlCol="0" anchor="t"/>
          <a:lstStyle/>
          <a:p>
            <a:pPr marL="342900" indent="-342900" algn="l">
              <a:lnSpc>
                <a:spcPts val="1000"/>
              </a:lnSpc>
              <a:buSzPct val="100000"/>
              <a:buFont typeface="+mj-lt"/>
              <a:buAutoNum type="arabicPeriod"/>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복합위험지수 상위권</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1000"/>
              </a:lnSpc>
              <a:buSzPct val="100000"/>
              <a:buFont typeface="+mj-lt"/>
              <a:buAutoNum type="arabicPeriod" startAt="2"/>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청년·중장년·노년 위험 중첩</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1000"/>
              </a:lnSpc>
              <a:buSzPct val="100000"/>
              <a:buFont typeface="+mj-lt"/>
              <a:buAutoNum type="arabicPeriod" startAt="3"/>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2개 축 이상 결핍 가능성</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342900" indent="-342900" algn="l">
              <a:lnSpc>
                <a:spcPts val="1000"/>
              </a:lnSpc>
              <a:buSzPct val="100000"/>
              <a:buFont typeface="+mj-lt"/>
              <a:buAutoNum type="arabicPeriod" startAt="4"/>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기존 정책과의 연결 가능성</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8"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19"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04 분석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결과</a:t>
            </a:r>
            <a:endPar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0"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전생애</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중첩위험</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TOP9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행정동</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1"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pic>
        <p:nvPicPr>
          <p:cNvPr id="122" name="Picture 121" descr="heatmap_top9_v2"/>
          <p:cNvPicPr>
            <a:picLocks noChangeAspect="1"/>
          </p:cNvPicPr>
          <p:nvPr/>
        </p:nvPicPr>
        <p:blipFill>
          <a:blip r:embed="rId1"/>
          <a:stretch>
            <a:fillRect/>
          </a:stretch>
        </p:blipFill>
        <p:spPr>
          <a:xfrm>
            <a:off x="497840" y="848360"/>
            <a:ext cx="5493385" cy="3300095"/>
          </a:xfrm>
          <a:prstGeom prst="rect">
            <a:avLst/>
          </a:prstGeom>
        </p:spPr>
      </p:pic>
      <p:sp>
        <p:nvSpPr>
          <p:cNvPr id="123" name="Text 21"/>
          <p:cNvSpPr/>
          <p:nvPr/>
        </p:nvSpPr>
        <p:spPr>
          <a:xfrm>
            <a:off x="607368" y="4635550"/>
            <a:ext cx="8048253" cy="104105"/>
          </a:xfrm>
          <a:prstGeom prst="rect">
            <a:avLst/>
          </a:prstGeom>
          <a:noFill/>
        </p:spPr>
        <p:txBody>
          <a:bodyPr wrap="none" lIns="0" tIns="0" rIns="0" bIns="0" rtlCol="0" anchor="t"/>
          <a:lstStyle/>
          <a:p>
            <a:pPr marL="0" indent="0" algn="l">
              <a:lnSpc>
                <a:spcPts val="800"/>
              </a:lnSpc>
              <a:buNone/>
            </a:pPr>
            <a:r>
              <a:rPr lang="en-US" altLang="en-US" sz="600" dirty="0">
                <a:latin typeface="Microsoft JhengHei" panose="020B0604030504040204" pitchFamily="34" charset="-120"/>
                <a:ea typeface="Microsoft JhengHei" panose="020B0604030504040204" pitchFamily="34" charset="-120"/>
                <a:cs typeface="Microsoft JhengHei" panose="020B0604030504040204" pitchFamily="34" charset="-120"/>
              </a:rPr>
              <a:t>TOP9</a:t>
            </a:r>
            <a:r>
              <a:rPr lang="ko-KR" altLang="en-US" sz="600" dirty="0">
                <a:latin typeface="Microsoft JhengHei" panose="020B0604030504040204" pitchFamily="34" charset="-120"/>
                <a:ea typeface="Microsoft JhengHei" panose="020B0604030504040204" pitchFamily="34" charset="-120"/>
                <a:cs typeface="Microsoft JhengHei" panose="020B0604030504040204" pitchFamily="34" charset="-120"/>
              </a:rPr>
              <a:t>는 기존 정책의 선투입을 우선 검토할 행정동입니다.</a:t>
            </a:r>
            <a:endParaRPr lang="ko-KR" altLang="en-US" sz="6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4" name="Shape 22"/>
          <p:cNvSpPr/>
          <p:nvPr/>
        </p:nvSpPr>
        <p:spPr>
          <a:xfrm>
            <a:off x="488379" y="4578474"/>
            <a:ext cx="9525" cy="218256"/>
          </a:xfrm>
          <a:prstGeom prst="rect">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256032" y="804672"/>
            <a:ext cx="8631936" cy="0"/>
          </a:xfrm>
          <a:prstGeom prst="line">
            <a:avLst/>
          </a:prstGeom>
          <a:noFill/>
          <a:ln w="6350">
            <a:solidFill>
              <a:srgbClr val="DDDDDD"/>
            </a:solidFill>
            <a:prstDash val="solid"/>
          </a:ln>
        </p:spPr>
      </p:sp>
      <p:sp>
        <p:nvSpPr>
          <p:cNvPr id="6" name="Shape 4"/>
          <p:cNvSpPr/>
          <p:nvPr/>
        </p:nvSpPr>
        <p:spPr>
          <a:xfrm>
            <a:off x="256032" y="914400"/>
            <a:ext cx="2743200" cy="3401568"/>
          </a:xfrm>
          <a:prstGeom prst="rect">
            <a:avLst/>
          </a:prstGeom>
          <a:solidFill>
            <a:srgbClr val="F8FAFD"/>
          </a:solidFill>
          <a:ln w="10160">
            <a:solidFill>
              <a:srgbClr val="D0D8E8"/>
            </a:solidFill>
            <a:prstDash val="solid"/>
          </a:ln>
          <a:effectLst>
            <a:outerShdw blurRad="63500" dist="25400" dir="8100000" algn="bl" rotWithShape="0">
              <a:srgbClr val="000000">
                <a:alpha val="6000"/>
              </a:srgbClr>
            </a:outerShdw>
          </a:effectLst>
        </p:spPr>
      </p:sp>
      <p:sp>
        <p:nvSpPr>
          <p:cNvPr id="7" name="Shape 5"/>
          <p:cNvSpPr/>
          <p:nvPr/>
        </p:nvSpPr>
        <p:spPr>
          <a:xfrm>
            <a:off x="256032" y="914400"/>
            <a:ext cx="2743200" cy="45720"/>
          </a:xfrm>
          <a:prstGeom prst="rect">
            <a:avLst/>
          </a:prstGeom>
          <a:solidFill>
            <a:srgbClr val="1B3A6B"/>
          </a:solidFill>
          <a:ln w="12700">
            <a:solidFill>
              <a:srgbClr val="1B3A6B"/>
            </a:solidFill>
            <a:prstDash val="solid"/>
          </a:ln>
        </p:spPr>
      </p:sp>
      <p:sp>
        <p:nvSpPr>
          <p:cNvPr id="8" name="Shape 6"/>
          <p:cNvSpPr/>
          <p:nvPr/>
        </p:nvSpPr>
        <p:spPr>
          <a:xfrm>
            <a:off x="384048" y="1033272"/>
            <a:ext cx="2487168" cy="237744"/>
          </a:xfrm>
          <a:prstGeom prst="rect">
            <a:avLst/>
          </a:prstGeom>
          <a:solidFill>
            <a:srgbClr val="1B3A6B"/>
          </a:solidFill>
          <a:ln w="12700">
            <a:solidFill>
              <a:srgbClr val="1B3A6B"/>
            </a:solidFill>
            <a:prstDash val="solid"/>
          </a:ln>
        </p:spPr>
      </p:sp>
      <p:sp>
        <p:nvSpPr>
          <p:cNvPr id="9" name="Text 7"/>
          <p:cNvSpPr/>
          <p:nvPr/>
        </p:nvSpPr>
        <p:spPr>
          <a:xfrm>
            <a:off x="384048" y="1033272"/>
            <a:ext cx="2487168" cy="237744"/>
          </a:xfrm>
          <a:prstGeom prst="rect">
            <a:avLst/>
          </a:prstGeom>
          <a:noFill/>
        </p:spPr>
        <p:txBody>
          <a:bodyPr wrap="square" lIns="0" tIns="0" rIns="0" bIns="0" rtlCol="0" anchor="ctr"/>
          <a:lstStyle/>
          <a:p>
            <a:pPr marL="0" indent="0" algn="ctr">
              <a:buNone/>
            </a:pPr>
            <a:r>
              <a:rPr lang="en-US" sz="900" b="1" dirty="0">
                <a:solidFill>
                  <a:srgbClr val="FFFFFF"/>
                </a:solidFill>
              </a:rPr>
              <a:t>의료 · 복지 결핍</a:t>
            </a:r>
            <a:endParaRPr lang="en-US" sz="900" dirty="0"/>
          </a:p>
        </p:txBody>
      </p:sp>
      <p:sp>
        <p:nvSpPr>
          <p:cNvPr id="10" name="Text 8"/>
          <p:cNvSpPr/>
          <p:nvPr/>
        </p:nvSpPr>
        <p:spPr>
          <a:xfrm>
            <a:off x="384048" y="1316736"/>
            <a:ext cx="2487168" cy="182880"/>
          </a:xfrm>
          <a:prstGeom prst="rect">
            <a:avLst/>
          </a:prstGeom>
          <a:noFill/>
        </p:spPr>
        <p:txBody>
          <a:bodyPr wrap="square" lIns="0" tIns="0" rIns="0" bIns="0" rtlCol="0" anchor="ctr"/>
          <a:lstStyle/>
          <a:p>
            <a:pPr marL="0" indent="0" algn="ctr">
              <a:buNone/>
            </a:pPr>
            <a:r>
              <a:rPr lang="en-US" sz="800" b="1" dirty="0">
                <a:solidFill>
                  <a:srgbClr val="1B3A6B"/>
                </a:solidFill>
              </a:rPr>
              <a:t>가리봉동 · 신길4동</a:t>
            </a:r>
            <a:endParaRPr lang="en-US" sz="800" dirty="0"/>
          </a:p>
        </p:txBody>
      </p:sp>
      <p:sp>
        <p:nvSpPr>
          <p:cNvPr id="11" name="Shape 9"/>
          <p:cNvSpPr/>
          <p:nvPr/>
        </p:nvSpPr>
        <p:spPr>
          <a:xfrm>
            <a:off x="347472" y="1536192"/>
            <a:ext cx="2560320" cy="384048"/>
          </a:xfrm>
          <a:prstGeom prst="rect">
            <a:avLst/>
          </a:prstGeom>
          <a:solidFill>
            <a:srgbClr val="EEF2FA"/>
          </a:solidFill>
          <a:ln w="7620">
            <a:solidFill>
              <a:srgbClr val="C8D3E8"/>
            </a:solidFill>
            <a:prstDash val="solid"/>
          </a:ln>
        </p:spPr>
      </p:sp>
      <p:sp>
        <p:nvSpPr>
          <p:cNvPr id="12" name="Text 10"/>
          <p:cNvSpPr/>
          <p:nvPr/>
        </p:nvSpPr>
        <p:spPr>
          <a:xfrm>
            <a:off x="384048" y="1536192"/>
            <a:ext cx="2487168" cy="384048"/>
          </a:xfrm>
          <a:prstGeom prst="rect">
            <a:avLst/>
          </a:prstGeom>
          <a:noFill/>
        </p:spPr>
        <p:txBody>
          <a:bodyPr wrap="square" lIns="0" tIns="0" rIns="0" bIns="0" rtlCol="0" anchor="ctr"/>
          <a:lstStyle/>
          <a:p>
            <a:pPr marL="0" indent="0" algn="l">
              <a:buNone/>
            </a:pPr>
            <a:r>
              <a:rPr lang="en-US" sz="700" dirty="0">
                <a:solidFill>
                  <a:srgbClr val="333D52"/>
                </a:solidFill>
              </a:rPr>
              <a:t>복지 인프라 부족 → 노년 돌봄 공백 · 청년 관계 단절이 핵심 위험 경로 → 통합돌봄 · 관계형성 우선</a:t>
            </a:r>
            <a:endParaRPr lang="en-US" sz="700" dirty="0"/>
          </a:p>
        </p:txBody>
      </p:sp>
      <p:sp>
        <p:nvSpPr>
          <p:cNvPr id="13" name="Shape 11"/>
          <p:cNvSpPr/>
          <p:nvPr/>
        </p:nvSpPr>
        <p:spPr>
          <a:xfrm>
            <a:off x="347472" y="1993392"/>
            <a:ext cx="2560320" cy="640080"/>
          </a:xfrm>
          <a:prstGeom prst="rect">
            <a:avLst/>
          </a:prstGeom>
          <a:solidFill>
            <a:srgbClr val="EBF3FF"/>
          </a:solidFill>
          <a:ln w="6350">
            <a:solidFill>
              <a:srgbClr val="E2E8F0"/>
            </a:solidFill>
            <a:prstDash val="solid"/>
          </a:ln>
        </p:spPr>
      </p:sp>
      <p:sp>
        <p:nvSpPr>
          <p:cNvPr id="14" name="Shape 12"/>
          <p:cNvSpPr/>
          <p:nvPr/>
        </p:nvSpPr>
        <p:spPr>
          <a:xfrm>
            <a:off x="347472" y="1993392"/>
            <a:ext cx="402336" cy="640080"/>
          </a:xfrm>
          <a:prstGeom prst="rect">
            <a:avLst/>
          </a:prstGeom>
          <a:solidFill>
            <a:srgbClr val="1B3A6B"/>
          </a:solidFill>
          <a:ln w="12700">
            <a:solidFill>
              <a:srgbClr val="1B3A6B"/>
            </a:solidFill>
            <a:prstDash val="solid"/>
          </a:ln>
        </p:spPr>
      </p:sp>
      <p:sp>
        <p:nvSpPr>
          <p:cNvPr id="15" name="Text 13"/>
          <p:cNvSpPr/>
          <p:nvPr/>
        </p:nvSpPr>
        <p:spPr>
          <a:xfrm>
            <a:off x="347472" y="1993392"/>
            <a:ext cx="402336" cy="640080"/>
          </a:xfrm>
          <a:prstGeom prst="rect">
            <a:avLst/>
          </a:prstGeom>
          <a:noFill/>
        </p:spPr>
        <p:txBody>
          <a:bodyPr wrap="square" lIns="0" tIns="0" rIns="0" bIns="0" rtlCol="0" anchor="ctr"/>
          <a:lstStyle/>
          <a:p>
            <a:pPr marL="0" indent="0" algn="ctr">
              <a:buNone/>
            </a:pPr>
            <a:r>
              <a:rPr lang="en-US" sz="750" b="1" dirty="0">
                <a:solidFill>
                  <a:srgbClr val="FFFFFF"/>
                </a:solidFill>
              </a:rPr>
              <a:t>청년</a:t>
            </a:r>
            <a:endParaRPr lang="en-US" sz="750" dirty="0"/>
          </a:p>
        </p:txBody>
      </p:sp>
      <p:sp>
        <p:nvSpPr>
          <p:cNvPr id="16" name="Text 14"/>
          <p:cNvSpPr/>
          <p:nvPr/>
        </p:nvSpPr>
        <p:spPr>
          <a:xfrm>
            <a:off x="786384" y="2029968"/>
            <a:ext cx="2084832" cy="566928"/>
          </a:xfrm>
          <a:prstGeom prst="rect">
            <a:avLst/>
          </a:prstGeom>
          <a:noFill/>
        </p:spPr>
        <p:txBody>
          <a:bodyPr wrap="square" lIns="0" tIns="0" rIns="0" bIns="0" rtlCol="0" anchor="t"/>
          <a:lstStyle/>
          <a:p>
            <a:pPr marL="0" indent="0" algn="l">
              <a:buNone/>
            </a:pPr>
            <a:r>
              <a:rPr lang="en-US" sz="800" dirty="0">
                <a:solidFill>
                  <a:srgbClr val="2A2A2A"/>
                </a:solidFill>
              </a:rPr>
              <a:t>기지개LAB 사회진입 지원 / 마음편의점·마음상담소 / 관계형성 프로그램 / 고립·은둔 온라인 서비스</a:t>
            </a:r>
            <a:endParaRPr lang="en-US" sz="800" dirty="0"/>
          </a:p>
        </p:txBody>
      </p:sp>
      <p:sp>
        <p:nvSpPr>
          <p:cNvPr id="17" name="Shape 15"/>
          <p:cNvSpPr/>
          <p:nvPr/>
        </p:nvSpPr>
        <p:spPr>
          <a:xfrm>
            <a:off x="347472" y="2670048"/>
            <a:ext cx="2560320" cy="640080"/>
          </a:xfrm>
          <a:prstGeom prst="rect">
            <a:avLst/>
          </a:prstGeom>
          <a:solidFill>
            <a:srgbClr val="FFF4E8"/>
          </a:solidFill>
          <a:ln w="6350">
            <a:solidFill>
              <a:srgbClr val="E2E8F0"/>
            </a:solidFill>
            <a:prstDash val="solid"/>
          </a:ln>
        </p:spPr>
      </p:sp>
      <p:sp>
        <p:nvSpPr>
          <p:cNvPr id="18" name="Shape 16"/>
          <p:cNvSpPr/>
          <p:nvPr/>
        </p:nvSpPr>
        <p:spPr>
          <a:xfrm>
            <a:off x="347472" y="2670048"/>
            <a:ext cx="402336" cy="640080"/>
          </a:xfrm>
          <a:prstGeom prst="rect">
            <a:avLst/>
          </a:prstGeom>
          <a:solidFill>
            <a:srgbClr val="B85C00"/>
          </a:solidFill>
          <a:ln w="12700">
            <a:solidFill>
              <a:srgbClr val="B85C00"/>
            </a:solidFill>
            <a:prstDash val="solid"/>
          </a:ln>
        </p:spPr>
      </p:sp>
      <p:sp>
        <p:nvSpPr>
          <p:cNvPr id="19" name="Text 17"/>
          <p:cNvSpPr/>
          <p:nvPr/>
        </p:nvSpPr>
        <p:spPr>
          <a:xfrm>
            <a:off x="347472" y="2670048"/>
            <a:ext cx="402336" cy="640080"/>
          </a:xfrm>
          <a:prstGeom prst="rect">
            <a:avLst/>
          </a:prstGeom>
          <a:noFill/>
        </p:spPr>
        <p:txBody>
          <a:bodyPr wrap="square" lIns="0" tIns="0" rIns="0" bIns="0" rtlCol="0" anchor="ctr"/>
          <a:lstStyle/>
          <a:p>
            <a:pPr marL="0" indent="0" algn="ctr">
              <a:buNone/>
            </a:pPr>
            <a:r>
              <a:rPr lang="en-US" sz="750" b="1" dirty="0">
                <a:solidFill>
                  <a:srgbClr val="FFFFFF"/>
                </a:solidFill>
              </a:rPr>
              <a:t>중장년</a:t>
            </a:r>
            <a:endParaRPr lang="en-US" sz="750" dirty="0"/>
          </a:p>
        </p:txBody>
      </p:sp>
      <p:sp>
        <p:nvSpPr>
          <p:cNvPr id="20" name="Text 18"/>
          <p:cNvSpPr/>
          <p:nvPr/>
        </p:nvSpPr>
        <p:spPr>
          <a:xfrm>
            <a:off x="786384" y="2706624"/>
            <a:ext cx="2084832" cy="566928"/>
          </a:xfrm>
          <a:prstGeom prst="rect">
            <a:avLst/>
          </a:prstGeom>
          <a:noFill/>
        </p:spPr>
        <p:txBody>
          <a:bodyPr wrap="square" lIns="0" tIns="0" rIns="0" bIns="0" rtlCol="0" anchor="t"/>
          <a:lstStyle/>
          <a:p>
            <a:pPr marL="0" indent="0" algn="l">
              <a:buNone/>
            </a:pPr>
            <a:r>
              <a:rPr lang="en-US" sz="800" dirty="0">
                <a:solidFill>
                  <a:srgbClr val="2A2A2A"/>
                </a:solidFill>
              </a:rPr>
              <a:t>위기가구 선제 발굴 우선지역 지정 / 동행서비스 / 취업사관학교(50+캠퍼스) / 손목닥터9988</a:t>
            </a:r>
            <a:endParaRPr lang="en-US" sz="800" dirty="0"/>
          </a:p>
        </p:txBody>
      </p:sp>
      <p:sp>
        <p:nvSpPr>
          <p:cNvPr id="21" name="Shape 19"/>
          <p:cNvSpPr/>
          <p:nvPr/>
        </p:nvSpPr>
        <p:spPr>
          <a:xfrm>
            <a:off x="347472" y="3346704"/>
            <a:ext cx="2560320" cy="640080"/>
          </a:xfrm>
          <a:prstGeom prst="rect">
            <a:avLst/>
          </a:prstGeom>
          <a:solidFill>
            <a:srgbClr val="EEF7F0"/>
          </a:solidFill>
          <a:ln w="6350">
            <a:solidFill>
              <a:srgbClr val="E2E8F0"/>
            </a:solidFill>
            <a:prstDash val="solid"/>
          </a:ln>
        </p:spPr>
      </p:sp>
      <p:sp>
        <p:nvSpPr>
          <p:cNvPr id="22" name="Shape 20"/>
          <p:cNvSpPr/>
          <p:nvPr/>
        </p:nvSpPr>
        <p:spPr>
          <a:xfrm>
            <a:off x="347472" y="3346704"/>
            <a:ext cx="402336" cy="640080"/>
          </a:xfrm>
          <a:prstGeom prst="rect">
            <a:avLst/>
          </a:prstGeom>
          <a:solidFill>
            <a:srgbClr val="1A6B2E"/>
          </a:solidFill>
          <a:ln w="12700">
            <a:solidFill>
              <a:srgbClr val="1A6B2E"/>
            </a:solidFill>
            <a:prstDash val="solid"/>
          </a:ln>
        </p:spPr>
      </p:sp>
      <p:sp>
        <p:nvSpPr>
          <p:cNvPr id="23" name="Text 21"/>
          <p:cNvSpPr/>
          <p:nvPr/>
        </p:nvSpPr>
        <p:spPr>
          <a:xfrm>
            <a:off x="347472" y="3346704"/>
            <a:ext cx="402336" cy="640080"/>
          </a:xfrm>
          <a:prstGeom prst="rect">
            <a:avLst/>
          </a:prstGeom>
          <a:noFill/>
        </p:spPr>
        <p:txBody>
          <a:bodyPr wrap="square" lIns="0" tIns="0" rIns="0" bIns="0" rtlCol="0" anchor="ctr"/>
          <a:lstStyle/>
          <a:p>
            <a:pPr marL="0" indent="0" algn="ctr">
              <a:buNone/>
            </a:pPr>
            <a:r>
              <a:rPr lang="en-US" sz="750" b="1" dirty="0">
                <a:solidFill>
                  <a:srgbClr val="FFFFFF"/>
                </a:solidFill>
              </a:rPr>
              <a:t>노년</a:t>
            </a:r>
            <a:endParaRPr lang="en-US" sz="750" dirty="0"/>
          </a:p>
        </p:txBody>
      </p:sp>
      <p:sp>
        <p:nvSpPr>
          <p:cNvPr id="24" name="Text 22"/>
          <p:cNvSpPr/>
          <p:nvPr/>
        </p:nvSpPr>
        <p:spPr>
          <a:xfrm>
            <a:off x="786384" y="3383280"/>
            <a:ext cx="2084832" cy="566928"/>
          </a:xfrm>
          <a:prstGeom prst="rect">
            <a:avLst/>
          </a:prstGeom>
          <a:noFill/>
        </p:spPr>
        <p:txBody>
          <a:bodyPr wrap="square" lIns="0" tIns="0" rIns="0" bIns="0" rtlCol="0" anchor="t"/>
          <a:lstStyle/>
          <a:p>
            <a:pPr marL="0" indent="0" algn="l">
              <a:buNone/>
            </a:pPr>
            <a:r>
              <a:rPr lang="en-US" sz="800" dirty="0">
                <a:solidFill>
                  <a:srgbClr val="2A2A2A"/>
                </a:solidFill>
              </a:rPr>
              <a:t>원스톱 통합돌봄 우선 적용 / 돌봄SOS / 방문건강관리 / 노인맞춤돌봄 중점돌봄군 우선 지정</a:t>
            </a:r>
            <a:endParaRPr lang="en-US" sz="800" dirty="0"/>
          </a:p>
        </p:txBody>
      </p:sp>
      <p:sp>
        <p:nvSpPr>
          <p:cNvPr id="25" name="Shape 23"/>
          <p:cNvSpPr/>
          <p:nvPr/>
        </p:nvSpPr>
        <p:spPr>
          <a:xfrm>
            <a:off x="347472" y="4041648"/>
            <a:ext cx="2560320" cy="201168"/>
          </a:xfrm>
          <a:prstGeom prst="rect">
            <a:avLst/>
          </a:prstGeom>
          <a:solidFill>
            <a:srgbClr val="FFFFFF"/>
          </a:solidFill>
          <a:ln w="10160">
            <a:solidFill>
              <a:srgbClr val="1B3A6B"/>
            </a:solidFill>
            <a:prstDash val="solid"/>
          </a:ln>
        </p:spPr>
      </p:sp>
      <p:sp>
        <p:nvSpPr>
          <p:cNvPr id="26" name="Text 24"/>
          <p:cNvSpPr/>
          <p:nvPr/>
        </p:nvSpPr>
        <p:spPr>
          <a:xfrm>
            <a:off x="384048" y="4041648"/>
            <a:ext cx="2542032" cy="201168"/>
          </a:xfrm>
          <a:prstGeom prst="rect">
            <a:avLst/>
          </a:prstGeom>
          <a:noFill/>
        </p:spPr>
        <p:txBody>
          <a:bodyPr wrap="square" lIns="0" tIns="0" rIns="0" bIns="0" rtlCol="0" anchor="ctr"/>
          <a:lstStyle/>
          <a:p>
            <a:pPr marL="0" indent="0" algn="l">
              <a:buNone/>
            </a:pPr>
            <a:r>
              <a:rPr lang="en-US" sz="680" b="1" dirty="0">
                <a:solidFill>
                  <a:srgbClr val="1B3A6B"/>
                </a:solidFill>
              </a:rPr>
              <a:t>◎  현행 지속 + 2026년 신규 시행 중</a:t>
            </a:r>
            <a:endParaRPr lang="en-US" sz="680" dirty="0"/>
          </a:p>
        </p:txBody>
      </p:sp>
      <p:sp>
        <p:nvSpPr>
          <p:cNvPr id="27" name="Shape 25"/>
          <p:cNvSpPr/>
          <p:nvPr/>
        </p:nvSpPr>
        <p:spPr>
          <a:xfrm>
            <a:off x="3200400" y="914400"/>
            <a:ext cx="2743200" cy="3401568"/>
          </a:xfrm>
          <a:prstGeom prst="rect">
            <a:avLst/>
          </a:prstGeom>
          <a:solidFill>
            <a:srgbClr val="F8FAFD"/>
          </a:solidFill>
          <a:ln w="10160">
            <a:solidFill>
              <a:srgbClr val="D0D8E8"/>
            </a:solidFill>
            <a:prstDash val="solid"/>
          </a:ln>
          <a:effectLst>
            <a:outerShdw blurRad="63500" dist="25400" dir="8100000" algn="bl" rotWithShape="0">
              <a:srgbClr val="000000">
                <a:alpha val="6000"/>
              </a:srgbClr>
            </a:outerShdw>
          </a:effectLst>
        </p:spPr>
      </p:sp>
      <p:sp>
        <p:nvSpPr>
          <p:cNvPr id="28" name="Shape 26"/>
          <p:cNvSpPr/>
          <p:nvPr/>
        </p:nvSpPr>
        <p:spPr>
          <a:xfrm>
            <a:off x="3200400" y="914400"/>
            <a:ext cx="2743200" cy="45720"/>
          </a:xfrm>
          <a:prstGeom prst="rect">
            <a:avLst/>
          </a:prstGeom>
          <a:solidFill>
            <a:srgbClr val="8B1A1A"/>
          </a:solidFill>
          <a:ln w="12700">
            <a:solidFill>
              <a:srgbClr val="8B1A1A"/>
            </a:solidFill>
            <a:prstDash val="solid"/>
          </a:ln>
        </p:spPr>
      </p:sp>
      <p:sp>
        <p:nvSpPr>
          <p:cNvPr id="29" name="Shape 27"/>
          <p:cNvSpPr/>
          <p:nvPr/>
        </p:nvSpPr>
        <p:spPr>
          <a:xfrm>
            <a:off x="3328416" y="1033272"/>
            <a:ext cx="2487168" cy="237744"/>
          </a:xfrm>
          <a:prstGeom prst="rect">
            <a:avLst/>
          </a:prstGeom>
          <a:solidFill>
            <a:srgbClr val="8B1A1A"/>
          </a:solidFill>
          <a:ln w="12700">
            <a:solidFill>
              <a:srgbClr val="8B1A1A"/>
            </a:solidFill>
            <a:prstDash val="solid"/>
          </a:ln>
        </p:spPr>
      </p:sp>
      <p:sp>
        <p:nvSpPr>
          <p:cNvPr id="30" name="Text 28"/>
          <p:cNvSpPr/>
          <p:nvPr/>
        </p:nvSpPr>
        <p:spPr>
          <a:xfrm>
            <a:off x="3328416" y="1033272"/>
            <a:ext cx="2487168" cy="237744"/>
          </a:xfrm>
          <a:prstGeom prst="rect">
            <a:avLst/>
          </a:prstGeom>
          <a:noFill/>
        </p:spPr>
        <p:txBody>
          <a:bodyPr wrap="square" lIns="0" tIns="0" rIns="0" bIns="0" rtlCol="0" anchor="ctr"/>
          <a:lstStyle/>
          <a:p>
            <a:pPr marL="0" indent="0" algn="ctr">
              <a:buNone/>
            </a:pPr>
            <a:r>
              <a:rPr lang="en-US" sz="900" b="1" dirty="0">
                <a:solidFill>
                  <a:srgbClr val="FFFFFF"/>
                </a:solidFill>
              </a:rPr>
              <a:t>의료 · 복지 · 교통 결핍</a:t>
            </a:r>
            <a:endParaRPr lang="en-US" sz="900" dirty="0"/>
          </a:p>
        </p:txBody>
      </p:sp>
      <p:sp>
        <p:nvSpPr>
          <p:cNvPr id="31" name="Text 29"/>
          <p:cNvSpPr/>
          <p:nvPr/>
        </p:nvSpPr>
        <p:spPr>
          <a:xfrm>
            <a:off x="3328416" y="1316736"/>
            <a:ext cx="2487168" cy="182880"/>
          </a:xfrm>
          <a:prstGeom prst="rect">
            <a:avLst/>
          </a:prstGeom>
          <a:noFill/>
        </p:spPr>
        <p:txBody>
          <a:bodyPr wrap="square" lIns="0" tIns="0" rIns="0" bIns="0" rtlCol="0" anchor="ctr"/>
          <a:lstStyle/>
          <a:p>
            <a:pPr marL="0" indent="0" algn="ctr">
              <a:buNone/>
            </a:pPr>
            <a:r>
              <a:rPr lang="en-US" sz="800" b="1" dirty="0">
                <a:solidFill>
                  <a:srgbClr val="1B3A6B"/>
                </a:solidFill>
              </a:rPr>
              <a:t>신원동 · 독산2동 · 청림동 · 신월3동 · 창신2동 · 청구동</a:t>
            </a:r>
            <a:endParaRPr lang="en-US" sz="800" dirty="0"/>
          </a:p>
        </p:txBody>
      </p:sp>
      <p:sp>
        <p:nvSpPr>
          <p:cNvPr id="32" name="Shape 30"/>
          <p:cNvSpPr/>
          <p:nvPr/>
        </p:nvSpPr>
        <p:spPr>
          <a:xfrm>
            <a:off x="3291840" y="1536192"/>
            <a:ext cx="2560320" cy="384048"/>
          </a:xfrm>
          <a:prstGeom prst="rect">
            <a:avLst/>
          </a:prstGeom>
          <a:solidFill>
            <a:srgbClr val="FFF0F0"/>
          </a:solidFill>
          <a:ln w="7620">
            <a:solidFill>
              <a:srgbClr val="FFCCCC"/>
            </a:solidFill>
            <a:prstDash val="solid"/>
          </a:ln>
        </p:spPr>
      </p:sp>
      <p:sp>
        <p:nvSpPr>
          <p:cNvPr id="33" name="Shape 31"/>
          <p:cNvSpPr/>
          <p:nvPr/>
        </p:nvSpPr>
        <p:spPr>
          <a:xfrm>
            <a:off x="3291840" y="1536192"/>
            <a:ext cx="457200" cy="384048"/>
          </a:xfrm>
          <a:prstGeom prst="rect">
            <a:avLst/>
          </a:prstGeom>
          <a:solidFill>
            <a:srgbClr val="8B1A1A"/>
          </a:solidFill>
          <a:ln w="12700">
            <a:solidFill>
              <a:srgbClr val="8B1A1A"/>
            </a:solidFill>
            <a:prstDash val="solid"/>
          </a:ln>
        </p:spPr>
      </p:sp>
      <p:sp>
        <p:nvSpPr>
          <p:cNvPr id="34" name="Text 32"/>
          <p:cNvSpPr/>
          <p:nvPr/>
        </p:nvSpPr>
        <p:spPr>
          <a:xfrm>
            <a:off x="3291840" y="1536192"/>
            <a:ext cx="457200" cy="384048"/>
          </a:xfrm>
          <a:prstGeom prst="rect">
            <a:avLst/>
          </a:prstGeom>
          <a:noFill/>
        </p:spPr>
        <p:txBody>
          <a:bodyPr wrap="square" lIns="0" tIns="0" rIns="0" bIns="0" rtlCol="0" anchor="ctr"/>
          <a:lstStyle/>
          <a:p>
            <a:pPr marL="0" indent="0" algn="ctr">
              <a:buNone/>
            </a:pPr>
            <a:r>
              <a:rPr lang="en-US" sz="700" b="1" dirty="0">
                <a:solidFill>
                  <a:srgbClr val="FFFFFF"/>
                </a:solidFill>
              </a:rPr>
              <a:t>3축</a:t>
            </a:r>
            <a:endParaRPr lang="en-US" sz="700" dirty="0"/>
          </a:p>
          <a:p>
            <a:pPr marL="0" indent="0" algn="ctr">
              <a:buNone/>
            </a:pPr>
            <a:r>
              <a:rPr lang="en-US" sz="700" b="1" dirty="0">
                <a:solidFill>
                  <a:srgbClr val="FFFFFF"/>
                </a:solidFill>
              </a:rPr>
              <a:t>필수</a:t>
            </a:r>
            <a:endParaRPr lang="en-US" sz="700" dirty="0"/>
          </a:p>
        </p:txBody>
      </p:sp>
      <p:sp>
        <p:nvSpPr>
          <p:cNvPr id="35" name="Text 33"/>
          <p:cNvSpPr/>
          <p:nvPr/>
        </p:nvSpPr>
        <p:spPr>
          <a:xfrm>
            <a:off x="3803904" y="1536192"/>
            <a:ext cx="2048256" cy="384048"/>
          </a:xfrm>
          <a:prstGeom prst="rect">
            <a:avLst/>
          </a:prstGeom>
          <a:noFill/>
        </p:spPr>
        <p:txBody>
          <a:bodyPr wrap="square" lIns="0" tIns="0" rIns="0" bIns="0" rtlCol="0" anchor="ctr"/>
          <a:lstStyle/>
          <a:p>
            <a:pPr marL="0" indent="0" algn="l">
              <a:buNone/>
            </a:pPr>
            <a:r>
              <a:rPr lang="en-US" sz="700" dirty="0">
                <a:solidFill>
                  <a:srgbClr val="4A1010"/>
                </a:solidFill>
              </a:rPr>
              <a:t>세 결핍 축이 동시 작동 → 단일 개입 불가, 이동·돌봄·관계 3축 패키지 필수</a:t>
            </a:r>
            <a:endParaRPr lang="en-US" sz="700" dirty="0"/>
          </a:p>
        </p:txBody>
      </p:sp>
      <p:sp>
        <p:nvSpPr>
          <p:cNvPr id="36" name="Shape 34"/>
          <p:cNvSpPr/>
          <p:nvPr/>
        </p:nvSpPr>
        <p:spPr>
          <a:xfrm>
            <a:off x="3291840" y="1993392"/>
            <a:ext cx="2560320" cy="640080"/>
          </a:xfrm>
          <a:prstGeom prst="rect">
            <a:avLst/>
          </a:prstGeom>
          <a:solidFill>
            <a:srgbClr val="EBF3FF"/>
          </a:solidFill>
          <a:ln w="6350">
            <a:solidFill>
              <a:srgbClr val="E2E8F0"/>
            </a:solidFill>
            <a:prstDash val="solid"/>
          </a:ln>
        </p:spPr>
      </p:sp>
      <p:sp>
        <p:nvSpPr>
          <p:cNvPr id="37" name="Shape 35"/>
          <p:cNvSpPr/>
          <p:nvPr/>
        </p:nvSpPr>
        <p:spPr>
          <a:xfrm>
            <a:off x="3291840" y="1993392"/>
            <a:ext cx="402336" cy="640080"/>
          </a:xfrm>
          <a:prstGeom prst="rect">
            <a:avLst/>
          </a:prstGeom>
          <a:solidFill>
            <a:srgbClr val="1B3A6B"/>
          </a:solidFill>
          <a:ln w="12700">
            <a:solidFill>
              <a:srgbClr val="1B3A6B"/>
            </a:solidFill>
            <a:prstDash val="solid"/>
          </a:ln>
        </p:spPr>
      </p:sp>
      <p:sp>
        <p:nvSpPr>
          <p:cNvPr id="38" name="Text 36"/>
          <p:cNvSpPr/>
          <p:nvPr/>
        </p:nvSpPr>
        <p:spPr>
          <a:xfrm>
            <a:off x="3291840" y="1993392"/>
            <a:ext cx="402336" cy="640080"/>
          </a:xfrm>
          <a:prstGeom prst="rect">
            <a:avLst/>
          </a:prstGeom>
          <a:noFill/>
        </p:spPr>
        <p:txBody>
          <a:bodyPr wrap="square" lIns="0" tIns="0" rIns="0" bIns="0" rtlCol="0" anchor="ctr"/>
          <a:lstStyle/>
          <a:p>
            <a:pPr marL="0" indent="0" algn="ctr">
              <a:buNone/>
            </a:pPr>
            <a:r>
              <a:rPr lang="en-US" sz="750" b="1" dirty="0">
                <a:solidFill>
                  <a:srgbClr val="FFFFFF"/>
                </a:solidFill>
              </a:rPr>
              <a:t>청년</a:t>
            </a:r>
            <a:endParaRPr lang="en-US" sz="750" dirty="0"/>
          </a:p>
        </p:txBody>
      </p:sp>
      <p:sp>
        <p:nvSpPr>
          <p:cNvPr id="39" name="Text 37"/>
          <p:cNvSpPr/>
          <p:nvPr/>
        </p:nvSpPr>
        <p:spPr>
          <a:xfrm>
            <a:off x="3730752" y="2029968"/>
            <a:ext cx="2084832" cy="566928"/>
          </a:xfrm>
          <a:prstGeom prst="rect">
            <a:avLst/>
          </a:prstGeom>
          <a:noFill/>
        </p:spPr>
        <p:txBody>
          <a:bodyPr wrap="square" lIns="0" tIns="0" rIns="0" bIns="0" rtlCol="0" anchor="t"/>
          <a:lstStyle/>
          <a:p>
            <a:pPr marL="0" indent="0" algn="l">
              <a:buNone/>
            </a:pPr>
            <a:r>
              <a:rPr lang="en-US" sz="800" dirty="0">
                <a:solidFill>
                  <a:srgbClr val="2A2A2A"/>
                </a:solidFill>
              </a:rPr>
              <a:t>기지개LAB 사회진입 지원 / 마음편의점·마음상담소 / 관계형성 프로그램 / 서울동행맵 이동 안내 / 365챌린지 연계</a:t>
            </a:r>
            <a:endParaRPr lang="en-US" sz="800" dirty="0"/>
          </a:p>
        </p:txBody>
      </p:sp>
      <p:sp>
        <p:nvSpPr>
          <p:cNvPr id="40" name="Shape 38"/>
          <p:cNvSpPr/>
          <p:nvPr/>
        </p:nvSpPr>
        <p:spPr>
          <a:xfrm>
            <a:off x="3291840" y="2670048"/>
            <a:ext cx="2560320" cy="640080"/>
          </a:xfrm>
          <a:prstGeom prst="rect">
            <a:avLst/>
          </a:prstGeom>
          <a:solidFill>
            <a:srgbClr val="FFF4E8"/>
          </a:solidFill>
          <a:ln w="6350">
            <a:solidFill>
              <a:srgbClr val="E2E8F0"/>
            </a:solidFill>
            <a:prstDash val="solid"/>
          </a:ln>
        </p:spPr>
      </p:sp>
      <p:sp>
        <p:nvSpPr>
          <p:cNvPr id="41" name="Shape 39"/>
          <p:cNvSpPr/>
          <p:nvPr/>
        </p:nvSpPr>
        <p:spPr>
          <a:xfrm>
            <a:off x="3291840" y="2670048"/>
            <a:ext cx="402336" cy="640080"/>
          </a:xfrm>
          <a:prstGeom prst="rect">
            <a:avLst/>
          </a:prstGeom>
          <a:solidFill>
            <a:srgbClr val="B85C00"/>
          </a:solidFill>
          <a:ln w="12700">
            <a:solidFill>
              <a:srgbClr val="B85C00"/>
            </a:solidFill>
            <a:prstDash val="solid"/>
          </a:ln>
        </p:spPr>
      </p:sp>
      <p:sp>
        <p:nvSpPr>
          <p:cNvPr id="42" name="Text 40"/>
          <p:cNvSpPr/>
          <p:nvPr/>
        </p:nvSpPr>
        <p:spPr>
          <a:xfrm>
            <a:off x="3291840" y="2670048"/>
            <a:ext cx="402336" cy="640080"/>
          </a:xfrm>
          <a:prstGeom prst="rect">
            <a:avLst/>
          </a:prstGeom>
          <a:noFill/>
        </p:spPr>
        <p:txBody>
          <a:bodyPr wrap="square" lIns="0" tIns="0" rIns="0" bIns="0" rtlCol="0" anchor="ctr"/>
          <a:lstStyle/>
          <a:p>
            <a:pPr marL="0" indent="0" algn="ctr">
              <a:buNone/>
            </a:pPr>
            <a:r>
              <a:rPr lang="en-US" sz="750" b="1" dirty="0">
                <a:solidFill>
                  <a:srgbClr val="FFFFFF"/>
                </a:solidFill>
              </a:rPr>
              <a:t>중장년</a:t>
            </a:r>
            <a:endParaRPr lang="en-US" sz="750" dirty="0"/>
          </a:p>
        </p:txBody>
      </p:sp>
      <p:sp>
        <p:nvSpPr>
          <p:cNvPr id="43" name="Text 41"/>
          <p:cNvSpPr/>
          <p:nvPr/>
        </p:nvSpPr>
        <p:spPr>
          <a:xfrm>
            <a:off x="3730752" y="2706624"/>
            <a:ext cx="2084832" cy="566928"/>
          </a:xfrm>
          <a:prstGeom prst="rect">
            <a:avLst/>
          </a:prstGeom>
          <a:noFill/>
        </p:spPr>
        <p:txBody>
          <a:bodyPr wrap="square" lIns="0" tIns="0" rIns="0" bIns="0" rtlCol="0" anchor="t"/>
          <a:lstStyle/>
          <a:p>
            <a:pPr marL="0" indent="0" algn="l">
              <a:buNone/>
            </a:pPr>
            <a:r>
              <a:rPr lang="en-US" sz="800" dirty="0">
                <a:solidFill>
                  <a:srgbClr val="2A2A2A"/>
                </a:solidFill>
              </a:rPr>
              <a:t>위기가구 선제 발굴 / 동행서비스 / 취업사관학교 / 동행맵·저상버스·교통약자 이동지원 / 365챌린지 연계</a:t>
            </a:r>
            <a:endParaRPr lang="en-US" sz="800" dirty="0"/>
          </a:p>
        </p:txBody>
      </p:sp>
      <p:sp>
        <p:nvSpPr>
          <p:cNvPr id="44" name="Shape 42"/>
          <p:cNvSpPr/>
          <p:nvPr/>
        </p:nvSpPr>
        <p:spPr>
          <a:xfrm>
            <a:off x="3291840" y="3346704"/>
            <a:ext cx="2560320" cy="640080"/>
          </a:xfrm>
          <a:prstGeom prst="rect">
            <a:avLst/>
          </a:prstGeom>
          <a:solidFill>
            <a:srgbClr val="EEF7F0"/>
          </a:solidFill>
          <a:ln w="6350">
            <a:solidFill>
              <a:srgbClr val="E2E8F0"/>
            </a:solidFill>
            <a:prstDash val="solid"/>
          </a:ln>
        </p:spPr>
      </p:sp>
      <p:sp>
        <p:nvSpPr>
          <p:cNvPr id="45" name="Shape 43"/>
          <p:cNvSpPr/>
          <p:nvPr/>
        </p:nvSpPr>
        <p:spPr>
          <a:xfrm>
            <a:off x="3291840" y="3346704"/>
            <a:ext cx="402336" cy="640080"/>
          </a:xfrm>
          <a:prstGeom prst="rect">
            <a:avLst/>
          </a:prstGeom>
          <a:solidFill>
            <a:srgbClr val="1A6B2E"/>
          </a:solidFill>
          <a:ln w="12700">
            <a:solidFill>
              <a:srgbClr val="1A6B2E"/>
            </a:solidFill>
            <a:prstDash val="solid"/>
          </a:ln>
        </p:spPr>
      </p:sp>
      <p:sp>
        <p:nvSpPr>
          <p:cNvPr id="46" name="Text 44"/>
          <p:cNvSpPr/>
          <p:nvPr/>
        </p:nvSpPr>
        <p:spPr>
          <a:xfrm>
            <a:off x="3291840" y="3346704"/>
            <a:ext cx="402336" cy="640080"/>
          </a:xfrm>
          <a:prstGeom prst="rect">
            <a:avLst/>
          </a:prstGeom>
          <a:noFill/>
        </p:spPr>
        <p:txBody>
          <a:bodyPr wrap="square" lIns="0" tIns="0" rIns="0" bIns="0" rtlCol="0" anchor="ctr"/>
          <a:lstStyle/>
          <a:p>
            <a:pPr marL="0" indent="0" algn="ctr">
              <a:buNone/>
            </a:pPr>
            <a:r>
              <a:rPr lang="en-US" sz="750" b="1" dirty="0">
                <a:solidFill>
                  <a:srgbClr val="FFFFFF"/>
                </a:solidFill>
              </a:rPr>
              <a:t>노년</a:t>
            </a:r>
            <a:endParaRPr lang="en-US" sz="750" dirty="0"/>
          </a:p>
        </p:txBody>
      </p:sp>
      <p:sp>
        <p:nvSpPr>
          <p:cNvPr id="47" name="Text 45"/>
          <p:cNvSpPr/>
          <p:nvPr/>
        </p:nvSpPr>
        <p:spPr>
          <a:xfrm>
            <a:off x="3730752" y="3383280"/>
            <a:ext cx="2084832" cy="566928"/>
          </a:xfrm>
          <a:prstGeom prst="rect">
            <a:avLst/>
          </a:prstGeom>
          <a:noFill/>
        </p:spPr>
        <p:txBody>
          <a:bodyPr wrap="square" lIns="0" tIns="0" rIns="0" bIns="0" rtlCol="0" anchor="t"/>
          <a:lstStyle/>
          <a:p>
            <a:pPr marL="0" indent="0" algn="l">
              <a:buNone/>
            </a:pPr>
            <a:r>
              <a:rPr lang="en-US" sz="800" dirty="0">
                <a:solidFill>
                  <a:srgbClr val="2A2A2A"/>
                </a:solidFill>
              </a:rPr>
              <a:t>원스톱 통합돌봄 / 돌봄SOS / 방문건강관리 / 9988 프로젝트 / 동행맵·이동지원 / 돌봄시설 확충 검토</a:t>
            </a:r>
            <a:endParaRPr lang="en-US" sz="800" dirty="0"/>
          </a:p>
        </p:txBody>
      </p:sp>
      <p:sp>
        <p:nvSpPr>
          <p:cNvPr id="48" name="Shape 46"/>
          <p:cNvSpPr/>
          <p:nvPr/>
        </p:nvSpPr>
        <p:spPr>
          <a:xfrm>
            <a:off x="3291840" y="4041648"/>
            <a:ext cx="2560320" cy="201168"/>
          </a:xfrm>
          <a:prstGeom prst="rect">
            <a:avLst/>
          </a:prstGeom>
          <a:solidFill>
            <a:srgbClr val="FFFFFF"/>
          </a:solidFill>
          <a:ln w="10160">
            <a:solidFill>
              <a:srgbClr val="8B1A1A"/>
            </a:solidFill>
            <a:prstDash val="solid"/>
          </a:ln>
        </p:spPr>
      </p:sp>
      <p:sp>
        <p:nvSpPr>
          <p:cNvPr id="49" name="Text 47"/>
          <p:cNvSpPr/>
          <p:nvPr/>
        </p:nvSpPr>
        <p:spPr>
          <a:xfrm>
            <a:off x="3328416" y="4041648"/>
            <a:ext cx="2542032" cy="201168"/>
          </a:xfrm>
          <a:prstGeom prst="rect">
            <a:avLst/>
          </a:prstGeom>
          <a:noFill/>
        </p:spPr>
        <p:txBody>
          <a:bodyPr wrap="square" lIns="0" tIns="0" rIns="0" bIns="0" rtlCol="0" anchor="ctr"/>
          <a:lstStyle/>
          <a:p>
            <a:pPr marL="0" indent="0" algn="l">
              <a:buNone/>
            </a:pPr>
            <a:r>
              <a:rPr lang="en-US" sz="680" b="1" dirty="0">
                <a:solidFill>
                  <a:srgbClr val="8B1A1A"/>
                </a:solidFill>
              </a:rPr>
              <a:t>◎  현행 지속 + 2026년 신규 시행 중 + 2026년 시행 예정 연계</a:t>
            </a:r>
            <a:endParaRPr lang="en-US" sz="680" dirty="0"/>
          </a:p>
        </p:txBody>
      </p:sp>
      <p:sp>
        <p:nvSpPr>
          <p:cNvPr id="50" name="Shape 48"/>
          <p:cNvSpPr/>
          <p:nvPr/>
        </p:nvSpPr>
        <p:spPr>
          <a:xfrm>
            <a:off x="6144768" y="914400"/>
            <a:ext cx="2743200" cy="3401568"/>
          </a:xfrm>
          <a:prstGeom prst="rect">
            <a:avLst/>
          </a:prstGeom>
          <a:solidFill>
            <a:srgbClr val="F8FAFD"/>
          </a:solidFill>
          <a:ln w="10160">
            <a:solidFill>
              <a:srgbClr val="D0D8E8"/>
            </a:solidFill>
            <a:prstDash val="solid"/>
          </a:ln>
          <a:effectLst>
            <a:outerShdw blurRad="63500" dist="25400" dir="8100000" algn="bl" rotWithShape="0">
              <a:srgbClr val="000000">
                <a:alpha val="6000"/>
              </a:srgbClr>
            </a:outerShdw>
          </a:effectLst>
        </p:spPr>
      </p:sp>
      <p:sp>
        <p:nvSpPr>
          <p:cNvPr id="51" name="Shape 49"/>
          <p:cNvSpPr/>
          <p:nvPr/>
        </p:nvSpPr>
        <p:spPr>
          <a:xfrm>
            <a:off x="6144768" y="914400"/>
            <a:ext cx="2743200" cy="45720"/>
          </a:xfrm>
          <a:prstGeom prst="rect">
            <a:avLst/>
          </a:prstGeom>
          <a:solidFill>
            <a:srgbClr val="1A5C6B"/>
          </a:solidFill>
          <a:ln w="12700">
            <a:solidFill>
              <a:srgbClr val="1A5C6B"/>
            </a:solidFill>
            <a:prstDash val="solid"/>
          </a:ln>
        </p:spPr>
      </p:sp>
      <p:sp>
        <p:nvSpPr>
          <p:cNvPr id="52" name="Shape 50"/>
          <p:cNvSpPr/>
          <p:nvPr/>
        </p:nvSpPr>
        <p:spPr>
          <a:xfrm>
            <a:off x="6272784" y="1033272"/>
            <a:ext cx="2487168" cy="237744"/>
          </a:xfrm>
          <a:prstGeom prst="rect">
            <a:avLst/>
          </a:prstGeom>
          <a:solidFill>
            <a:srgbClr val="1A5C6B"/>
          </a:solidFill>
          <a:ln w="12700">
            <a:solidFill>
              <a:srgbClr val="1A5C6B"/>
            </a:solidFill>
            <a:prstDash val="solid"/>
          </a:ln>
        </p:spPr>
      </p:sp>
      <p:sp>
        <p:nvSpPr>
          <p:cNvPr id="53" name="Text 51"/>
          <p:cNvSpPr/>
          <p:nvPr/>
        </p:nvSpPr>
        <p:spPr>
          <a:xfrm>
            <a:off x="6272784" y="1033272"/>
            <a:ext cx="2487168" cy="237744"/>
          </a:xfrm>
          <a:prstGeom prst="rect">
            <a:avLst/>
          </a:prstGeom>
          <a:noFill/>
        </p:spPr>
        <p:txBody>
          <a:bodyPr wrap="square" lIns="0" tIns="0" rIns="0" bIns="0" rtlCol="0" anchor="ctr"/>
          <a:lstStyle/>
          <a:p>
            <a:pPr marL="0" indent="0" algn="ctr">
              <a:buNone/>
            </a:pPr>
            <a:r>
              <a:rPr lang="en-US" sz="900" b="1" dirty="0">
                <a:solidFill>
                  <a:srgbClr val="FFFFFF"/>
                </a:solidFill>
              </a:rPr>
              <a:t>의료 · 교통 결핍</a:t>
            </a:r>
            <a:endParaRPr lang="en-US" sz="900" dirty="0"/>
          </a:p>
        </p:txBody>
      </p:sp>
      <p:sp>
        <p:nvSpPr>
          <p:cNvPr id="54" name="Text 52"/>
          <p:cNvSpPr/>
          <p:nvPr/>
        </p:nvSpPr>
        <p:spPr>
          <a:xfrm>
            <a:off x="6272784" y="1316736"/>
            <a:ext cx="2487168" cy="182880"/>
          </a:xfrm>
          <a:prstGeom prst="rect">
            <a:avLst/>
          </a:prstGeom>
          <a:noFill/>
        </p:spPr>
        <p:txBody>
          <a:bodyPr wrap="square" lIns="0" tIns="0" rIns="0" bIns="0" rtlCol="0" anchor="ctr"/>
          <a:lstStyle/>
          <a:p>
            <a:pPr marL="0" indent="0" algn="ctr">
              <a:buNone/>
            </a:pPr>
            <a:r>
              <a:rPr lang="en-US" sz="800" b="1" dirty="0">
                <a:solidFill>
                  <a:srgbClr val="1B3A6B"/>
                </a:solidFill>
              </a:rPr>
              <a:t>망우3동</a:t>
            </a:r>
            <a:endParaRPr lang="en-US" sz="800" dirty="0"/>
          </a:p>
        </p:txBody>
      </p:sp>
      <p:sp>
        <p:nvSpPr>
          <p:cNvPr id="55" name="Shape 53"/>
          <p:cNvSpPr/>
          <p:nvPr/>
        </p:nvSpPr>
        <p:spPr>
          <a:xfrm>
            <a:off x="6236208" y="1536192"/>
            <a:ext cx="2560320" cy="384048"/>
          </a:xfrm>
          <a:prstGeom prst="rect">
            <a:avLst/>
          </a:prstGeom>
          <a:solidFill>
            <a:srgbClr val="EEF2FA"/>
          </a:solidFill>
          <a:ln w="7620">
            <a:solidFill>
              <a:srgbClr val="C8D3E8"/>
            </a:solidFill>
            <a:prstDash val="solid"/>
          </a:ln>
        </p:spPr>
      </p:sp>
      <p:sp>
        <p:nvSpPr>
          <p:cNvPr id="56" name="Text 54"/>
          <p:cNvSpPr/>
          <p:nvPr/>
        </p:nvSpPr>
        <p:spPr>
          <a:xfrm>
            <a:off x="6272784" y="1536192"/>
            <a:ext cx="2487168" cy="384048"/>
          </a:xfrm>
          <a:prstGeom prst="rect">
            <a:avLst/>
          </a:prstGeom>
          <a:noFill/>
        </p:spPr>
        <p:txBody>
          <a:bodyPr wrap="square" lIns="0" tIns="0" rIns="0" bIns="0" rtlCol="0" anchor="ctr"/>
          <a:lstStyle/>
          <a:p>
            <a:pPr marL="0" indent="0" algn="l">
              <a:buNone/>
            </a:pPr>
            <a:r>
              <a:rPr lang="en-US" sz="700" dirty="0">
                <a:solidFill>
                  <a:srgbClr val="333D52"/>
                </a:solidFill>
              </a:rPr>
              <a:t>복지시설은 상대적 양호 → 의료 접근 · 이동 제약이 고립 심화 경로 → 방문건강 · 이동지원 우선</a:t>
            </a:r>
            <a:endParaRPr lang="en-US" sz="700" dirty="0"/>
          </a:p>
        </p:txBody>
      </p:sp>
      <p:sp>
        <p:nvSpPr>
          <p:cNvPr id="57" name="Shape 55"/>
          <p:cNvSpPr/>
          <p:nvPr/>
        </p:nvSpPr>
        <p:spPr>
          <a:xfrm>
            <a:off x="6236208" y="1993392"/>
            <a:ext cx="2560320" cy="640080"/>
          </a:xfrm>
          <a:prstGeom prst="rect">
            <a:avLst/>
          </a:prstGeom>
          <a:solidFill>
            <a:srgbClr val="EBF3FF"/>
          </a:solidFill>
          <a:ln w="6350">
            <a:solidFill>
              <a:srgbClr val="E2E8F0"/>
            </a:solidFill>
            <a:prstDash val="solid"/>
          </a:ln>
        </p:spPr>
      </p:sp>
      <p:sp>
        <p:nvSpPr>
          <p:cNvPr id="58" name="Shape 56"/>
          <p:cNvSpPr/>
          <p:nvPr/>
        </p:nvSpPr>
        <p:spPr>
          <a:xfrm>
            <a:off x="6236208" y="1993392"/>
            <a:ext cx="402336" cy="640080"/>
          </a:xfrm>
          <a:prstGeom prst="rect">
            <a:avLst/>
          </a:prstGeom>
          <a:solidFill>
            <a:srgbClr val="1B3A6B"/>
          </a:solidFill>
          <a:ln w="12700">
            <a:solidFill>
              <a:srgbClr val="1B3A6B"/>
            </a:solidFill>
            <a:prstDash val="solid"/>
          </a:ln>
        </p:spPr>
      </p:sp>
      <p:sp>
        <p:nvSpPr>
          <p:cNvPr id="59" name="Text 57"/>
          <p:cNvSpPr/>
          <p:nvPr/>
        </p:nvSpPr>
        <p:spPr>
          <a:xfrm>
            <a:off x="6236208" y="1993392"/>
            <a:ext cx="402336" cy="640080"/>
          </a:xfrm>
          <a:prstGeom prst="rect">
            <a:avLst/>
          </a:prstGeom>
          <a:noFill/>
        </p:spPr>
        <p:txBody>
          <a:bodyPr wrap="square" lIns="0" tIns="0" rIns="0" bIns="0" rtlCol="0" anchor="ctr"/>
          <a:lstStyle/>
          <a:p>
            <a:pPr marL="0" indent="0" algn="ctr">
              <a:buNone/>
            </a:pPr>
            <a:r>
              <a:rPr lang="en-US" sz="750" b="1" dirty="0">
                <a:solidFill>
                  <a:srgbClr val="FFFFFF"/>
                </a:solidFill>
              </a:rPr>
              <a:t>청년</a:t>
            </a:r>
            <a:endParaRPr lang="en-US" sz="750" dirty="0"/>
          </a:p>
        </p:txBody>
      </p:sp>
      <p:sp>
        <p:nvSpPr>
          <p:cNvPr id="60" name="Text 58"/>
          <p:cNvSpPr/>
          <p:nvPr/>
        </p:nvSpPr>
        <p:spPr>
          <a:xfrm>
            <a:off x="6675120" y="2029968"/>
            <a:ext cx="2084832" cy="566928"/>
          </a:xfrm>
          <a:prstGeom prst="rect">
            <a:avLst/>
          </a:prstGeom>
          <a:noFill/>
        </p:spPr>
        <p:txBody>
          <a:bodyPr wrap="square" lIns="0" tIns="0" rIns="0" bIns="0" rtlCol="0" anchor="t"/>
          <a:lstStyle/>
          <a:p>
            <a:pPr marL="0" indent="0" algn="l">
              <a:buNone/>
            </a:pPr>
            <a:r>
              <a:rPr lang="en-US" sz="800" dirty="0">
                <a:solidFill>
                  <a:srgbClr val="2A2A2A"/>
                </a:solidFill>
              </a:rPr>
              <a:t>고립·은둔 온라인 서비스·지역거점 우선 안내 / 마음상담소 / 서울동행맵 이동 안내</a:t>
            </a:r>
            <a:endParaRPr lang="en-US" sz="800" dirty="0"/>
          </a:p>
        </p:txBody>
      </p:sp>
      <p:sp>
        <p:nvSpPr>
          <p:cNvPr id="61" name="Shape 59"/>
          <p:cNvSpPr/>
          <p:nvPr/>
        </p:nvSpPr>
        <p:spPr>
          <a:xfrm>
            <a:off x="6236208" y="2670048"/>
            <a:ext cx="2560320" cy="640080"/>
          </a:xfrm>
          <a:prstGeom prst="rect">
            <a:avLst/>
          </a:prstGeom>
          <a:solidFill>
            <a:srgbClr val="FFF4E8"/>
          </a:solidFill>
          <a:ln w="6350">
            <a:solidFill>
              <a:srgbClr val="E2E8F0"/>
            </a:solidFill>
            <a:prstDash val="solid"/>
          </a:ln>
        </p:spPr>
      </p:sp>
      <p:sp>
        <p:nvSpPr>
          <p:cNvPr id="62" name="Shape 60"/>
          <p:cNvSpPr/>
          <p:nvPr/>
        </p:nvSpPr>
        <p:spPr>
          <a:xfrm>
            <a:off x="6236208" y="2670048"/>
            <a:ext cx="402336" cy="640080"/>
          </a:xfrm>
          <a:prstGeom prst="rect">
            <a:avLst/>
          </a:prstGeom>
          <a:solidFill>
            <a:srgbClr val="B85C00"/>
          </a:solidFill>
          <a:ln w="12700">
            <a:solidFill>
              <a:srgbClr val="B85C00"/>
            </a:solidFill>
            <a:prstDash val="solid"/>
          </a:ln>
        </p:spPr>
      </p:sp>
      <p:sp>
        <p:nvSpPr>
          <p:cNvPr id="63" name="Text 61"/>
          <p:cNvSpPr/>
          <p:nvPr/>
        </p:nvSpPr>
        <p:spPr>
          <a:xfrm>
            <a:off x="6236208" y="2670048"/>
            <a:ext cx="402336" cy="640080"/>
          </a:xfrm>
          <a:prstGeom prst="rect">
            <a:avLst/>
          </a:prstGeom>
          <a:noFill/>
        </p:spPr>
        <p:txBody>
          <a:bodyPr wrap="square" lIns="0" tIns="0" rIns="0" bIns="0" rtlCol="0" anchor="ctr"/>
          <a:lstStyle/>
          <a:p>
            <a:pPr marL="0" indent="0" algn="ctr">
              <a:buNone/>
            </a:pPr>
            <a:r>
              <a:rPr lang="en-US" sz="750" b="1" dirty="0">
                <a:solidFill>
                  <a:srgbClr val="FFFFFF"/>
                </a:solidFill>
              </a:rPr>
              <a:t>중장년</a:t>
            </a:r>
            <a:endParaRPr lang="en-US" sz="750" dirty="0"/>
          </a:p>
        </p:txBody>
      </p:sp>
      <p:sp>
        <p:nvSpPr>
          <p:cNvPr id="64" name="Text 62"/>
          <p:cNvSpPr/>
          <p:nvPr/>
        </p:nvSpPr>
        <p:spPr>
          <a:xfrm>
            <a:off x="6675120" y="2706624"/>
            <a:ext cx="2084832" cy="566928"/>
          </a:xfrm>
          <a:prstGeom prst="rect">
            <a:avLst/>
          </a:prstGeom>
          <a:noFill/>
        </p:spPr>
        <p:txBody>
          <a:bodyPr wrap="square" lIns="0" tIns="0" rIns="0" bIns="0" rtlCol="0" anchor="t"/>
          <a:lstStyle/>
          <a:p>
            <a:pPr marL="0" indent="0" algn="l">
              <a:buNone/>
            </a:pPr>
            <a:r>
              <a:rPr lang="en-US" sz="800" dirty="0">
                <a:solidFill>
                  <a:srgbClr val="2A2A2A"/>
                </a:solidFill>
              </a:rPr>
              <a:t>위기가구 선제 발굴 / 취업사관학교·50+캠퍼스 / 동행맵·저상버스 이동지원 / 마음상담소 / 손목닥터9988</a:t>
            </a:r>
            <a:endParaRPr lang="en-US" sz="800" dirty="0"/>
          </a:p>
        </p:txBody>
      </p:sp>
      <p:sp>
        <p:nvSpPr>
          <p:cNvPr id="65" name="Shape 63"/>
          <p:cNvSpPr/>
          <p:nvPr/>
        </p:nvSpPr>
        <p:spPr>
          <a:xfrm>
            <a:off x="6236208" y="3346704"/>
            <a:ext cx="2560320" cy="640080"/>
          </a:xfrm>
          <a:prstGeom prst="rect">
            <a:avLst/>
          </a:prstGeom>
          <a:solidFill>
            <a:srgbClr val="EEF7F0"/>
          </a:solidFill>
          <a:ln w="6350">
            <a:solidFill>
              <a:srgbClr val="E2E8F0"/>
            </a:solidFill>
            <a:prstDash val="solid"/>
          </a:ln>
        </p:spPr>
      </p:sp>
      <p:sp>
        <p:nvSpPr>
          <p:cNvPr id="66" name="Shape 64"/>
          <p:cNvSpPr/>
          <p:nvPr/>
        </p:nvSpPr>
        <p:spPr>
          <a:xfrm>
            <a:off x="6236208" y="3346704"/>
            <a:ext cx="402336" cy="640080"/>
          </a:xfrm>
          <a:prstGeom prst="rect">
            <a:avLst/>
          </a:prstGeom>
          <a:solidFill>
            <a:srgbClr val="1A6B2E"/>
          </a:solidFill>
          <a:ln w="12700">
            <a:solidFill>
              <a:srgbClr val="1A6B2E"/>
            </a:solidFill>
            <a:prstDash val="solid"/>
          </a:ln>
        </p:spPr>
      </p:sp>
      <p:sp>
        <p:nvSpPr>
          <p:cNvPr id="67" name="Text 65"/>
          <p:cNvSpPr/>
          <p:nvPr/>
        </p:nvSpPr>
        <p:spPr>
          <a:xfrm>
            <a:off x="6236208" y="3346704"/>
            <a:ext cx="402336" cy="640080"/>
          </a:xfrm>
          <a:prstGeom prst="rect">
            <a:avLst/>
          </a:prstGeom>
          <a:noFill/>
        </p:spPr>
        <p:txBody>
          <a:bodyPr wrap="square" lIns="0" tIns="0" rIns="0" bIns="0" rtlCol="0" anchor="ctr"/>
          <a:lstStyle/>
          <a:p>
            <a:pPr marL="0" indent="0" algn="ctr">
              <a:buNone/>
            </a:pPr>
            <a:r>
              <a:rPr lang="en-US" sz="750" b="1" dirty="0">
                <a:solidFill>
                  <a:srgbClr val="FFFFFF"/>
                </a:solidFill>
              </a:rPr>
              <a:t>노년</a:t>
            </a:r>
            <a:endParaRPr lang="en-US" sz="750" dirty="0"/>
          </a:p>
        </p:txBody>
      </p:sp>
      <p:sp>
        <p:nvSpPr>
          <p:cNvPr id="68" name="Text 66"/>
          <p:cNvSpPr/>
          <p:nvPr/>
        </p:nvSpPr>
        <p:spPr>
          <a:xfrm>
            <a:off x="6675120" y="3383280"/>
            <a:ext cx="2084832" cy="566928"/>
          </a:xfrm>
          <a:prstGeom prst="rect">
            <a:avLst/>
          </a:prstGeom>
          <a:noFill/>
        </p:spPr>
        <p:txBody>
          <a:bodyPr wrap="square" lIns="0" tIns="0" rIns="0" bIns="0" rtlCol="0" anchor="t"/>
          <a:lstStyle/>
          <a:p>
            <a:pPr marL="0" indent="0" algn="l">
              <a:lnSpc>
                <a:spcPct val="100000"/>
              </a:lnSpc>
              <a:buNone/>
            </a:pPr>
            <a:r>
              <a:rPr lang="en-US" sz="800" dirty="0">
                <a:solidFill>
                  <a:srgbClr val="2A2A2A"/>
                </a:solidFill>
              </a:rPr>
              <a:t>방문건강관리 / 서울동행맵(AI 음성·보행경로) / 저상버스·장애인콜택시·바우처택시 / 9988 리액트라운지</a:t>
            </a:r>
            <a:endParaRPr lang="en-US" sz="800" dirty="0"/>
          </a:p>
        </p:txBody>
      </p:sp>
      <p:sp>
        <p:nvSpPr>
          <p:cNvPr id="69" name="Shape 67"/>
          <p:cNvSpPr/>
          <p:nvPr/>
        </p:nvSpPr>
        <p:spPr>
          <a:xfrm>
            <a:off x="6236208" y="4041648"/>
            <a:ext cx="2560320" cy="201168"/>
          </a:xfrm>
          <a:prstGeom prst="rect">
            <a:avLst/>
          </a:prstGeom>
          <a:solidFill>
            <a:srgbClr val="FFFFFF"/>
          </a:solidFill>
          <a:ln w="10160">
            <a:solidFill>
              <a:srgbClr val="1A5C6B"/>
            </a:solidFill>
            <a:prstDash val="solid"/>
          </a:ln>
        </p:spPr>
      </p:sp>
      <p:sp>
        <p:nvSpPr>
          <p:cNvPr id="70" name="Text 68"/>
          <p:cNvSpPr/>
          <p:nvPr/>
        </p:nvSpPr>
        <p:spPr>
          <a:xfrm>
            <a:off x="6272784" y="4041648"/>
            <a:ext cx="2542032" cy="201168"/>
          </a:xfrm>
          <a:prstGeom prst="rect">
            <a:avLst/>
          </a:prstGeom>
          <a:noFill/>
        </p:spPr>
        <p:txBody>
          <a:bodyPr wrap="square" lIns="0" tIns="0" rIns="0" bIns="0" rtlCol="0" anchor="ctr"/>
          <a:lstStyle/>
          <a:p>
            <a:pPr marL="0" indent="0" algn="l">
              <a:buNone/>
            </a:pPr>
            <a:r>
              <a:rPr lang="en-US" sz="680" b="1" dirty="0">
                <a:solidFill>
                  <a:srgbClr val="1A5C6B"/>
                </a:solidFill>
              </a:rPr>
              <a:t>◎  현행 지속 + 2026년 확대 추진 중 + 2026년 시행 예정 연계</a:t>
            </a:r>
            <a:endParaRPr lang="en-US" sz="680" dirty="0"/>
          </a:p>
        </p:txBody>
      </p:sp>
      <p:sp>
        <p:nvSpPr>
          <p:cNvPr id="118"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19"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05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정책</a:t>
            </a:r>
            <a:r>
              <a:rPr lang="en-US" altLang="ko-KR"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제</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안</a:t>
            </a:r>
            <a:endPar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0"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결핍</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유형별</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정책</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패키지</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매</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핑</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1"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74" name="QuoteBar"/>
          <p:cNvSpPr/>
          <p:nvPr/>
        </p:nvSpPr>
        <p:spPr>
          <a:xfrm>
            <a:off x="558984" y="4595820"/>
            <a:ext cx="9525" cy="260000"/>
          </a:xfrm>
          <a:prstGeom prst="rect">
            <a:avLst/>
          </a:prstGeom>
          <a:solidFill>
            <a:srgbClr val="1B1B27"/>
          </a:solidFill>
          <a:ln>
            <a:noFill/>
          </a:ln>
        </p:spPr>
        <p:txBody>
          <a:bodyPr/>
          <a:lstStyle/>
          <a:p>
            <a:endParaRPr lang="ko-KR">
              <a:latin typeface="Microsoft JhengHei" panose="020B0604030504040204" pitchFamily="34" charset="-120"/>
              <a:ea typeface="Microsoft JhengHei" panose="020B0604030504040204" pitchFamily="34" charset="-120"/>
            </a:endParaRPr>
          </a:p>
        </p:txBody>
      </p:sp>
      <p:sp>
        <p:nvSpPr>
          <p:cNvPr id="75" name="QuoteText"/>
          <p:cNvSpPr/>
          <p:nvPr/>
        </p:nvSpPr>
        <p:spPr>
          <a:xfrm>
            <a:off x="682865" y="4605820"/>
            <a:ext cx="8300000" cy="200000"/>
          </a:xfrm>
          <a:prstGeom prst="rect">
            <a:avLst/>
          </a:prstGeom>
          <a:noFill/>
        </p:spPr>
        <p:txBody>
          <a:bodyPr wrap="square" lIns="0" tIns="0" rIns="0" bIns="0" rtlCol="0" anchor="ctr"/>
          <a:lstStyle/>
          <a:p>
            <a:pPr marL="0" indent="0" algn="l">
              <a:buNone/>
            </a:pPr>
            <a:r>
              <a:rPr lang="ko-KR" altLang="en-US" sz="70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rPr>
              <a:t>핵심은 새 정책이 아니라 기존 정책의 우선 배치입니다. 결핍 유형이 다르면 정책 조합도 달라야 합니다.</a:t>
            </a:r>
            <a:endParaRPr lang="ko-KR" altLang="en-US" sz="700" b="0" dirty="0">
              <a:solidFill>
                <a:srgbClr val="555555"/>
              </a:solidFill>
              <a:latin typeface="Microsoft JhengHei" panose="020B0604030504040204" pitchFamily="34" charset="-120"/>
              <a:ea typeface="Microsoft JhengHei" panose="020B0604030504040204" pitchFamily="34" charset="-120"/>
              <a:cs typeface="Microsoft JhengHei" panose="020B0604030504040204" pitchFamily="34" charset="-12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6"/>
          <p:cNvSpPr/>
          <p:nvPr/>
        </p:nvSpPr>
        <p:spPr>
          <a:xfrm>
            <a:off x="572542" y="3990803"/>
            <a:ext cx="4990058" cy="104105"/>
          </a:xfrm>
          <a:prstGeom prst="rect">
            <a:avLst/>
          </a:prstGeom>
          <a:noFill/>
        </p:spPr>
        <p:txBody>
          <a:bodyPr wrap="none" lIns="0" tIns="0" rIns="0" bIns="0" rtlCol="0" anchor="t"/>
          <a:lstStyle/>
          <a:p>
            <a:pPr marL="0" indent="0" algn="l">
              <a:lnSpc>
                <a:spcPts val="800"/>
              </a:lnSpc>
              <a:buNone/>
            </a:pPr>
            <a:r>
              <a:rPr lang="en-US" sz="600" i="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정책지원 플랫폼 대시보드 화면 시안 — 서울 전체 복합위험과 TOP9를 한눈에 확인</a:t>
            </a:r>
            <a:endParaRPr lang="en-US" sz="600" i="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 name="Text 7"/>
          <p:cNvSpPr/>
          <p:nvPr/>
        </p:nvSpPr>
        <p:spPr>
          <a:xfrm>
            <a:off x="5821897" y="878863"/>
            <a:ext cx="905730" cy="123974"/>
          </a:xfrm>
          <a:prstGeom prst="rect">
            <a:avLst/>
          </a:prstGeom>
          <a:noFill/>
        </p:spPr>
        <p:txBody>
          <a:bodyPr wrap="none" lIns="0" tIns="0" rIns="0" bIns="0" rtlCol="0" anchor="t"/>
          <a:lstStyle/>
          <a:p>
            <a:pPr marL="0" indent="0" algn="l">
              <a:lnSpc>
                <a:spcPts val="950"/>
              </a:lnSpc>
              <a:buNone/>
            </a:pPr>
            <a:r>
              <a:rPr lang="en-US" sz="7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플랫폼 4대 기능</a:t>
            </a:r>
            <a:endParaRPr lang="en-US" sz="7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 name="Shape 8"/>
          <p:cNvSpPr/>
          <p:nvPr/>
        </p:nvSpPr>
        <p:spPr>
          <a:xfrm>
            <a:off x="5821898" y="1092642"/>
            <a:ext cx="2723780" cy="566068"/>
          </a:xfrm>
          <a:prstGeom prst="roundRect">
            <a:avLst>
              <a:gd name="adj" fmla="val 8077"/>
            </a:avLst>
          </a:prstGeom>
          <a:solidFill>
            <a:srgbClr val="FFFFFF">
              <a:alpha val="95000"/>
            </a:srgbClr>
          </a:solidFill>
          <a:ln w="9525">
            <a:solidFill>
              <a:srgbClr val="C7C7D0"/>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2" name="Shape 9"/>
          <p:cNvSpPr/>
          <p:nvPr/>
        </p:nvSpPr>
        <p:spPr>
          <a:xfrm>
            <a:off x="5821898" y="1083117"/>
            <a:ext cx="2723780" cy="38100"/>
          </a:xfrm>
          <a:prstGeom prst="roundRect">
            <a:avLst>
              <a:gd name="adj" fmla="val 87495"/>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3" name="Shape 10"/>
          <p:cNvSpPr/>
          <p:nvPr/>
        </p:nvSpPr>
        <p:spPr>
          <a:xfrm>
            <a:off x="7194576" y="973654"/>
            <a:ext cx="217329" cy="238051"/>
          </a:xfrm>
          <a:prstGeom prst="roundRect">
            <a:avLst>
              <a:gd name="adj" fmla="val 240075"/>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4" name="Text 11"/>
          <p:cNvSpPr/>
          <p:nvPr/>
        </p:nvSpPr>
        <p:spPr>
          <a:xfrm>
            <a:off x="7266013" y="1033185"/>
            <a:ext cx="86891" cy="118988"/>
          </a:xfrm>
          <a:prstGeom prst="rect">
            <a:avLst/>
          </a:prstGeom>
          <a:noFill/>
        </p:spPr>
        <p:txBody>
          <a:bodyPr wrap="none" lIns="0" tIns="0" rIns="0" bIns="0" rtlCol="0" anchor="ctr"/>
          <a:lstStyle/>
          <a:p>
            <a:pPr marL="0" indent="0" algn="ctr">
              <a:lnSpc>
                <a:spcPct val="100000"/>
              </a:lnSpc>
              <a:buNone/>
            </a:pPr>
            <a:r>
              <a:rPr lang="en-US" sz="70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rPr>
              <a:t>1</a:t>
            </a:r>
            <a:endParaRPr lang="en-US" sz="70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5" name="Text 12"/>
          <p:cNvSpPr/>
          <p:nvPr/>
        </p:nvSpPr>
        <p:spPr>
          <a:xfrm>
            <a:off x="5910747" y="1291030"/>
            <a:ext cx="905730" cy="123974"/>
          </a:xfrm>
          <a:prstGeom prst="rect">
            <a:avLst/>
          </a:prstGeom>
          <a:noFill/>
        </p:spPr>
        <p:txBody>
          <a:bodyPr wrap="none" lIns="0" tIns="0" rIns="0" bIns="0" rtlCol="0" anchor="t"/>
          <a:lstStyle/>
          <a:p>
            <a:pPr marL="0" indent="0" algn="l">
              <a:lnSpc>
                <a:spcPts val="950"/>
              </a:lnSpc>
              <a:buNone/>
            </a:pPr>
            <a:r>
              <a:rPr lang="en-US" sz="75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rPr>
              <a:t>대시보드</a:t>
            </a:r>
            <a:endParaRPr lang="en-US" sz="750" dirty="0">
              <a:solidFill>
                <a:srgbClr val="3C3939"/>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6" name="Text 13"/>
          <p:cNvSpPr/>
          <p:nvPr/>
        </p:nvSpPr>
        <p:spPr>
          <a:xfrm>
            <a:off x="5910747" y="1465754"/>
            <a:ext cx="2561547" cy="104105"/>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 전체 복합위험과 TOP9를 한눈에 확인. 자치구·행정동 단위 드릴다운.</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7" name="Shape 14"/>
          <p:cNvSpPr/>
          <p:nvPr/>
        </p:nvSpPr>
        <p:spPr>
          <a:xfrm>
            <a:off x="5821898" y="1828448"/>
            <a:ext cx="2723780" cy="566068"/>
          </a:xfrm>
          <a:prstGeom prst="roundRect">
            <a:avLst>
              <a:gd name="adj" fmla="val 8077"/>
            </a:avLst>
          </a:prstGeom>
          <a:solidFill>
            <a:srgbClr val="FFFFFF">
              <a:alpha val="95000"/>
            </a:srgbClr>
          </a:solidFill>
          <a:ln w="9525">
            <a:solidFill>
              <a:srgbClr val="C7C7D0"/>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8" name="Shape 15"/>
          <p:cNvSpPr/>
          <p:nvPr/>
        </p:nvSpPr>
        <p:spPr>
          <a:xfrm>
            <a:off x="5821898" y="1818923"/>
            <a:ext cx="2723780" cy="38100"/>
          </a:xfrm>
          <a:prstGeom prst="roundRect">
            <a:avLst>
              <a:gd name="adj" fmla="val 87495"/>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9" name="Shape 16"/>
          <p:cNvSpPr/>
          <p:nvPr/>
        </p:nvSpPr>
        <p:spPr>
          <a:xfrm>
            <a:off x="7194576" y="1709460"/>
            <a:ext cx="217329" cy="238051"/>
          </a:xfrm>
          <a:prstGeom prst="roundRect">
            <a:avLst>
              <a:gd name="adj" fmla="val 240075"/>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0" name="Text 17"/>
          <p:cNvSpPr/>
          <p:nvPr/>
        </p:nvSpPr>
        <p:spPr>
          <a:xfrm>
            <a:off x="7266013" y="1768992"/>
            <a:ext cx="86891" cy="118988"/>
          </a:xfrm>
          <a:prstGeom prst="rect">
            <a:avLst/>
          </a:prstGeom>
          <a:noFill/>
        </p:spPr>
        <p:txBody>
          <a:bodyPr wrap="none" lIns="0" tIns="0" rIns="0" bIns="0" rtlCol="0" anchor="ctr"/>
          <a:lstStyle/>
          <a:p>
            <a:pPr marL="0" indent="0" algn="ctr">
              <a:lnSpc>
                <a:spcPct val="100000"/>
              </a:lnSpc>
              <a:buNone/>
            </a:pPr>
            <a:r>
              <a:rPr lang="en-US" sz="70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rPr>
              <a:t>2</a:t>
            </a:r>
            <a:endParaRPr lang="en-US" sz="70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1" name="Text 18"/>
          <p:cNvSpPr/>
          <p:nvPr/>
        </p:nvSpPr>
        <p:spPr>
          <a:xfrm>
            <a:off x="5910747" y="2026836"/>
            <a:ext cx="905730" cy="123974"/>
          </a:xfrm>
          <a:prstGeom prst="rect">
            <a:avLst/>
          </a:prstGeom>
          <a:noFill/>
        </p:spPr>
        <p:txBody>
          <a:bodyPr wrap="none" lIns="0" tIns="0" rIns="0" bIns="0" rtlCol="0" anchor="t"/>
          <a:lstStyle/>
          <a:p>
            <a:pPr marL="0" indent="0" algn="l">
              <a:lnSpc>
                <a:spcPts val="95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생애주기별 위험지도</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2" name="Text 19"/>
          <p:cNvSpPr/>
          <p:nvPr/>
        </p:nvSpPr>
        <p:spPr>
          <a:xfrm>
            <a:off x="5910747" y="2201561"/>
            <a:ext cx="2561547" cy="104105"/>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청년·중장년·노년 위험을 분리 비교. 연령군 토글 선택 가능.</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3" name="Shape 20"/>
          <p:cNvSpPr/>
          <p:nvPr/>
        </p:nvSpPr>
        <p:spPr>
          <a:xfrm>
            <a:off x="5821898" y="2564255"/>
            <a:ext cx="2723780" cy="566068"/>
          </a:xfrm>
          <a:prstGeom prst="roundRect">
            <a:avLst>
              <a:gd name="adj" fmla="val 8077"/>
            </a:avLst>
          </a:prstGeom>
          <a:solidFill>
            <a:srgbClr val="FFFFFF">
              <a:alpha val="95000"/>
            </a:srgbClr>
          </a:solidFill>
          <a:ln w="9525">
            <a:solidFill>
              <a:srgbClr val="C7C7D0"/>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4" name="Shape 21"/>
          <p:cNvSpPr/>
          <p:nvPr/>
        </p:nvSpPr>
        <p:spPr>
          <a:xfrm>
            <a:off x="5821898" y="2554730"/>
            <a:ext cx="2723780" cy="38100"/>
          </a:xfrm>
          <a:prstGeom prst="roundRect">
            <a:avLst>
              <a:gd name="adj" fmla="val 87495"/>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5" name="Shape 22"/>
          <p:cNvSpPr/>
          <p:nvPr/>
        </p:nvSpPr>
        <p:spPr>
          <a:xfrm>
            <a:off x="7194576" y="2445267"/>
            <a:ext cx="217329" cy="238051"/>
          </a:xfrm>
          <a:prstGeom prst="roundRect">
            <a:avLst>
              <a:gd name="adj" fmla="val 240075"/>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6" name="Text 23"/>
          <p:cNvSpPr/>
          <p:nvPr/>
        </p:nvSpPr>
        <p:spPr>
          <a:xfrm>
            <a:off x="7266013" y="2504798"/>
            <a:ext cx="86891" cy="118988"/>
          </a:xfrm>
          <a:prstGeom prst="rect">
            <a:avLst/>
          </a:prstGeom>
          <a:noFill/>
        </p:spPr>
        <p:txBody>
          <a:bodyPr wrap="none" lIns="0" tIns="0" rIns="0" bIns="0" rtlCol="0" anchor="ctr"/>
          <a:lstStyle/>
          <a:p>
            <a:pPr marL="0" indent="0" algn="ctr">
              <a:lnSpc>
                <a:spcPct val="100000"/>
              </a:lnSpc>
              <a:buNone/>
            </a:pPr>
            <a:r>
              <a:rPr lang="en-US" sz="70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rPr>
              <a:t>3</a:t>
            </a:r>
            <a:endParaRPr lang="en-US" sz="70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7" name="Text 24"/>
          <p:cNvSpPr/>
          <p:nvPr/>
        </p:nvSpPr>
        <p:spPr>
          <a:xfrm>
            <a:off x="5910747" y="2762643"/>
            <a:ext cx="905730" cy="123974"/>
          </a:xfrm>
          <a:prstGeom prst="rect">
            <a:avLst/>
          </a:prstGeom>
          <a:noFill/>
        </p:spPr>
        <p:txBody>
          <a:bodyPr wrap="none" lIns="0" tIns="0" rIns="0" bIns="0" rtlCol="0" anchor="t"/>
          <a:lstStyle/>
          <a:p>
            <a:pPr marL="0" indent="0" algn="l">
              <a:lnSpc>
                <a:spcPts val="95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행정동 상세진단</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8" name="Text 25"/>
          <p:cNvSpPr/>
          <p:nvPr/>
        </p:nvSpPr>
        <p:spPr>
          <a:xfrm>
            <a:off x="5910747" y="2937367"/>
            <a:ext cx="2561547" cy="104105"/>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선택한 행정동의 위험점수·군집유형·결핍유형 상세 확인.</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9" name="Shape 26"/>
          <p:cNvSpPr/>
          <p:nvPr/>
        </p:nvSpPr>
        <p:spPr>
          <a:xfrm>
            <a:off x="5821898" y="3300061"/>
            <a:ext cx="2723780" cy="566068"/>
          </a:xfrm>
          <a:prstGeom prst="roundRect">
            <a:avLst>
              <a:gd name="adj" fmla="val 8077"/>
            </a:avLst>
          </a:prstGeom>
          <a:solidFill>
            <a:srgbClr val="FFFFFF">
              <a:alpha val="95000"/>
            </a:srgbClr>
          </a:solidFill>
          <a:ln w="9525">
            <a:solidFill>
              <a:srgbClr val="C7C7D0"/>
            </a:solidFill>
            <a:prstDash val="solid"/>
          </a:ln>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0" name="Shape 27"/>
          <p:cNvSpPr/>
          <p:nvPr/>
        </p:nvSpPr>
        <p:spPr>
          <a:xfrm>
            <a:off x="5821898" y="3290536"/>
            <a:ext cx="2723780" cy="38100"/>
          </a:xfrm>
          <a:prstGeom prst="roundRect">
            <a:avLst>
              <a:gd name="adj" fmla="val 87495"/>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1" name="Shape 28"/>
          <p:cNvSpPr/>
          <p:nvPr/>
        </p:nvSpPr>
        <p:spPr>
          <a:xfrm>
            <a:off x="7194576" y="3181073"/>
            <a:ext cx="217329" cy="238051"/>
          </a:xfrm>
          <a:prstGeom prst="roundRect">
            <a:avLst>
              <a:gd name="adj" fmla="val 240075"/>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2" name="Text 29"/>
          <p:cNvSpPr/>
          <p:nvPr/>
        </p:nvSpPr>
        <p:spPr>
          <a:xfrm>
            <a:off x="7266013" y="3240604"/>
            <a:ext cx="86891" cy="118988"/>
          </a:xfrm>
          <a:prstGeom prst="rect">
            <a:avLst/>
          </a:prstGeom>
          <a:noFill/>
        </p:spPr>
        <p:txBody>
          <a:bodyPr wrap="none" lIns="0" tIns="0" rIns="0" bIns="0" rtlCol="0" anchor="ctr"/>
          <a:lstStyle/>
          <a:p>
            <a:pPr marL="0" indent="0" algn="ctr">
              <a:lnSpc>
                <a:spcPct val="100000"/>
              </a:lnSpc>
              <a:buNone/>
            </a:pPr>
            <a:r>
              <a:rPr lang="en-US" sz="70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rPr>
              <a:t>4</a:t>
            </a:r>
            <a:endParaRPr lang="en-US" sz="700" dirty="0">
              <a:solidFill>
                <a:srgbClr val="FFFFFF"/>
              </a:solidFill>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3" name="Text 30"/>
          <p:cNvSpPr/>
          <p:nvPr/>
        </p:nvSpPr>
        <p:spPr>
          <a:xfrm>
            <a:off x="5910747" y="3498449"/>
            <a:ext cx="905730" cy="123974"/>
          </a:xfrm>
          <a:prstGeom prst="rect">
            <a:avLst/>
          </a:prstGeom>
          <a:noFill/>
        </p:spPr>
        <p:txBody>
          <a:bodyPr wrap="none" lIns="0" tIns="0" rIns="0" bIns="0" rtlCol="0" anchor="t"/>
          <a:lstStyle/>
          <a:p>
            <a:pPr marL="0" indent="0" algn="l">
              <a:lnSpc>
                <a:spcPts val="95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정책 우선순위</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4" name="Text 31"/>
          <p:cNvSpPr/>
          <p:nvPr/>
        </p:nvSpPr>
        <p:spPr>
          <a:xfrm>
            <a:off x="5910747" y="3673173"/>
            <a:ext cx="2561547" cy="104105"/>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결핍유형과 위험세대에 맞는 정책 패키지 자동 추천.</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5" name="Text 32"/>
          <p:cNvSpPr/>
          <p:nvPr/>
        </p:nvSpPr>
        <p:spPr>
          <a:xfrm>
            <a:off x="488379" y="4245079"/>
            <a:ext cx="8167241" cy="312316"/>
          </a:xfrm>
          <a:prstGeom prst="rect">
            <a:avLst/>
          </a:prstGeom>
          <a:noFill/>
        </p:spPr>
        <p:txBody>
          <a:bodyPr wrap="square" lIns="0" tIns="0" rIns="0" bIns="0" rtlCol="0" anchor="t"/>
          <a:lstStyle/>
          <a:p>
            <a:pPr marL="0" indent="0" algn="l">
              <a:lnSpc>
                <a:spcPts val="800"/>
              </a:lnSpc>
              <a:buNone/>
            </a:pP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행정동별</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위험유형과</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결핍유형을</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기존</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서울시</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정책과</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연결하고</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이를</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시민과</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담당자가</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한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화면에서</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확인할</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수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있는</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b="1"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정책지원</a:t>
            </a:r>
            <a:r>
              <a:rPr lang="en-US" sz="9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b="1"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플랫폼</a:t>
            </a:r>
            <a:r>
              <a:rPr lang="en-US" sz="9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b="1"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시안</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으로</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en-US" sz="9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확장합니다</a:t>
            </a:r>
            <a:r>
              <a:rPr lang="en-US" sz="9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endParaRPr lang="en-US" sz="9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6" name="Text 33"/>
          <p:cNvSpPr/>
          <p:nvPr/>
        </p:nvSpPr>
        <p:spPr>
          <a:xfrm>
            <a:off x="607368" y="4671546"/>
            <a:ext cx="8048253" cy="104105"/>
          </a:xfrm>
          <a:prstGeom prst="rect">
            <a:avLst/>
          </a:prstGeom>
          <a:noFill/>
        </p:spPr>
        <p:txBody>
          <a:bodyPr wrap="none" lIns="0" tIns="0" rIns="0" bIns="0" rtlCol="0" anchor="t"/>
          <a:lstStyle/>
          <a:p>
            <a:pPr marL="0" indent="0" algn="l">
              <a:lnSpc>
                <a:spcPts val="800"/>
              </a:lnSpc>
              <a:buNone/>
            </a:pPr>
            <a:r>
              <a:rPr lang="ko-KR" altLang="en-US" sz="600" dirty="0">
                <a:latin typeface="Microsoft JhengHei" panose="020B0604030504040204" pitchFamily="34" charset="-120"/>
                <a:ea typeface="Microsoft JhengHei" panose="020B0604030504040204" pitchFamily="34" charset="-120"/>
                <a:cs typeface="Microsoft JhengHei" panose="020B0604030504040204" pitchFamily="34" charset="-120"/>
              </a:rPr>
              <a:t>시민에게는 정책 안내창, 담당자에게는 우선순위 지도가 됩니다.</a:t>
            </a:r>
            <a:endParaRPr lang="ko-KR" altLang="en-US" sz="6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7" name="Shape 34"/>
          <p:cNvSpPr/>
          <p:nvPr/>
        </p:nvSpPr>
        <p:spPr>
          <a:xfrm>
            <a:off x="488379" y="4614470"/>
            <a:ext cx="9525" cy="218256"/>
          </a:xfrm>
          <a:prstGeom prst="rect">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pic>
        <p:nvPicPr>
          <p:cNvPr id="43" name="그림 42"/>
          <p:cNvPicPr>
            <a:picLocks noChangeAspect="1"/>
          </p:cNvPicPr>
          <p:nvPr/>
        </p:nvPicPr>
        <p:blipFill>
          <a:blip r:embed="rId1"/>
          <a:stretch>
            <a:fillRect/>
          </a:stretch>
        </p:blipFill>
        <p:spPr>
          <a:xfrm>
            <a:off x="367529" y="836034"/>
            <a:ext cx="5263209" cy="3122791"/>
          </a:xfrm>
          <a:prstGeom prst="rect">
            <a:avLst/>
          </a:prstGeom>
        </p:spPr>
      </p:pic>
      <p:sp>
        <p:nvSpPr>
          <p:cNvPr id="48" name="TextBox 47"/>
          <p:cNvSpPr txBox="1"/>
          <p:nvPr/>
        </p:nvSpPr>
        <p:spPr>
          <a:xfrm>
            <a:off x="6662298" y="4914871"/>
            <a:ext cx="2088173" cy="200055"/>
          </a:xfrm>
          <a:prstGeom prst="rect">
            <a:avLst/>
          </a:prstGeom>
          <a:noFill/>
        </p:spPr>
        <p:txBody>
          <a:bodyPr wrap="square" rtlCol="0">
            <a:spAutoFit/>
          </a:bodyPr>
          <a:lstStyle/>
          <a:p>
            <a:r>
              <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클릭하면 실제 시안 화면을 확인할 수 있습니다</a:t>
            </a:r>
            <a:r>
              <a:rPr lang="en-US" altLang="ko-KR" sz="700" dirty="0">
                <a:latin typeface="Microsoft JhengHei" panose="020B0604030504040204" pitchFamily="34" charset="-120"/>
                <a:ea typeface="Microsoft JhengHei" panose="020B0604030504040204" pitchFamily="34" charset="-120"/>
                <a:cs typeface="Microsoft JhengHei" panose="020B0604030504040204" pitchFamily="34" charset="-120"/>
              </a:rPr>
              <a:t>.</a:t>
            </a:r>
            <a:endPar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graphicFrame>
        <p:nvGraphicFramePr>
          <p:cNvPr id="49" name="개체 48"/>
          <p:cNvGraphicFramePr>
            <a:graphicFrameLocks noChangeAspect="1"/>
          </p:cNvGraphicFramePr>
          <p:nvPr/>
        </p:nvGraphicFramePr>
        <p:xfrm>
          <a:off x="7081577" y="4443039"/>
          <a:ext cx="1085850" cy="527050"/>
        </p:xfrm>
        <a:graphic>
          <a:graphicData uri="http://schemas.openxmlformats.org/presentationml/2006/ole">
            <mc:AlternateContent xmlns:mc="http://schemas.openxmlformats.org/markup-compatibility/2006">
              <mc:Choice xmlns:v="urn:schemas-microsoft-com:vml" Requires="v">
                <p:oleObj spid="_x0000_s2" name="포장기 셸 개체" showAsIcon="1" r:id="rId2" imgW="883285" imgH="431800" progId="Package">
                  <p:embed/>
                </p:oleObj>
              </mc:Choice>
              <mc:Fallback>
                <p:oleObj name="포장기 셸 개체" showAsIcon="1" r:id="rId2" imgW="883285" imgH="431800" progId="Package">
                  <p:embed/>
                  <p:pic>
                    <p:nvPicPr>
                      <p:cNvPr id="0" name="Picture 1"/>
                      <p:cNvPicPr/>
                      <p:nvPr/>
                    </p:nvPicPr>
                    <p:blipFill>
                      <a:blip r:embed="rId3"/>
                      <a:stretch>
                        <a:fillRect/>
                      </a:stretch>
                    </p:blipFill>
                    <p:spPr>
                      <a:xfrm>
                        <a:off x="7081577" y="4443039"/>
                        <a:ext cx="1085850" cy="527050"/>
                      </a:xfrm>
                      <a:prstGeom prst="rect">
                        <a:avLst/>
                      </a:prstGeom>
                    </p:spPr>
                  </p:pic>
                </p:oleObj>
              </mc:Fallback>
            </mc:AlternateContent>
          </a:graphicData>
        </a:graphic>
      </p:graphicFrame>
      <p:sp>
        <p:nvSpPr>
          <p:cNvPr id="3"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4" name="Text 1"/>
          <p:cNvSpPr/>
          <p:nvPr/>
        </p:nvSpPr>
        <p:spPr>
          <a:xfrm>
            <a:off x="559371" y="171792"/>
            <a:ext cx="524470" cy="124867"/>
          </a:xfrm>
          <a:prstGeom prst="rect">
            <a:avLst/>
          </a:prstGeom>
          <a:noFill/>
        </p:spPr>
        <p:txBody>
          <a:bodyPr wrap="none" lIns="0" tIns="0" rIns="0" bIns="0" rtlCol="0" anchor="t"/>
          <a:lstStyle/>
          <a:p>
            <a:pPr>
              <a:lnSpc>
                <a:spcPts val="950"/>
              </a:lnSpc>
            </a:pPr>
            <a:r>
              <a:rPr lang="en-US" altLang="ko-KR"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05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정책</a:t>
            </a:r>
            <a:r>
              <a:rPr lang="en-US" altLang="ko-KR"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제</a:t>
            </a:r>
            <a:r>
              <a:rPr lang="ko-KR" altLang="en-US" sz="650" u="heavy"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안</a:t>
            </a:r>
            <a:endPar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정책 플랫폼 시안</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480640" y="947738"/>
            <a:ext cx="1547366" cy="122039"/>
          </a:xfrm>
          <a:prstGeom prst="rect">
            <a:avLst/>
          </a:prstGeom>
          <a:noFill/>
        </p:spPr>
        <p:txBody>
          <a:bodyPr wrap="none" lIns="0" tIns="0" rIns="0" bIns="0" rtlCol="0" anchor="t"/>
          <a:lstStyle/>
          <a:p>
            <a:pPr marL="0" indent="0" algn="l">
              <a:lnSpc>
                <a:spcPts val="950"/>
              </a:lnSpc>
              <a:buNone/>
            </a:pPr>
            <a:r>
              <a:rPr lang="en-US" sz="750" dirty="0">
                <a:solidFill>
                  <a:srgbClr val="000000"/>
                </a:solidFill>
                <a:latin typeface="Microsoft JhengHei" panose="020B0604030504040204" pitchFamily="34" charset="-120"/>
                <a:ea typeface="Microsoft JhengHei" panose="020B0604030504040204" pitchFamily="34" charset="-120"/>
                <a:cs typeface="Microsoft JhengHei" panose="020B0604030504040204" pitchFamily="34" charset="-120"/>
              </a:rPr>
              <a:t>🏆</a:t>
            </a:r>
            <a:r>
              <a:rPr lang="en-US" sz="750"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 가리봉동 프로필 카드 — TOP9 1위</a:t>
            </a:r>
            <a:endParaRPr lang="en-US" sz="750" dirty="0">
              <a:latin typeface="Microsoft JhengHei" panose="020B0604030504040204" pitchFamily="34" charset="-120"/>
              <a:ea typeface="Microsoft JhengHei" panose="020B0604030504040204" pitchFamily="34" charset="-120"/>
            </a:endParaRPr>
          </a:p>
        </p:txBody>
      </p:sp>
      <p:sp>
        <p:nvSpPr>
          <p:cNvPr id="7" name="Shape 5"/>
          <p:cNvSpPr/>
          <p:nvPr/>
        </p:nvSpPr>
        <p:spPr>
          <a:xfrm>
            <a:off x="480640" y="1125066"/>
            <a:ext cx="2182788" cy="438596"/>
          </a:xfrm>
          <a:prstGeom prst="roundRect">
            <a:avLst>
              <a:gd name="adj" fmla="val 7480"/>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8" name="Text 6"/>
          <p:cNvSpPr/>
          <p:nvPr/>
        </p:nvSpPr>
        <p:spPr>
          <a:xfrm>
            <a:off x="563463" y="1207889"/>
            <a:ext cx="976313" cy="122039"/>
          </a:xfrm>
          <a:prstGeom prst="rect">
            <a:avLst/>
          </a:prstGeom>
          <a:noFill/>
        </p:spPr>
        <p:txBody>
          <a:bodyPr wrap="none" lIns="0" tIns="0" rIns="0" bIns="0" rtlCol="0" anchor="t"/>
          <a:lstStyle/>
          <a:p>
            <a:pPr marL="0" indent="0" algn="l">
              <a:lnSpc>
                <a:spcPts val="95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군집 유형</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 name="Text 7"/>
          <p:cNvSpPr/>
          <p:nvPr/>
        </p:nvSpPr>
        <p:spPr>
          <a:xfrm>
            <a:off x="563463" y="1379041"/>
            <a:ext cx="2017142" cy="101798"/>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1인가구 집중형</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 name="Shape 8"/>
          <p:cNvSpPr/>
          <p:nvPr/>
        </p:nvSpPr>
        <p:spPr>
          <a:xfrm>
            <a:off x="2712541" y="1125066"/>
            <a:ext cx="2182862" cy="438596"/>
          </a:xfrm>
          <a:prstGeom prst="roundRect">
            <a:avLst>
              <a:gd name="adj" fmla="val 7480"/>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1" name="Text 9"/>
          <p:cNvSpPr/>
          <p:nvPr/>
        </p:nvSpPr>
        <p:spPr>
          <a:xfrm>
            <a:off x="2795364" y="1207889"/>
            <a:ext cx="976313" cy="122039"/>
          </a:xfrm>
          <a:prstGeom prst="rect">
            <a:avLst/>
          </a:prstGeom>
          <a:noFill/>
        </p:spPr>
        <p:txBody>
          <a:bodyPr wrap="none" lIns="0" tIns="0" rIns="0" bIns="0" rtlCol="0" anchor="t"/>
          <a:lstStyle/>
          <a:p>
            <a:pPr marL="0" indent="0" algn="l">
              <a:lnSpc>
                <a:spcPts val="95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결핍 유형</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 name="Text 10"/>
          <p:cNvSpPr/>
          <p:nvPr/>
        </p:nvSpPr>
        <p:spPr>
          <a:xfrm>
            <a:off x="2795364" y="1379041"/>
            <a:ext cx="2017216" cy="101798"/>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2형 복합결핍 — 의료·복지 접근성 보완 필요</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3" name="Shape 11"/>
          <p:cNvSpPr/>
          <p:nvPr/>
        </p:nvSpPr>
        <p:spPr>
          <a:xfrm>
            <a:off x="480640" y="1612776"/>
            <a:ext cx="2182788" cy="438596"/>
          </a:xfrm>
          <a:prstGeom prst="roundRect">
            <a:avLst>
              <a:gd name="adj" fmla="val 7480"/>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4" name="Text 12"/>
          <p:cNvSpPr/>
          <p:nvPr/>
        </p:nvSpPr>
        <p:spPr>
          <a:xfrm>
            <a:off x="563463" y="1695599"/>
            <a:ext cx="976313" cy="122039"/>
          </a:xfrm>
          <a:prstGeom prst="rect">
            <a:avLst/>
          </a:prstGeom>
          <a:noFill/>
        </p:spPr>
        <p:txBody>
          <a:bodyPr wrap="none" lIns="0" tIns="0" rIns="0" bIns="0" rtlCol="0" anchor="t"/>
          <a:lstStyle/>
          <a:p>
            <a:pPr marL="0" indent="0" algn="l">
              <a:lnSpc>
                <a:spcPts val="95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복합위험지수</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5" name="Text 13"/>
          <p:cNvSpPr/>
          <p:nvPr/>
        </p:nvSpPr>
        <p:spPr>
          <a:xfrm>
            <a:off x="563463" y="1866751"/>
            <a:ext cx="2017142" cy="101798"/>
          </a:xfrm>
          <a:prstGeom prst="rect">
            <a:avLst/>
          </a:prstGeom>
          <a:noFill/>
        </p:spPr>
        <p:txBody>
          <a:bodyPr wrap="none" lIns="0" tIns="0" rIns="0" bIns="0" rtlCol="0" anchor="t"/>
          <a:lstStyle/>
          <a:p>
            <a:pPr marL="0" indent="0" algn="l">
              <a:lnSpc>
                <a:spcPts val="800"/>
              </a:lnSpc>
              <a:buNone/>
            </a:pPr>
            <a:r>
              <a:rPr lang="en-US" sz="600" b="1"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84.1점</a:t>
            </a: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 TOP9 1위</a:t>
            </a:r>
            <a:endParaRPr lang="en-US" sz="600" dirty="0">
              <a:latin typeface="Microsoft JhengHei" panose="020B0604030504040204" pitchFamily="34" charset="-120"/>
              <a:ea typeface="Microsoft JhengHei" panose="020B0604030504040204" pitchFamily="34" charset="-120"/>
            </a:endParaRPr>
          </a:p>
        </p:txBody>
      </p:sp>
      <p:sp>
        <p:nvSpPr>
          <p:cNvPr id="16" name="Shape 14"/>
          <p:cNvSpPr/>
          <p:nvPr/>
        </p:nvSpPr>
        <p:spPr>
          <a:xfrm>
            <a:off x="2712541" y="1612776"/>
            <a:ext cx="2182862" cy="438596"/>
          </a:xfrm>
          <a:prstGeom prst="roundRect">
            <a:avLst>
              <a:gd name="adj" fmla="val 7480"/>
            </a:avLst>
          </a:prstGeom>
          <a:solidFill>
            <a:srgbClr val="E1E1EA"/>
          </a:solidFill>
          <a:ln w="4763">
            <a:solidFill>
              <a:srgbClr val="C7C7D0"/>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17" name="Text 15"/>
          <p:cNvSpPr/>
          <p:nvPr/>
        </p:nvSpPr>
        <p:spPr>
          <a:xfrm>
            <a:off x="2795364" y="1695599"/>
            <a:ext cx="976313" cy="122039"/>
          </a:xfrm>
          <a:prstGeom prst="rect">
            <a:avLst/>
          </a:prstGeom>
          <a:noFill/>
        </p:spPr>
        <p:txBody>
          <a:bodyPr wrap="none" lIns="0" tIns="0" rIns="0" bIns="0" rtlCol="0" anchor="t"/>
          <a:lstStyle/>
          <a:p>
            <a:pPr marL="0" indent="0" algn="l">
              <a:lnSpc>
                <a:spcPts val="950"/>
              </a:lnSpc>
              <a:buNone/>
            </a:pPr>
            <a:r>
              <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특이사항</a:t>
            </a:r>
            <a:endParaRPr lang="en-US" sz="7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8" name="Text 16"/>
          <p:cNvSpPr/>
          <p:nvPr/>
        </p:nvSpPr>
        <p:spPr>
          <a:xfrm>
            <a:off x="2795364" y="1866751"/>
            <a:ext cx="2017216" cy="101798"/>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외국계 1인가구 밀집 가능성 → 다국어 정책 안내 병행 권고</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9" name="Text 17"/>
          <p:cNvSpPr/>
          <p:nvPr/>
        </p:nvSpPr>
        <p:spPr>
          <a:xfrm>
            <a:off x="480640" y="2106662"/>
            <a:ext cx="976313" cy="122039"/>
          </a:xfrm>
          <a:prstGeom prst="rect">
            <a:avLst/>
          </a:prstGeom>
          <a:noFill/>
        </p:spPr>
        <p:txBody>
          <a:bodyPr wrap="none" lIns="0" tIns="0" rIns="0" bIns="0" rtlCol="0" anchor="t"/>
          <a:lstStyle/>
          <a:p>
            <a:pPr marL="0" indent="0" algn="l">
              <a:lnSpc>
                <a:spcPts val="950"/>
              </a:lnSpc>
              <a:buNone/>
            </a:pPr>
            <a:r>
              <a:rPr lang="en-US" sz="7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추천 정책 패키지</a:t>
            </a:r>
            <a:endParaRPr lang="en-US" sz="7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20"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9885" y="2287823"/>
            <a:ext cx="117128" cy="117128"/>
          </a:xfrm>
          <a:prstGeom prst="rect">
            <a:avLst/>
          </a:prstGeom>
        </p:spPr>
      </p:pic>
      <p:sp>
        <p:nvSpPr>
          <p:cNvPr id="21" name="Text 18"/>
          <p:cNvSpPr/>
          <p:nvPr/>
        </p:nvSpPr>
        <p:spPr>
          <a:xfrm>
            <a:off x="734392" y="2283991"/>
            <a:ext cx="4161011" cy="101798"/>
          </a:xfrm>
          <a:prstGeom prst="rect">
            <a:avLst/>
          </a:prstGeom>
          <a:noFill/>
        </p:spPr>
        <p:txBody>
          <a:bodyPr wrap="none" lIns="0" tIns="0" rIns="0" bIns="0" rtlCol="0" anchor="t"/>
          <a:lstStyle/>
          <a:p>
            <a:pPr marL="0" indent="0" algn="l">
              <a:lnSpc>
                <a:spcPts val="800"/>
              </a:lnSpc>
              <a:buNone/>
            </a:pPr>
            <a:r>
              <a:rPr lang="en-US" sz="6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청년:</a:t>
            </a: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서울청년기지개센터·기지개LAB, 스마트안부확인</a:t>
            </a:r>
            <a:endParaRPr lang="en-US" sz="600" dirty="0">
              <a:latin typeface="Microsoft JhengHei" panose="020B0604030504040204" pitchFamily="34" charset="-120"/>
              <a:ea typeface="Microsoft JhengHei" panose="020B0604030504040204" pitchFamily="34" charset="-120"/>
            </a:endParaRPr>
          </a:p>
        </p:txBody>
      </p:sp>
      <p:pic>
        <p:nvPicPr>
          <p:cNvPr id="22"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9885" y="2624249"/>
            <a:ext cx="117128" cy="117128"/>
          </a:xfrm>
          <a:prstGeom prst="rect">
            <a:avLst/>
          </a:prstGeom>
        </p:spPr>
      </p:pic>
      <p:sp>
        <p:nvSpPr>
          <p:cNvPr id="23" name="Text 19"/>
          <p:cNvSpPr/>
          <p:nvPr/>
        </p:nvSpPr>
        <p:spPr>
          <a:xfrm>
            <a:off x="734392" y="2620417"/>
            <a:ext cx="4161011" cy="101798"/>
          </a:xfrm>
          <a:prstGeom prst="rect">
            <a:avLst/>
          </a:prstGeom>
          <a:noFill/>
        </p:spPr>
        <p:txBody>
          <a:bodyPr wrap="none" lIns="0" tIns="0" rIns="0" bIns="0" rtlCol="0" anchor="t"/>
          <a:lstStyle/>
          <a:p>
            <a:pPr marL="0" indent="0" algn="l">
              <a:lnSpc>
                <a:spcPts val="800"/>
              </a:lnSpc>
              <a:buNone/>
            </a:pPr>
            <a:r>
              <a:rPr lang="en-US" sz="6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중장년:</a:t>
            </a: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외로움안녕120, 위기가구 선제 발굴, 자치구 마음상담소</a:t>
            </a:r>
            <a:endParaRPr lang="en-US" sz="600" dirty="0">
              <a:latin typeface="Microsoft JhengHei" panose="020B0604030504040204" pitchFamily="34" charset="-120"/>
              <a:ea typeface="Microsoft JhengHei" panose="020B0604030504040204" pitchFamily="34" charset="-120"/>
            </a:endParaRPr>
          </a:p>
        </p:txBody>
      </p:sp>
      <p:pic>
        <p:nvPicPr>
          <p:cNvPr id="24"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9885" y="2960675"/>
            <a:ext cx="117128" cy="117128"/>
          </a:xfrm>
          <a:prstGeom prst="rect">
            <a:avLst/>
          </a:prstGeom>
        </p:spPr>
      </p:pic>
      <p:sp>
        <p:nvSpPr>
          <p:cNvPr id="25" name="Text 20"/>
          <p:cNvSpPr/>
          <p:nvPr/>
        </p:nvSpPr>
        <p:spPr>
          <a:xfrm>
            <a:off x="734392" y="2956843"/>
            <a:ext cx="4161011" cy="101798"/>
          </a:xfrm>
          <a:prstGeom prst="rect">
            <a:avLst/>
          </a:prstGeom>
          <a:noFill/>
        </p:spPr>
        <p:txBody>
          <a:bodyPr wrap="none" lIns="0" tIns="0" rIns="0" bIns="0" rtlCol="0" anchor="t"/>
          <a:lstStyle/>
          <a:p>
            <a:pPr marL="0" indent="0" algn="l">
              <a:lnSpc>
                <a:spcPts val="800"/>
              </a:lnSpc>
              <a:buNone/>
            </a:pPr>
            <a:r>
              <a:rPr lang="en-US" sz="6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노년:</a:t>
            </a: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동 중심 원스톱 통합돌봄, 돌봄SOS, 건강동행서비스</a:t>
            </a:r>
            <a:endParaRPr lang="en-US" sz="600" dirty="0">
              <a:latin typeface="Microsoft JhengHei" panose="020B0604030504040204" pitchFamily="34" charset="-120"/>
              <a:ea typeface="Microsoft JhengHei" panose="020B0604030504040204" pitchFamily="34" charset="-120"/>
            </a:endParaRPr>
          </a:p>
        </p:txBody>
      </p:sp>
      <p:pic>
        <p:nvPicPr>
          <p:cNvPr id="26" name="Image 3" descr="preencoded.png"/>
          <p:cNvPicPr>
            <a:picLocks noChangeAspect="1"/>
          </p:cNvPicPr>
          <p:nvPr/>
        </p:nvPicPr>
        <p:blipFill>
          <a:blip r:embed="rId3"/>
          <a:stretch>
            <a:fillRect/>
          </a:stretch>
        </p:blipFill>
        <p:spPr>
          <a:xfrm>
            <a:off x="1253207" y="3250257"/>
            <a:ext cx="2869555" cy="1237431"/>
          </a:xfrm>
          <a:prstGeom prst="rect">
            <a:avLst/>
          </a:prstGeom>
        </p:spPr>
      </p:pic>
      <p:sp>
        <p:nvSpPr>
          <p:cNvPr id="27" name="Text 21"/>
          <p:cNvSpPr/>
          <p:nvPr/>
        </p:nvSpPr>
        <p:spPr>
          <a:xfrm>
            <a:off x="1446285" y="4253026"/>
            <a:ext cx="651012" cy="81376"/>
          </a:xfrm>
          <a:prstGeom prst="rect">
            <a:avLst/>
          </a:prstGeom>
          <a:noFill/>
        </p:spPr>
        <p:txBody>
          <a:bodyPr wrap="none" lIns="0" tIns="0" rIns="0" bIns="0" rtlCol="0" anchor="t"/>
          <a:lstStyle/>
          <a:p>
            <a:pPr marL="0" indent="0" algn="l">
              <a:lnSpc>
                <a:spcPts val="600"/>
              </a:lnSpc>
              <a:buNone/>
            </a:pPr>
            <a:r>
              <a:rPr lang="en-US" sz="500"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rPr>
              <a:t>정책 패키지 추천</a:t>
            </a:r>
            <a:endParaRPr lang="en-US" sz="500"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8" name="Text 22"/>
          <p:cNvSpPr/>
          <p:nvPr/>
        </p:nvSpPr>
        <p:spPr>
          <a:xfrm>
            <a:off x="1446285" y="3966580"/>
            <a:ext cx="651012" cy="81377"/>
          </a:xfrm>
          <a:prstGeom prst="rect">
            <a:avLst/>
          </a:prstGeom>
          <a:noFill/>
        </p:spPr>
        <p:txBody>
          <a:bodyPr wrap="none" lIns="0" tIns="0" rIns="0" bIns="0" rtlCol="0" anchor="t"/>
          <a:lstStyle/>
          <a:p>
            <a:pPr marL="0" indent="0" algn="l">
              <a:lnSpc>
                <a:spcPts val="600"/>
              </a:lnSpc>
              <a:buNone/>
            </a:pPr>
            <a:r>
              <a:rPr lang="en-US" sz="500"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rPr>
              <a:t>결핍유형 확인</a:t>
            </a:r>
            <a:endParaRPr lang="en-US" sz="500"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9" name="Text 23"/>
          <p:cNvSpPr/>
          <p:nvPr/>
        </p:nvSpPr>
        <p:spPr>
          <a:xfrm>
            <a:off x="1446285" y="3683028"/>
            <a:ext cx="651012" cy="81376"/>
          </a:xfrm>
          <a:prstGeom prst="rect">
            <a:avLst/>
          </a:prstGeom>
          <a:noFill/>
        </p:spPr>
        <p:txBody>
          <a:bodyPr wrap="none" lIns="0" tIns="0" rIns="0" bIns="0" rtlCol="0" anchor="t"/>
          <a:lstStyle/>
          <a:p>
            <a:pPr marL="0" indent="0" algn="l">
              <a:lnSpc>
                <a:spcPts val="600"/>
              </a:lnSpc>
              <a:buNone/>
            </a:pPr>
            <a:r>
              <a:rPr lang="en-US" sz="500"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rPr>
              <a:t>위험 연령층 확인</a:t>
            </a:r>
            <a:endParaRPr lang="en-US" sz="500"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0" name="Text 24"/>
          <p:cNvSpPr/>
          <p:nvPr/>
        </p:nvSpPr>
        <p:spPr>
          <a:xfrm>
            <a:off x="1446285" y="3396583"/>
            <a:ext cx="651012" cy="81376"/>
          </a:xfrm>
          <a:prstGeom prst="rect">
            <a:avLst/>
          </a:prstGeom>
          <a:noFill/>
        </p:spPr>
        <p:txBody>
          <a:bodyPr wrap="none" lIns="0" tIns="0" rIns="0" bIns="0" rtlCol="0" anchor="t"/>
          <a:lstStyle/>
          <a:p>
            <a:pPr marL="0" indent="0" algn="l">
              <a:lnSpc>
                <a:spcPts val="600"/>
              </a:lnSpc>
              <a:buNone/>
            </a:pPr>
            <a:r>
              <a:rPr lang="en-US" sz="500"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rPr>
              <a:t>행정동 선택</a:t>
            </a:r>
            <a:endParaRPr lang="en-US" sz="500" dirty="0">
              <a:solidFill>
                <a:srgbClr val="FFFFFF"/>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4" name="Text 27"/>
          <p:cNvSpPr/>
          <p:nvPr/>
        </p:nvSpPr>
        <p:spPr>
          <a:xfrm>
            <a:off x="5063361" y="3298379"/>
            <a:ext cx="3577382" cy="101798"/>
          </a:xfrm>
          <a:prstGeom prst="rect">
            <a:avLst/>
          </a:prstGeom>
          <a:noFill/>
        </p:spPr>
        <p:txBody>
          <a:bodyPr wrap="none" lIns="0" tIns="0" rIns="0" bIns="0" rtlCol="0" anchor="t"/>
          <a:lstStyle/>
          <a:p>
            <a:pPr marL="0" indent="0" algn="l">
              <a:lnSpc>
                <a:spcPts val="800"/>
              </a:lnSpc>
              <a:buNone/>
            </a:pPr>
            <a:r>
              <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가리봉동 연령대별 위험지수 구성 분석</a:t>
            </a:r>
            <a:endPar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5" name="Text 28"/>
          <p:cNvSpPr/>
          <p:nvPr/>
        </p:nvSpPr>
        <p:spPr>
          <a:xfrm>
            <a:off x="5063361" y="3500894"/>
            <a:ext cx="3577382" cy="407194"/>
          </a:xfrm>
          <a:prstGeom prst="rect">
            <a:avLst/>
          </a:prstGeom>
          <a:noFill/>
        </p:spPr>
        <p:txBody>
          <a:bodyPr wrap="square" lIns="60000" tIns="60000" rIns="60000" bIns="60000" rtlCol="0" anchor="t"/>
          <a:lstStyle/>
          <a:p>
            <a:pPr marL="149860" indent="-149860" algn="l">
              <a:lnSpc>
                <a:spcPts val="1150"/>
              </a:lnSpc>
              <a:buNone/>
            </a:pPr>
            <a:r>
              <a:rPr lang="ko-KR" sz="800" b="1"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세 연령대 모두 70점 이상 — 서울 전체 행정동 중 가장 높은 복합 중첩 수준</a:t>
            </a:r>
            <a:endParaRPr lang="ko-KR"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a:lnSpc>
                <a:spcPts val="500"/>
              </a:lnSpc>
              <a:buNone/>
            </a:pPr>
            <a:endParaRPr lang="ko-KR"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149860" indent="-149860" algn="l">
              <a:lnSpc>
                <a:spcPts val="1150"/>
              </a:lnSpc>
              <a:buNone/>
            </a:pPr>
            <a:r>
              <a:rPr lang="ko-KR" sz="800" b="1" dirty="0">
                <a:solidFill>
                  <a:srgbClr val="E8A040"/>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복합결핍형(의료·복지) — 인프라 보강과 돌봄 연계가 동시에 필요한 구조</a:t>
            </a:r>
            <a:endParaRPr lang="ko-KR"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a:lnSpc>
                <a:spcPts val="500"/>
              </a:lnSpc>
              <a:buNone/>
            </a:pPr>
            <a:endParaRPr lang="ko-KR"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149860" indent="-149860" algn="l">
              <a:lnSpc>
                <a:spcPts val="1150"/>
              </a:lnSpc>
              <a:buNone/>
            </a:pPr>
            <a:r>
              <a:rPr lang="ko-KR" sz="8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이 패턴은 TOP9 전체에 적용 가능한 정책 카드 기준으로 확장 활용 가능</a:t>
            </a:r>
            <a:endParaRPr lang="ko-KR"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6" name="Text 29"/>
          <p:cNvSpPr/>
          <p:nvPr/>
        </p:nvSpPr>
        <p:spPr>
          <a:xfrm>
            <a:off x="597768" y="4653558"/>
            <a:ext cx="8065591" cy="101798"/>
          </a:xfrm>
          <a:prstGeom prst="rect">
            <a:avLst/>
          </a:prstGeom>
          <a:noFill/>
        </p:spPr>
        <p:txBody>
          <a:bodyPr wrap="none" lIns="0" tIns="0" rIns="0" bIns="0" rtlCol="0" anchor="t"/>
          <a:lstStyle/>
          <a:p>
            <a:pPr marL="0" indent="0" algn="l">
              <a:lnSpc>
                <a:spcPts val="800"/>
              </a:lnSpc>
              <a:buNone/>
            </a:pPr>
            <a:r>
              <a:rPr lang="ko-KR" altLang="en-US" sz="600" dirty="0">
                <a:latin typeface="Microsoft JhengHei" panose="020B0604030504040204" pitchFamily="34" charset="-120"/>
                <a:ea typeface="Microsoft JhengHei" panose="020B0604030504040204" pitchFamily="34" charset="-120"/>
                <a:cs typeface="Microsoft JhengHei" panose="020B0604030504040204" pitchFamily="34" charset="-120"/>
              </a:rPr>
              <a:t>가리봉동 사례는 위험지도가 정책 카드로 전환되는 과정을 보여줍니다.</a:t>
            </a:r>
            <a:endParaRPr lang="ko-KR" altLang="en-US" sz="6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7" name="Shape 30"/>
          <p:cNvSpPr/>
          <p:nvPr/>
        </p:nvSpPr>
        <p:spPr>
          <a:xfrm>
            <a:off x="480640" y="4598268"/>
            <a:ext cx="9525" cy="212378"/>
          </a:xfrm>
          <a:prstGeom prst="rect">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endParaRPr>
          </a:p>
        </p:txBody>
      </p:sp>
      <p:pic>
        <p:nvPicPr>
          <p:cNvPr id="38" name="v2_08_bar"/>
          <p:cNvPicPr>
            <a:picLocks noChangeAspect="1"/>
          </p:cNvPicPr>
          <p:nvPr/>
        </p:nvPicPr>
        <p:blipFill>
          <a:blip r:embed="rId4"/>
          <a:stretch>
            <a:fillRect/>
          </a:stretch>
        </p:blipFill>
        <p:spPr>
          <a:xfrm>
            <a:off x="5063490" y="1136015"/>
            <a:ext cx="3604260" cy="1820545"/>
          </a:xfrm>
          <a:prstGeom prst="rect">
            <a:avLst/>
          </a:prstGeom>
        </p:spPr>
      </p:pic>
      <p:sp>
        <p:nvSpPr>
          <p:cNvPr id="31"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2" name="Text 1"/>
          <p:cNvSpPr/>
          <p:nvPr/>
        </p:nvSpPr>
        <p:spPr>
          <a:xfrm>
            <a:off x="559371" y="171792"/>
            <a:ext cx="524470" cy="124867"/>
          </a:xfrm>
          <a:prstGeom prst="rect">
            <a:avLst/>
          </a:prstGeom>
          <a:noFill/>
        </p:spPr>
        <p:txBody>
          <a:bodyPr wrap="none" lIns="0" tIns="0" rIns="0" bIns="0" rtlCol="0" anchor="t"/>
          <a:lstStyle/>
          <a:p>
            <a:pPr>
              <a:lnSpc>
                <a:spcPts val="950"/>
              </a:lnSpc>
            </a:pPr>
            <a:r>
              <a:rPr lang="en-US" altLang="ko-KR"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05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정책</a:t>
            </a:r>
            <a:r>
              <a:rPr lang="en-US" altLang="ko-KR"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제</a:t>
            </a:r>
            <a:r>
              <a:rPr lang="ko-KR" altLang="en-US" sz="650" u="heavy"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안</a:t>
            </a:r>
            <a:endPar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3"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가리봉동</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적용</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사례</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정책</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카드로</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전</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환</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9"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88379" y="840112"/>
            <a:ext cx="8167241" cy="152474"/>
          </a:xfrm>
          <a:prstGeom prst="rect">
            <a:avLst/>
          </a:prstGeom>
          <a:noFill/>
        </p:spPr>
        <p:txBody>
          <a:bodyPr wrap="none" lIns="0" tIns="0" rIns="0" bIns="0" rtlCol="0" anchor="t"/>
          <a:lstStyle/>
          <a:p>
            <a:pPr marL="0" indent="0" algn="l">
              <a:lnSpc>
                <a:spcPts val="12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본 연구는 새로운 복지정책을 추가로 만드는 것이 아니라, 이미 운영 중인 서울시 고립·고독사 대응정책이 더 필요한 지역과 생애주기에 먼저 연결되도록 돕는 </a:t>
            </a:r>
            <a:r>
              <a:rPr lang="en-US" sz="8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분석 기반 보완 도구</a:t>
            </a: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입니다.</a:t>
            </a:r>
            <a:endParaRPr 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 name="Text 6"/>
          <p:cNvSpPr/>
          <p:nvPr/>
        </p:nvSpPr>
        <p:spPr>
          <a:xfrm>
            <a:off x="1904107" y="1284737"/>
            <a:ext cx="1297335" cy="162074"/>
          </a:xfrm>
          <a:prstGeom prst="rect">
            <a:avLst/>
          </a:prstGeom>
          <a:noFill/>
        </p:spPr>
        <p:txBody>
          <a:bodyPr wrap="none" lIns="0" tIns="0" rIns="0" bIns="0" rtlCol="0" anchor="t"/>
          <a:lstStyle/>
          <a:p>
            <a:pPr marL="0" indent="0" algn="r">
              <a:lnSpc>
                <a:spcPts val="1250"/>
              </a:lnSpc>
              <a:buNone/>
            </a:pPr>
            <a:r>
              <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선제 발굴</a:t>
            </a:r>
            <a:endPar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 name="Text 7"/>
          <p:cNvSpPr/>
          <p:nvPr/>
        </p:nvSpPr>
        <p:spPr>
          <a:xfrm>
            <a:off x="488379" y="1498900"/>
            <a:ext cx="2713062" cy="457423"/>
          </a:xfrm>
          <a:prstGeom prst="rect">
            <a:avLst/>
          </a:prstGeom>
          <a:noFill/>
        </p:spPr>
        <p:txBody>
          <a:bodyPr wrap="square" lIns="0" tIns="0" rIns="0" bIns="0" rtlCol="0" anchor="t"/>
          <a:lstStyle/>
          <a:p>
            <a:pPr marL="0" indent="0" algn="r">
              <a:lnSpc>
                <a:spcPts val="12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고립이나 고독사가 드러난 뒤 대응하는 방식에서 벗어나, 행정동 단위에서 위험 신호가 누적되는 지역을 먼저 확인할 수 있습니다.</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10" name="Image 0" descr="preencoded.png"/>
          <p:cNvPicPr>
            <a:picLocks noChangeAspect="1"/>
          </p:cNvPicPr>
          <p:nvPr/>
        </p:nvPicPr>
        <p:blipFill>
          <a:blip r:embed="rId1"/>
          <a:stretch>
            <a:fillRect/>
          </a:stretch>
        </p:blipFill>
        <p:spPr>
          <a:xfrm>
            <a:off x="3357116" y="1090218"/>
            <a:ext cx="2429694" cy="2429694"/>
          </a:xfrm>
          <a:prstGeom prst="rect">
            <a:avLst/>
          </a:prstGeom>
        </p:spPr>
      </p:pic>
      <p:pic>
        <p:nvPicPr>
          <p:cNvPr id="11"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06354" y="1727575"/>
            <a:ext cx="155228" cy="155228"/>
          </a:xfrm>
          <a:prstGeom prst="rect">
            <a:avLst/>
          </a:prstGeom>
        </p:spPr>
      </p:pic>
      <p:sp>
        <p:nvSpPr>
          <p:cNvPr id="12" name="Text 8"/>
          <p:cNvSpPr/>
          <p:nvPr/>
        </p:nvSpPr>
        <p:spPr>
          <a:xfrm>
            <a:off x="5942484" y="1132857"/>
            <a:ext cx="1297335" cy="162074"/>
          </a:xfrm>
          <a:prstGeom prst="rect">
            <a:avLst/>
          </a:prstGeom>
          <a:noFill/>
        </p:spPr>
        <p:txBody>
          <a:bodyPr wrap="none" lIns="0" tIns="0" rIns="0" bIns="0" rtlCol="0" anchor="t"/>
          <a:lstStyle/>
          <a:p>
            <a:pPr marL="0" indent="0" algn="l">
              <a:lnSpc>
                <a:spcPts val="1250"/>
              </a:lnSpc>
              <a:buNone/>
            </a:pPr>
            <a:r>
              <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생애주기별 맞춤 대응</a:t>
            </a:r>
            <a:endPar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3" name="Text 9"/>
          <p:cNvSpPr/>
          <p:nvPr/>
        </p:nvSpPr>
        <p:spPr>
          <a:xfrm>
            <a:off x="5942484" y="1347021"/>
            <a:ext cx="2713137" cy="304949"/>
          </a:xfrm>
          <a:prstGeom prst="rect">
            <a:avLst/>
          </a:prstGeom>
          <a:noFill/>
        </p:spPr>
        <p:txBody>
          <a:bodyPr wrap="square" lIns="0" tIns="0" rIns="0" bIns="0" rtlCol="0" anchor="t"/>
          <a:lstStyle/>
          <a:p>
            <a:pPr marL="0" indent="0" algn="l">
              <a:lnSpc>
                <a:spcPts val="12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청년·중장년·노년의 위험을 따로 진단해, 같은 행정동 안에서도 어느 세대에 먼저 대응해야 하는지 판단할 수 있습니다.</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14" name="Image 2" descr="preencoded.png"/>
          <p:cNvPicPr>
            <a:picLocks noChangeAspect="1"/>
          </p:cNvPicPr>
          <p:nvPr/>
        </p:nvPicPr>
        <p:blipFill>
          <a:blip r:embed="rId4"/>
          <a:stretch>
            <a:fillRect/>
          </a:stretch>
        </p:blipFill>
        <p:spPr>
          <a:xfrm>
            <a:off x="3357116" y="1090218"/>
            <a:ext cx="2429694" cy="2429694"/>
          </a:xfrm>
          <a:prstGeom prst="rect">
            <a:avLst/>
          </a:prstGeom>
        </p:spPr>
      </p:pic>
      <p:pic>
        <p:nvPicPr>
          <p:cNvPr id="15"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57068" y="1418607"/>
            <a:ext cx="155228" cy="155228"/>
          </a:xfrm>
          <a:prstGeom prst="rect">
            <a:avLst/>
          </a:prstGeom>
        </p:spPr>
      </p:pic>
      <p:sp>
        <p:nvSpPr>
          <p:cNvPr id="16" name="Text 10"/>
          <p:cNvSpPr/>
          <p:nvPr/>
        </p:nvSpPr>
        <p:spPr>
          <a:xfrm>
            <a:off x="5994350" y="1892997"/>
            <a:ext cx="1297335" cy="162074"/>
          </a:xfrm>
          <a:prstGeom prst="rect">
            <a:avLst/>
          </a:prstGeom>
          <a:noFill/>
        </p:spPr>
        <p:txBody>
          <a:bodyPr wrap="none" lIns="0" tIns="0" rIns="0" bIns="0" rtlCol="0" anchor="t"/>
          <a:lstStyle/>
          <a:p>
            <a:pPr marL="0" indent="0" algn="l">
              <a:lnSpc>
                <a:spcPts val="1250"/>
              </a:lnSpc>
              <a:buNone/>
            </a:pPr>
            <a:r>
              <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정책 타기팅 정교화</a:t>
            </a:r>
            <a:endPar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7" name="Text 11"/>
          <p:cNvSpPr/>
          <p:nvPr/>
        </p:nvSpPr>
        <p:spPr>
          <a:xfrm>
            <a:off x="5994350" y="2107161"/>
            <a:ext cx="2661270" cy="457423"/>
          </a:xfrm>
          <a:prstGeom prst="rect">
            <a:avLst/>
          </a:prstGeom>
          <a:noFill/>
        </p:spPr>
        <p:txBody>
          <a:bodyPr wrap="square" lIns="0" tIns="0" rIns="0" bIns="0" rtlCol="0" anchor="t"/>
          <a:lstStyle/>
          <a:p>
            <a:pPr marL="0" indent="0" algn="l">
              <a:lnSpc>
                <a:spcPts val="12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 426개 행정동을 동일하게 보는 것이 아니라, 위험점수·군집유형·결핍유형을 함께 고려해 정책 우선지역을 좁힐 수 있습니다.</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18" name="Image 4" descr="preencoded.png"/>
          <p:cNvPicPr>
            <a:picLocks noChangeAspect="1"/>
          </p:cNvPicPr>
          <p:nvPr/>
        </p:nvPicPr>
        <p:blipFill>
          <a:blip r:embed="rId7"/>
          <a:stretch>
            <a:fillRect/>
          </a:stretch>
        </p:blipFill>
        <p:spPr>
          <a:xfrm>
            <a:off x="3357116" y="1090218"/>
            <a:ext cx="2429694" cy="2429694"/>
          </a:xfrm>
          <a:prstGeom prst="rect">
            <a:avLst/>
          </a:prstGeom>
        </p:spPr>
      </p:pic>
      <p:pic>
        <p:nvPicPr>
          <p:cNvPr id="19"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44716" y="2227414"/>
            <a:ext cx="155228" cy="155228"/>
          </a:xfrm>
          <a:prstGeom prst="rect">
            <a:avLst/>
          </a:prstGeom>
        </p:spPr>
      </p:pic>
      <p:sp>
        <p:nvSpPr>
          <p:cNvPr id="20" name="Text 12"/>
          <p:cNvSpPr/>
          <p:nvPr/>
        </p:nvSpPr>
        <p:spPr>
          <a:xfrm>
            <a:off x="5942484" y="2805611"/>
            <a:ext cx="1297335" cy="162074"/>
          </a:xfrm>
          <a:prstGeom prst="rect">
            <a:avLst/>
          </a:prstGeom>
          <a:noFill/>
        </p:spPr>
        <p:txBody>
          <a:bodyPr wrap="none" lIns="0" tIns="0" rIns="0" bIns="0" rtlCol="0" anchor="t"/>
          <a:lstStyle/>
          <a:p>
            <a:pPr marL="0" indent="0" algn="l">
              <a:lnSpc>
                <a:spcPts val="1250"/>
              </a:lnSpc>
              <a:buNone/>
            </a:pPr>
            <a:r>
              <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기존 정책 연계 강화</a:t>
            </a:r>
            <a:endPar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1" name="Text 13"/>
          <p:cNvSpPr/>
          <p:nvPr/>
        </p:nvSpPr>
        <p:spPr>
          <a:xfrm>
            <a:off x="5942484" y="3019775"/>
            <a:ext cx="2713137" cy="457423"/>
          </a:xfrm>
          <a:prstGeom prst="rect">
            <a:avLst/>
          </a:prstGeom>
          <a:noFill/>
        </p:spPr>
        <p:txBody>
          <a:bodyPr wrap="square" lIns="0" tIns="0" rIns="0" bIns="0" rtlCol="0" anchor="t"/>
          <a:lstStyle/>
          <a:p>
            <a:pPr marL="0" indent="0" algn="l">
              <a:lnSpc>
                <a:spcPts val="12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외로움안녕120, 서울마음편의점, 건강동행서비스, 돌봄SOS 등 이미 운영 중인 정책을 지역별 결핍유형에 맞게 연결할 수 있습니다.</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22" name="Image 6" descr="preencoded.png"/>
          <p:cNvPicPr>
            <a:picLocks noChangeAspect="1"/>
          </p:cNvPicPr>
          <p:nvPr/>
        </p:nvPicPr>
        <p:blipFill>
          <a:blip r:embed="rId10"/>
          <a:stretch>
            <a:fillRect/>
          </a:stretch>
        </p:blipFill>
        <p:spPr>
          <a:xfrm>
            <a:off x="3357116" y="1090218"/>
            <a:ext cx="2429694" cy="2429694"/>
          </a:xfrm>
          <a:prstGeom prst="rect">
            <a:avLst/>
          </a:prstGeom>
        </p:spPr>
      </p:pic>
      <p:pic>
        <p:nvPicPr>
          <p:cNvPr id="23" name="Image 7"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57068" y="3036220"/>
            <a:ext cx="155228" cy="155228"/>
          </a:xfrm>
          <a:prstGeom prst="rect">
            <a:avLst/>
          </a:prstGeom>
        </p:spPr>
      </p:pic>
      <p:sp>
        <p:nvSpPr>
          <p:cNvPr id="24" name="Text 14"/>
          <p:cNvSpPr/>
          <p:nvPr/>
        </p:nvSpPr>
        <p:spPr>
          <a:xfrm>
            <a:off x="1904107" y="2653658"/>
            <a:ext cx="1297335" cy="162074"/>
          </a:xfrm>
          <a:prstGeom prst="rect">
            <a:avLst/>
          </a:prstGeom>
          <a:noFill/>
        </p:spPr>
        <p:txBody>
          <a:bodyPr wrap="none" lIns="0" tIns="0" rIns="0" bIns="0" rtlCol="0" anchor="t"/>
          <a:lstStyle/>
          <a:p>
            <a:pPr marL="0" indent="0" algn="r">
              <a:lnSpc>
                <a:spcPts val="1250"/>
              </a:lnSpc>
              <a:buNone/>
            </a:pPr>
            <a:r>
              <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현장 의사결정 지원</a:t>
            </a:r>
            <a:endParaRPr lang="en-US" sz="10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5" name="Text 15"/>
          <p:cNvSpPr/>
          <p:nvPr/>
        </p:nvSpPr>
        <p:spPr>
          <a:xfrm>
            <a:off x="488379" y="2867821"/>
            <a:ext cx="2713062" cy="304949"/>
          </a:xfrm>
          <a:prstGeom prst="rect">
            <a:avLst/>
          </a:prstGeom>
          <a:noFill/>
        </p:spPr>
        <p:txBody>
          <a:bodyPr wrap="square" lIns="0" tIns="0" rIns="0" bIns="0" rtlCol="0" anchor="t"/>
          <a:lstStyle/>
          <a:p>
            <a:pPr marL="0" indent="0" algn="r">
              <a:lnSpc>
                <a:spcPts val="12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복지 담당자가 행정동별 위험세대와 인프라 결핍유형을 확인해 점검 후보지와 우선 안내 정책을 빠르게 판단할 수 있습니다.</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pic>
        <p:nvPicPr>
          <p:cNvPr id="26" name="Image 8" descr="preencoded.png"/>
          <p:cNvPicPr>
            <a:picLocks noChangeAspect="1"/>
          </p:cNvPicPr>
          <p:nvPr/>
        </p:nvPicPr>
        <p:blipFill>
          <a:blip r:embed="rId13"/>
          <a:stretch>
            <a:fillRect/>
          </a:stretch>
        </p:blipFill>
        <p:spPr>
          <a:xfrm>
            <a:off x="3357116" y="1090218"/>
            <a:ext cx="2429694" cy="2429694"/>
          </a:xfrm>
          <a:prstGeom prst="rect">
            <a:avLst/>
          </a:prstGeom>
        </p:spPr>
      </p:pic>
      <p:pic>
        <p:nvPicPr>
          <p:cNvPr id="27" name="Image 9"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806354" y="2727253"/>
            <a:ext cx="155228" cy="155228"/>
          </a:xfrm>
          <a:prstGeom prst="rect">
            <a:avLst/>
          </a:prstGeom>
        </p:spPr>
      </p:pic>
      <p:sp>
        <p:nvSpPr>
          <p:cNvPr id="28" name="Text 16"/>
          <p:cNvSpPr/>
          <p:nvPr/>
        </p:nvSpPr>
        <p:spPr>
          <a:xfrm>
            <a:off x="644054" y="4234798"/>
            <a:ext cx="8011567" cy="152474"/>
          </a:xfrm>
          <a:prstGeom prst="rect">
            <a:avLst/>
          </a:prstGeom>
          <a:noFill/>
        </p:spPr>
        <p:txBody>
          <a:bodyPr wrap="none" lIns="0" tIns="0" rIns="0" bIns="0" rtlCol="0" anchor="t"/>
          <a:lstStyle/>
          <a:p>
            <a:pPr marL="0" indent="0" algn="l">
              <a:lnSpc>
                <a:spcPts val="1200"/>
              </a:lnSpc>
              <a:buNone/>
            </a:pPr>
            <a:r>
              <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rPr>
              <a:t>분석의 목적은 위험 표시가 아니라 정책 연결입니다.</a:t>
            </a:r>
            <a:endParaRPr lang="ko-KR" altLang="en-US" sz="8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9" name="Shape 17"/>
          <p:cNvSpPr/>
          <p:nvPr/>
        </p:nvSpPr>
        <p:spPr>
          <a:xfrm>
            <a:off x="473774" y="4254642"/>
            <a:ext cx="14288" cy="347737"/>
          </a:xfrm>
          <a:prstGeom prst="rect">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0" name="Text 18"/>
          <p:cNvSpPr/>
          <p:nvPr/>
        </p:nvSpPr>
        <p:spPr>
          <a:xfrm>
            <a:off x="643954" y="4432675"/>
            <a:ext cx="8167241" cy="152474"/>
          </a:xfrm>
          <a:prstGeom prst="rect">
            <a:avLst/>
          </a:prstGeom>
          <a:noFill/>
        </p:spPr>
        <p:txBody>
          <a:bodyPr wrap="none" lIns="0" tIns="0" rIns="0" bIns="0" rtlCol="0" anchor="t"/>
          <a:lstStyle/>
          <a:p>
            <a:pPr marL="0" indent="0" algn="l">
              <a:lnSpc>
                <a:spcPts val="1200"/>
              </a:lnSpc>
              <a:buNone/>
            </a:pPr>
            <a:r>
              <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행정동 단위 위험지도와 정책 패키지 매칭표는 시민에게는 정책 안내의 출발점이 되고, 현장 담당자에게는 자원 배분과 우선 점검의 참고 기준이 될 수 있습니다.</a:t>
            </a:r>
            <a:endParaRPr lang="en-US" sz="8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1" name="Text 1"/>
          <p:cNvSpPr/>
          <p:nvPr/>
        </p:nvSpPr>
        <p:spPr>
          <a:xfrm>
            <a:off x="559371" y="171792"/>
            <a:ext cx="524470" cy="124867"/>
          </a:xfrm>
          <a:prstGeom prst="rect">
            <a:avLst/>
          </a:prstGeom>
          <a:noFill/>
        </p:spPr>
        <p:txBody>
          <a:bodyPr wrap="none" lIns="0" tIns="0" rIns="0" bIns="0" rtlCol="0" anchor="t"/>
          <a:lstStyle/>
          <a:p>
            <a:pPr marL="0" indent="0" algn="l">
              <a:lnSpc>
                <a:spcPts val="950"/>
              </a:lnSpc>
              <a:buNone/>
            </a:pPr>
            <a:r>
              <a:rPr 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05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정책 제안</a:t>
            </a:r>
            <a:endPar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2"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기대효과</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7"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496119" y="1206252"/>
            <a:ext cx="8151763" cy="2741563"/>
          </a:xfrm>
          <a:prstGeom prst="roundRect">
            <a:avLst>
              <a:gd name="adj" fmla="val 1425"/>
            </a:avLst>
          </a:prstGeom>
          <a:noFill/>
          <a:ln w="4763">
            <a:solidFill>
              <a:srgbClr val="000000">
                <a:alpha val="8000"/>
              </a:srgbClr>
            </a:solidFill>
            <a:prstDash val="solid"/>
          </a:ln>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7" name="Text 5"/>
          <p:cNvSpPr/>
          <p:nvPr/>
        </p:nvSpPr>
        <p:spPr>
          <a:xfrm>
            <a:off x="594122" y="1257598"/>
            <a:ext cx="462930" cy="130225"/>
          </a:xfrm>
          <a:prstGeom prst="rect">
            <a:avLst/>
          </a:prstGeom>
          <a:noFill/>
        </p:spPr>
        <p:txBody>
          <a:bodyPr wrap="none" lIns="0" tIns="0" rIns="0" bIns="0" rtlCol="0" anchor="t"/>
          <a:lstStyle/>
          <a:p>
            <a:pPr marL="0" indent="0" algn="l">
              <a:lnSpc>
                <a:spcPts val="1000"/>
              </a:lnSpc>
              <a:buNone/>
            </a:pPr>
            <a:r>
              <a:rPr lang="en-US" sz="7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a:t>
            </a:r>
            <a:endParaRPr lang="en-US" sz="7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8" name="Text 6"/>
          <p:cNvSpPr/>
          <p:nvPr/>
        </p:nvSpPr>
        <p:spPr>
          <a:xfrm>
            <a:off x="1247849" y="1257598"/>
            <a:ext cx="2007543" cy="130225"/>
          </a:xfrm>
          <a:prstGeom prst="rect">
            <a:avLst/>
          </a:prstGeom>
          <a:noFill/>
        </p:spPr>
        <p:txBody>
          <a:bodyPr wrap="none" lIns="0" tIns="0" rIns="0" bIns="0" rtlCol="0" anchor="t"/>
          <a:lstStyle/>
          <a:p>
            <a:pPr marL="0" indent="0" algn="l">
              <a:lnSpc>
                <a:spcPts val="1000"/>
              </a:lnSpc>
              <a:buNone/>
            </a:pPr>
            <a:r>
              <a:rPr lang="en-US" sz="7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한계</a:t>
            </a:r>
            <a:endParaRPr lang="en-US" sz="7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 name="Text 7"/>
          <p:cNvSpPr/>
          <p:nvPr/>
        </p:nvSpPr>
        <p:spPr>
          <a:xfrm>
            <a:off x="3446190" y="1257598"/>
            <a:ext cx="2007543" cy="130225"/>
          </a:xfrm>
          <a:prstGeom prst="rect">
            <a:avLst/>
          </a:prstGeom>
          <a:noFill/>
        </p:spPr>
        <p:txBody>
          <a:bodyPr wrap="none" lIns="0" tIns="0" rIns="0" bIns="0" rtlCol="0" anchor="t"/>
          <a:lstStyle/>
          <a:p>
            <a:pPr marL="0" indent="0" algn="l">
              <a:lnSpc>
                <a:spcPts val="1000"/>
              </a:lnSpc>
              <a:buNone/>
            </a:pPr>
            <a:r>
              <a:rPr lang="en-US" sz="7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설명</a:t>
            </a:r>
            <a:endParaRPr lang="en-US" sz="7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0" name="Text 8"/>
          <p:cNvSpPr/>
          <p:nvPr/>
        </p:nvSpPr>
        <p:spPr>
          <a:xfrm>
            <a:off x="5644530" y="1257598"/>
            <a:ext cx="2905571" cy="130225"/>
          </a:xfrm>
          <a:prstGeom prst="rect">
            <a:avLst/>
          </a:prstGeom>
          <a:noFill/>
        </p:spPr>
        <p:txBody>
          <a:bodyPr wrap="none" lIns="0" tIns="0" rIns="0" bIns="0" rtlCol="0" anchor="t"/>
          <a:lstStyle/>
          <a:p>
            <a:pPr marL="0" indent="0" algn="l">
              <a:lnSpc>
                <a:spcPts val="1000"/>
              </a:lnSpc>
              <a:buNone/>
            </a:pPr>
            <a:r>
              <a:rPr lang="en-US" sz="7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보완 방향</a:t>
            </a:r>
            <a:endParaRPr lang="en-US" sz="7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 name="Text 9"/>
          <p:cNvSpPr/>
          <p:nvPr/>
        </p:nvSpPr>
        <p:spPr>
          <a:xfrm>
            <a:off x="594122" y="1485751"/>
            <a:ext cx="462930"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1</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2" name="Text 10"/>
          <p:cNvSpPr/>
          <p:nvPr/>
        </p:nvSpPr>
        <p:spPr>
          <a:xfrm>
            <a:off x="1247849" y="1485751"/>
            <a:ext cx="2007543"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B076 이동 데이터의 한계</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3" name="Text 11"/>
          <p:cNvSpPr/>
          <p:nvPr/>
        </p:nvSpPr>
        <p:spPr>
          <a:xfrm>
            <a:off x="3446190" y="1485751"/>
            <a:ext cx="2007543"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KT 통신 기반 이동자료로 짧은 체류 이동 제외 가능, 연령별 통신 이용 특성 영향</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4" name="Text 12"/>
          <p:cNvSpPr/>
          <p:nvPr/>
        </p:nvSpPr>
        <p:spPr>
          <a:xfrm>
            <a:off x="5644530" y="1485751"/>
            <a:ext cx="2905571"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이동량은 고립의 직접 측정치가 아닌 활동 단절 가능성의 대리 지표로 제한 해석</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5" name="Text 13"/>
          <p:cNvSpPr/>
          <p:nvPr/>
        </p:nvSpPr>
        <p:spPr>
          <a:xfrm>
            <a:off x="594122" y="1844129"/>
            <a:ext cx="462930"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2</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6" name="Text 14"/>
          <p:cNvSpPr/>
          <p:nvPr/>
        </p:nvSpPr>
        <p:spPr>
          <a:xfrm>
            <a:off x="1247849" y="1844129"/>
            <a:ext cx="2007543"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생태학적 오류 주의</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7" name="Text 15"/>
          <p:cNvSpPr/>
          <p:nvPr/>
        </p:nvSpPr>
        <p:spPr>
          <a:xfrm>
            <a:off x="3446190" y="1844129"/>
            <a:ext cx="2007543"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행정동 수준 분석이므로 특정 동 고위험이 해당 동 모든 개인의 고립을 의미하지 않음</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8" name="Text 16"/>
          <p:cNvSpPr/>
          <p:nvPr/>
        </p:nvSpPr>
        <p:spPr>
          <a:xfrm>
            <a:off x="5644530" y="1844129"/>
            <a:ext cx="2905571"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개인 판정이 아닌 정책 선투입 지역 진단도구로 활용 범위 명확화</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9" name="Text 17"/>
          <p:cNvSpPr/>
          <p:nvPr/>
        </p:nvSpPr>
        <p:spPr>
          <a:xfrm>
            <a:off x="594122" y="2202507"/>
            <a:ext cx="462930"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3</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0" name="Text 18"/>
          <p:cNvSpPr/>
          <p:nvPr/>
        </p:nvSpPr>
        <p:spPr>
          <a:xfrm>
            <a:off x="1247849" y="2202507"/>
            <a:ext cx="2007543"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중장년 연령 통합</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1" name="Text 19"/>
          <p:cNvSpPr/>
          <p:nvPr/>
        </p:nvSpPr>
        <p:spPr>
          <a:xfrm>
            <a:off x="3446190" y="2202507"/>
            <a:ext cx="2007543"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40~64세를 하나의 군으로 묶었으나 실제 고독사 위험은 50·60대에 더 집중될 수 있음</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2" name="Text 20"/>
          <p:cNvSpPr/>
          <p:nvPr/>
        </p:nvSpPr>
        <p:spPr>
          <a:xfrm>
            <a:off x="5644530" y="2202507"/>
            <a:ext cx="2905571"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향후 40대와 50·60대를 추가 분리하면 정책 정밀도 향상 가능</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3" name="Text 21"/>
          <p:cNvSpPr/>
          <p:nvPr/>
        </p:nvSpPr>
        <p:spPr>
          <a:xfrm>
            <a:off x="594122" y="2560886"/>
            <a:ext cx="462930"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4</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4" name="Text 22"/>
          <p:cNvSpPr/>
          <p:nvPr/>
        </p:nvSpPr>
        <p:spPr>
          <a:xfrm>
            <a:off x="1247849" y="2560886"/>
            <a:ext cx="2007543"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교차검증 해상도 차이</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5" name="Text 23"/>
          <p:cNvSpPr/>
          <p:nvPr/>
        </p:nvSpPr>
        <p:spPr>
          <a:xfrm>
            <a:off x="3446190" y="2560886"/>
            <a:ext cx="2007543"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일부 외부 검증 지표가 자치구 단위라 행정동 단위 분석과 해상도 차이 존재</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6" name="Text 24"/>
          <p:cNvSpPr/>
          <p:nvPr/>
        </p:nvSpPr>
        <p:spPr>
          <a:xfrm>
            <a:off x="5644530" y="2560886"/>
            <a:ext cx="2905571"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향후 행정동 단위 외부 검증 지표 확보 시 검증력 향상 가능</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7" name="Text 25"/>
          <p:cNvSpPr/>
          <p:nvPr/>
        </p:nvSpPr>
        <p:spPr>
          <a:xfrm>
            <a:off x="594122" y="2919264"/>
            <a:ext cx="462930"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5</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8" name="Text 26"/>
          <p:cNvSpPr/>
          <p:nvPr/>
        </p:nvSpPr>
        <p:spPr>
          <a:xfrm>
            <a:off x="1247849" y="2919264"/>
            <a:ext cx="2007543"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지형적 이동 제약</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9" name="Text 27"/>
          <p:cNvSpPr/>
          <p:nvPr/>
        </p:nvSpPr>
        <p:spPr>
          <a:xfrm>
            <a:off x="3446190" y="2919264"/>
            <a:ext cx="2007543"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이촌2동, 용산2가동 등은 한강·철도 지형 특성으로 이동량이 구조적으로 낮게 측정될 수 있음</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0" name="Text 28"/>
          <p:cNvSpPr/>
          <p:nvPr/>
        </p:nvSpPr>
        <p:spPr>
          <a:xfrm>
            <a:off x="5644530" y="2919264"/>
            <a:ext cx="2905571"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이동축 해석 시 별도 주석 및 현장 맥락 함께 검토</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1" name="Text 29"/>
          <p:cNvSpPr/>
          <p:nvPr/>
        </p:nvSpPr>
        <p:spPr>
          <a:xfrm>
            <a:off x="594122" y="3277642"/>
            <a:ext cx="462930"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6</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2" name="Text 30"/>
          <p:cNvSpPr/>
          <p:nvPr/>
        </p:nvSpPr>
        <p:spPr>
          <a:xfrm>
            <a:off x="1247849" y="3277642"/>
            <a:ext cx="2007543"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데이터 시점 차이 및 결측</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3" name="Text 31"/>
          <p:cNvSpPr/>
          <p:nvPr/>
        </p:nvSpPr>
        <p:spPr>
          <a:xfrm>
            <a:off x="3446190" y="3277642"/>
            <a:ext cx="2007543"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각 데이터 기준 시점이 다를 수 있고 일부 행정동 결측 존재</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4" name="Text 32"/>
          <p:cNvSpPr/>
          <p:nvPr/>
        </p:nvSpPr>
        <p:spPr>
          <a:xfrm>
            <a:off x="5644530" y="3277642"/>
            <a:ext cx="2905571"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행정동 간 상대적 취약도 비교로 한정, 결측 행정동 지도 회색 처리</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5" name="Text 33"/>
          <p:cNvSpPr/>
          <p:nvPr/>
        </p:nvSpPr>
        <p:spPr>
          <a:xfrm>
            <a:off x="594122" y="3636020"/>
            <a:ext cx="462930"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7</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6" name="Text 34"/>
          <p:cNvSpPr/>
          <p:nvPr/>
        </p:nvSpPr>
        <p:spPr>
          <a:xfrm>
            <a:off x="1247849" y="3636020"/>
            <a:ext cx="2007543"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플랫폼 시안의 운영 검증 필요</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7" name="Text 35"/>
          <p:cNvSpPr/>
          <p:nvPr/>
        </p:nvSpPr>
        <p:spPr>
          <a:xfrm>
            <a:off x="3446190" y="3636020"/>
            <a:ext cx="2007543"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현재 플랫폼은 정책지원 화면 시안이며, 실제 시민 이용성·행정 적용성은 추가 검증 필요</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8" name="Text 36"/>
          <p:cNvSpPr/>
          <p:nvPr/>
        </p:nvSpPr>
        <p:spPr>
          <a:xfrm>
            <a:off x="5644530" y="3636020"/>
            <a:ext cx="2905571" cy="130225"/>
          </a:xfrm>
          <a:prstGeom prst="rect">
            <a:avLst/>
          </a:prstGeom>
          <a:noFill/>
        </p:spPr>
        <p:txBody>
          <a:bodyPr wrap="non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향후 자치구 시범 적용, 담당자 인터뷰, 사용자 테스트를 통해 보완</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9" name="Text 37"/>
          <p:cNvSpPr/>
          <p:nvPr/>
        </p:nvSpPr>
        <p:spPr>
          <a:xfrm>
            <a:off x="496119" y="4026247"/>
            <a:ext cx="8151763" cy="260449"/>
          </a:xfrm>
          <a:prstGeom prst="rect">
            <a:avLst/>
          </a:prstGeom>
          <a:noFill/>
        </p:spPr>
        <p:txBody>
          <a:bodyPr wrap="square" lIns="0" tIns="0" rIns="0" bIns="0" rtlCol="0" anchor="t"/>
          <a:lstStyle/>
          <a:p>
            <a:pPr marL="0" indent="0" algn="l">
              <a:lnSpc>
                <a:spcPts val="1000"/>
              </a:lnSpc>
              <a:buNone/>
            </a:pPr>
            <a:r>
              <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본 연구는 고립 개인을 판정하는 모델이 아니라, 서울시 정책의 선제 투입 우선순위를 정하는 지도와 플랫폼 시안입니다. 따라서 결과는 개인 낙인이 아니라 지역 단위 선제진단과 자원 배분의 기준으로 해석해야 합니다. 한계를 명확히 제시하는 것은 분석의 약점이 아니라, 실제 정책 적용 가능성을 높이기 위한 조건입니다.</a:t>
            </a:r>
            <a:endParaRPr lang="en-US" sz="7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0" name="Text 38"/>
          <p:cNvSpPr/>
          <p:nvPr/>
        </p:nvSpPr>
        <p:spPr>
          <a:xfrm>
            <a:off x="635645" y="4443561"/>
            <a:ext cx="8012237" cy="130225"/>
          </a:xfrm>
          <a:prstGeom prst="rect">
            <a:avLst/>
          </a:prstGeom>
          <a:noFill/>
        </p:spPr>
        <p:txBody>
          <a:bodyPr wrap="none" lIns="0" tIns="0" rIns="0" bIns="0" rtlCol="0" anchor="t"/>
          <a:lstStyle/>
          <a:p>
            <a:pPr marL="0" indent="0" algn="l">
              <a:lnSpc>
                <a:spcPts val="1000"/>
              </a:lnSpc>
              <a:buNone/>
            </a:pPr>
            <a:r>
              <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rPr>
              <a:t>한계를 명확히 할수록 정책 도구로서의 신뢰도는 높아집니다.</a:t>
            </a:r>
            <a:endParaRPr lang="ko-KR" altLang="en-US" sz="7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1" name="Shape 39"/>
          <p:cNvSpPr/>
          <p:nvPr/>
        </p:nvSpPr>
        <p:spPr>
          <a:xfrm>
            <a:off x="496119" y="4365129"/>
            <a:ext cx="9525" cy="287089"/>
          </a:xfrm>
          <a:prstGeom prst="rect">
            <a:avLst/>
          </a:prstGeom>
          <a:solidFill>
            <a:srgbClr val="1B1B27"/>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3" name="Shape 0"/>
          <p:cNvSpPr/>
          <p:nvPr/>
        </p:nvSpPr>
        <p:spPr>
          <a:xfrm>
            <a:off x="496119" y="140166"/>
            <a:ext cx="650974" cy="188119"/>
          </a:xfrm>
          <a:prstGeom prst="roundRect">
            <a:avLst>
              <a:gd name="adj" fmla="val 18833"/>
            </a:avLst>
          </a:prstGeom>
          <a:solidFill>
            <a:srgbClr val="E1E1EA"/>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4" name="Text 1"/>
          <p:cNvSpPr/>
          <p:nvPr/>
        </p:nvSpPr>
        <p:spPr>
          <a:xfrm>
            <a:off x="559371" y="171792"/>
            <a:ext cx="524470" cy="124867"/>
          </a:xfrm>
          <a:prstGeom prst="rect">
            <a:avLst/>
          </a:prstGeom>
          <a:noFill/>
        </p:spPr>
        <p:txBody>
          <a:bodyPr wrap="none" lIns="0" tIns="0" rIns="0" bIns="0" rtlCol="0" anchor="t"/>
          <a:lstStyle/>
          <a:p>
            <a:pPr>
              <a:lnSpc>
                <a:spcPts val="950"/>
              </a:lnSpc>
            </a:pPr>
            <a:r>
              <a:rPr lang="en-US" altLang="ko-KR"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05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정책</a:t>
            </a:r>
            <a:r>
              <a:rPr lang="en-US" altLang="ko-KR"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제</a:t>
            </a:r>
            <a:r>
              <a:rPr lang="ko-KR" altLang="en-US" sz="650" u="heavy"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안</a:t>
            </a:r>
            <a:endParaRPr lang="ko-KR" altLang="en-US" sz="65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한계</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및</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향후</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과</a:t>
            </a: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제</a:t>
            </a:r>
            <a:endPar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AnswerBg"/>
          <p:cNvSpPr/>
          <p:nvPr/>
        </p:nvSpPr>
        <p:spPr>
          <a:xfrm>
            <a:off x="495935" y="854075"/>
            <a:ext cx="8144510" cy="662305"/>
          </a:xfrm>
          <a:prstGeom prst="roundRect">
            <a:avLst>
              <a:gd name="adj" fmla="val 1500"/>
            </a:avLst>
          </a:prstGeom>
          <a:solidFill>
            <a:srgbClr val="F3F3F7"/>
          </a:solidFill>
          <a:ln w="6350">
            <a:solidFill>
              <a:srgbClr val="CCCCCC"/>
            </a:solidFill>
          </a:ln>
        </p:spPr>
        <p:txBody>
          <a:bodyPr lIns="180000" tIns="80000" rIns="180000" bIns="80000" anchor="t"/>
          <a:lstStyle/>
          <a:p>
            <a:pPr algn="l">
              <a:buNone/>
            </a:pPr>
            <a:r>
              <a:rPr lang="ko-KR" sz="820" dirty="0">
                <a:solidFill>
                  <a:schemeClr val="tx1"/>
                </a:solidFill>
                <a:latin typeface="Microsoft JhengHei" panose="020B0604030504040204" pitchFamily="34" charset="-120"/>
                <a:ea typeface="Microsoft JhengHei" panose="020B0604030504040204" pitchFamily="34" charset="-120"/>
              </a:rPr>
              <a:t>연구 질문</a:t>
            </a:r>
            <a:r>
              <a:rPr lang="en-US" altLang="ko-KR" sz="820" dirty="0">
                <a:solidFill>
                  <a:schemeClr val="tx1"/>
                </a:solidFill>
                <a:latin typeface="Microsoft JhengHei" panose="020B0604030504040204" pitchFamily="34" charset="-120"/>
                <a:ea typeface="Microsoft JhengHei" panose="020B0604030504040204" pitchFamily="34" charset="-120"/>
              </a:rPr>
              <a:t> : </a:t>
            </a:r>
            <a:r>
              <a:rPr lang="ko-KR" altLang="en-US" sz="820" dirty="0">
                <a:solidFill>
                  <a:schemeClr val="tx1"/>
                </a:solidFill>
                <a:latin typeface="Microsoft JhengHei" panose="020B0604030504040204" pitchFamily="34" charset="-120"/>
                <a:ea typeface="Microsoft JhengHei" panose="020B0604030504040204" pitchFamily="34" charset="-120"/>
                <a:sym typeface="+mn-ea"/>
              </a:rPr>
              <a:t>서울시</a:t>
            </a:r>
            <a:r>
              <a:rPr lang="en-US" altLang="ko-KR" sz="820" dirty="0">
                <a:solidFill>
                  <a:schemeClr val="tx1"/>
                </a:solidFill>
                <a:latin typeface="Microsoft JhengHei" panose="020B0604030504040204" pitchFamily="34" charset="-120"/>
                <a:ea typeface="Microsoft JhengHei" panose="020B0604030504040204" pitchFamily="34" charset="-120"/>
                <a:sym typeface="+mn-ea"/>
              </a:rPr>
              <a:t> </a:t>
            </a:r>
            <a:r>
              <a:rPr lang="ko-KR" altLang="en-US" sz="820" dirty="0">
                <a:solidFill>
                  <a:schemeClr val="tx1"/>
                </a:solidFill>
                <a:latin typeface="Microsoft JhengHei" panose="020B0604030504040204" pitchFamily="34" charset="-120"/>
                <a:ea typeface="Microsoft JhengHei" panose="020B0604030504040204" pitchFamily="34" charset="-120"/>
                <a:sym typeface="+mn-ea"/>
              </a:rPr>
              <a:t>생애주기별</a:t>
            </a:r>
            <a:r>
              <a:rPr lang="en-US" altLang="ko-KR" sz="820" dirty="0">
                <a:solidFill>
                  <a:schemeClr val="tx1"/>
                </a:solidFill>
                <a:latin typeface="Microsoft JhengHei" panose="020B0604030504040204" pitchFamily="34" charset="-120"/>
                <a:ea typeface="Microsoft JhengHei" panose="020B0604030504040204" pitchFamily="34" charset="-120"/>
                <a:sym typeface="+mn-ea"/>
              </a:rPr>
              <a:t> </a:t>
            </a:r>
            <a:r>
              <a:rPr lang="ko-KR" altLang="en-US" sz="820" dirty="0">
                <a:solidFill>
                  <a:schemeClr val="tx1"/>
                </a:solidFill>
                <a:latin typeface="Microsoft JhengHei" panose="020B0604030504040204" pitchFamily="34" charset="-120"/>
                <a:ea typeface="Microsoft JhengHei" panose="020B0604030504040204" pitchFamily="34" charset="-120"/>
                <a:sym typeface="+mn-ea"/>
              </a:rPr>
              <a:t>고립</a:t>
            </a:r>
            <a:r>
              <a:rPr lang="en-US" altLang="ko-KR" sz="820" dirty="0">
                <a:solidFill>
                  <a:schemeClr val="tx1"/>
                </a:solidFill>
                <a:latin typeface="Microsoft JhengHei" panose="020B0604030504040204" pitchFamily="34" charset="-120"/>
                <a:ea typeface="Microsoft JhengHei" panose="020B0604030504040204" pitchFamily="34" charset="-120"/>
                <a:sym typeface="+mn-ea"/>
              </a:rPr>
              <a:t> </a:t>
            </a:r>
            <a:r>
              <a:rPr lang="ko-KR" altLang="en-US" sz="820" dirty="0">
                <a:solidFill>
                  <a:schemeClr val="tx1"/>
                </a:solidFill>
                <a:latin typeface="Microsoft JhengHei" panose="020B0604030504040204" pitchFamily="34" charset="-120"/>
                <a:ea typeface="Microsoft JhengHei" panose="020B0604030504040204" pitchFamily="34" charset="-120"/>
                <a:sym typeface="+mn-ea"/>
              </a:rPr>
              <a:t>취약지역을</a:t>
            </a:r>
            <a:r>
              <a:rPr lang="en-US" altLang="ko-KR" sz="820" dirty="0">
                <a:solidFill>
                  <a:schemeClr val="tx1"/>
                </a:solidFill>
                <a:latin typeface="Microsoft JhengHei" panose="020B0604030504040204" pitchFamily="34" charset="-120"/>
                <a:ea typeface="Microsoft JhengHei" panose="020B0604030504040204" pitchFamily="34" charset="-120"/>
                <a:sym typeface="+mn-ea"/>
              </a:rPr>
              <a:t> </a:t>
            </a:r>
            <a:r>
              <a:rPr lang="ko-KR" altLang="en-US" sz="820" dirty="0">
                <a:solidFill>
                  <a:schemeClr val="tx1"/>
                </a:solidFill>
                <a:latin typeface="Microsoft JhengHei" panose="020B0604030504040204" pitchFamily="34" charset="-120"/>
                <a:ea typeface="Microsoft JhengHei" panose="020B0604030504040204" pitchFamily="34" charset="-120"/>
                <a:sym typeface="+mn-ea"/>
              </a:rPr>
              <a:t>행정동</a:t>
            </a:r>
            <a:r>
              <a:rPr lang="en-US" altLang="ko-KR" sz="820" dirty="0">
                <a:solidFill>
                  <a:schemeClr val="tx1"/>
                </a:solidFill>
                <a:latin typeface="Microsoft JhengHei" panose="020B0604030504040204" pitchFamily="34" charset="-120"/>
                <a:ea typeface="Microsoft JhengHei" panose="020B0604030504040204" pitchFamily="34" charset="-120"/>
                <a:sym typeface="+mn-ea"/>
              </a:rPr>
              <a:t> </a:t>
            </a:r>
            <a:r>
              <a:rPr lang="ko-KR" altLang="en-US" sz="820" dirty="0">
                <a:solidFill>
                  <a:schemeClr val="tx1"/>
                </a:solidFill>
                <a:latin typeface="Microsoft JhengHei" panose="020B0604030504040204" pitchFamily="34" charset="-120"/>
                <a:ea typeface="Microsoft JhengHei" panose="020B0604030504040204" pitchFamily="34" charset="-120"/>
                <a:sym typeface="+mn-ea"/>
              </a:rPr>
              <a:t>단위로</a:t>
            </a:r>
            <a:r>
              <a:rPr lang="en-US" altLang="ko-KR" sz="820" dirty="0">
                <a:solidFill>
                  <a:schemeClr val="tx1"/>
                </a:solidFill>
                <a:latin typeface="Microsoft JhengHei" panose="020B0604030504040204" pitchFamily="34" charset="-120"/>
                <a:ea typeface="Microsoft JhengHei" panose="020B0604030504040204" pitchFamily="34" charset="-120"/>
                <a:sym typeface="+mn-ea"/>
              </a:rPr>
              <a:t> </a:t>
            </a:r>
            <a:r>
              <a:rPr lang="ko-KR" altLang="en-US" sz="820" dirty="0">
                <a:solidFill>
                  <a:schemeClr val="tx1"/>
                </a:solidFill>
                <a:latin typeface="Microsoft JhengHei" panose="020B0604030504040204" pitchFamily="34" charset="-120"/>
                <a:ea typeface="Microsoft JhengHei" panose="020B0604030504040204" pitchFamily="34" charset="-120"/>
                <a:sym typeface="+mn-ea"/>
              </a:rPr>
              <a:t>발굴할</a:t>
            </a:r>
            <a:r>
              <a:rPr lang="en-US" altLang="ko-KR" sz="820" dirty="0">
                <a:solidFill>
                  <a:schemeClr val="tx1"/>
                </a:solidFill>
                <a:latin typeface="Microsoft JhengHei" panose="020B0604030504040204" pitchFamily="34" charset="-120"/>
                <a:ea typeface="Microsoft JhengHei" panose="020B0604030504040204" pitchFamily="34" charset="-120"/>
                <a:sym typeface="+mn-ea"/>
              </a:rPr>
              <a:t> </a:t>
            </a:r>
            <a:r>
              <a:rPr lang="ko-KR" altLang="en-US" sz="820" dirty="0">
                <a:solidFill>
                  <a:schemeClr val="tx1"/>
                </a:solidFill>
                <a:latin typeface="Microsoft JhengHei" panose="020B0604030504040204" pitchFamily="34" charset="-120"/>
                <a:ea typeface="Microsoft JhengHei" panose="020B0604030504040204" pitchFamily="34" charset="-120"/>
                <a:sym typeface="+mn-ea"/>
              </a:rPr>
              <a:t>수</a:t>
            </a:r>
            <a:r>
              <a:rPr lang="en-US" altLang="ko-KR" sz="820" dirty="0">
                <a:solidFill>
                  <a:schemeClr val="tx1"/>
                </a:solidFill>
                <a:latin typeface="Microsoft JhengHei" panose="020B0604030504040204" pitchFamily="34" charset="-120"/>
                <a:ea typeface="Microsoft JhengHei" panose="020B0604030504040204" pitchFamily="34" charset="-120"/>
                <a:sym typeface="+mn-ea"/>
              </a:rPr>
              <a:t> </a:t>
            </a:r>
            <a:r>
              <a:rPr lang="ko-KR" altLang="en-US" sz="820" dirty="0">
                <a:solidFill>
                  <a:schemeClr val="tx1"/>
                </a:solidFill>
                <a:latin typeface="Microsoft JhengHei" panose="020B0604030504040204" pitchFamily="34" charset="-120"/>
                <a:ea typeface="Microsoft JhengHei" panose="020B0604030504040204" pitchFamily="34" charset="-120"/>
                <a:sym typeface="+mn-ea"/>
              </a:rPr>
              <a:t>있는가</a:t>
            </a:r>
            <a:r>
              <a:rPr lang="en-US" altLang="ko-KR" sz="820" dirty="0">
                <a:solidFill>
                  <a:schemeClr val="tx1"/>
                </a:solidFill>
                <a:latin typeface="Microsoft JhengHei" panose="020B0604030504040204" pitchFamily="34" charset="-120"/>
                <a:ea typeface="Microsoft JhengHei" panose="020B0604030504040204" pitchFamily="34" charset="-120"/>
                <a:sym typeface="+mn-ea"/>
              </a:rPr>
              <a:t>?</a:t>
            </a:r>
            <a:br>
              <a:rPr lang="en-US" altLang="ko-KR" sz="820" dirty="0">
                <a:solidFill>
                  <a:schemeClr val="tx1"/>
                </a:solidFill>
                <a:latin typeface="Microsoft JhengHei" panose="020B0604030504040204" pitchFamily="34" charset="-120"/>
                <a:ea typeface="Microsoft JhengHei" panose="020B0604030504040204" pitchFamily="34" charset="-120"/>
              </a:rPr>
            </a:br>
            <a:endParaRPr lang="en-US" altLang="ko-KR" sz="820" b="1" dirty="0">
              <a:solidFill>
                <a:schemeClr val="tx1"/>
              </a:solidFill>
              <a:latin typeface="Microsoft JhengHei" panose="020B0604030504040204" pitchFamily="34" charset="-120"/>
              <a:ea typeface="Microsoft JhengHei" panose="020B0604030504040204" pitchFamily="34" charset="-120"/>
            </a:endParaRPr>
          </a:p>
          <a:p>
            <a:pPr algn="l">
              <a:buNone/>
            </a:pPr>
            <a:r>
              <a:rPr lang="ko-KR" altLang="en-US" sz="820" b="0" dirty="0">
                <a:solidFill>
                  <a:schemeClr val="tx1"/>
                </a:solidFill>
                <a:latin typeface="Microsoft JhengHei" panose="020B0604030504040204" pitchFamily="34" charset="-120"/>
                <a:ea typeface="Microsoft JhengHei" panose="020B0604030504040204" pitchFamily="34" charset="-120"/>
              </a:rPr>
              <a:t>답</a:t>
            </a:r>
            <a:r>
              <a:rPr lang="en-US" altLang="ko-KR" sz="820" b="0" dirty="0">
                <a:solidFill>
                  <a:schemeClr val="tx1"/>
                </a:solidFill>
                <a:latin typeface="Microsoft JhengHei" panose="020B0604030504040204" pitchFamily="34" charset="-120"/>
                <a:ea typeface="Microsoft JhengHei" panose="020B0604030504040204" pitchFamily="34" charset="-120"/>
              </a:rPr>
              <a:t> : </a:t>
            </a:r>
            <a:r>
              <a:rPr lang="ko-KR" altLang="en-US" sz="820" b="0" dirty="0">
                <a:solidFill>
                  <a:schemeClr val="tx1"/>
                </a:solidFill>
                <a:latin typeface="Microsoft JhengHei" panose="020B0604030504040204" pitchFamily="34" charset="-120"/>
                <a:ea typeface="Microsoft JhengHei" panose="020B0604030504040204" pitchFamily="34" charset="-120"/>
              </a:rPr>
              <a:t>서울</a:t>
            </a:r>
            <a:r>
              <a:rPr lang="en-US" altLang="ko-KR" sz="820" b="0" dirty="0">
                <a:solidFill>
                  <a:schemeClr val="tx1"/>
                </a:solidFill>
                <a:latin typeface="Microsoft JhengHei" panose="020B0604030504040204" pitchFamily="34" charset="-120"/>
                <a:ea typeface="Microsoft JhengHei" panose="020B0604030504040204" pitchFamily="34" charset="-120"/>
              </a:rPr>
              <a:t> 426</a:t>
            </a:r>
            <a:r>
              <a:rPr lang="ko-KR" altLang="en-US" sz="820" b="0" dirty="0">
                <a:solidFill>
                  <a:schemeClr val="tx1"/>
                </a:solidFill>
                <a:latin typeface="Microsoft JhengHei" panose="020B0604030504040204" pitchFamily="34" charset="-120"/>
                <a:ea typeface="Microsoft JhengHei" panose="020B0604030504040204" pitchFamily="34" charset="-120"/>
              </a:rPr>
              <a:t>개</a:t>
            </a:r>
            <a:r>
              <a:rPr lang="en-US" altLang="ko-KR" sz="820" b="0" dirty="0">
                <a:solidFill>
                  <a:schemeClr val="tx1"/>
                </a:solidFill>
                <a:latin typeface="Microsoft JhengHei" panose="020B0604030504040204" pitchFamily="34" charset="-120"/>
                <a:ea typeface="Microsoft JhengHei" panose="020B0604030504040204" pitchFamily="34" charset="-120"/>
              </a:rPr>
              <a:t> </a:t>
            </a:r>
            <a:r>
              <a:rPr lang="ko-KR" altLang="en-US" sz="820" b="0" dirty="0">
                <a:solidFill>
                  <a:schemeClr val="tx1"/>
                </a:solidFill>
                <a:latin typeface="Microsoft JhengHei" panose="020B0604030504040204" pitchFamily="34" charset="-120"/>
                <a:ea typeface="Microsoft JhengHei" panose="020B0604030504040204" pitchFamily="34" charset="-120"/>
              </a:rPr>
              <a:t>행정동을</a:t>
            </a:r>
            <a:r>
              <a:rPr lang="en-US" altLang="ko-KR" sz="820" b="0" dirty="0">
                <a:solidFill>
                  <a:schemeClr val="tx1"/>
                </a:solidFill>
                <a:latin typeface="Microsoft JhengHei" panose="020B0604030504040204" pitchFamily="34" charset="-120"/>
                <a:ea typeface="Microsoft JhengHei" panose="020B0604030504040204" pitchFamily="34" charset="-120"/>
              </a:rPr>
              <a:t> </a:t>
            </a:r>
            <a:r>
              <a:rPr lang="ko-KR" altLang="en-US" sz="820" b="0" dirty="0">
                <a:solidFill>
                  <a:schemeClr val="tx1"/>
                </a:solidFill>
                <a:latin typeface="Microsoft JhengHei" panose="020B0604030504040204" pitchFamily="34" charset="-120"/>
                <a:ea typeface="Microsoft JhengHei" panose="020B0604030504040204" pitchFamily="34" charset="-120"/>
              </a:rPr>
              <a:t>대상으로</a:t>
            </a:r>
            <a:r>
              <a:rPr lang="en-US" altLang="ko-KR" sz="820" b="0" dirty="0">
                <a:solidFill>
                  <a:schemeClr val="tx1"/>
                </a:solidFill>
                <a:latin typeface="Microsoft JhengHei" panose="020B0604030504040204" pitchFamily="34" charset="-120"/>
                <a:ea typeface="Microsoft JhengHei" panose="020B0604030504040204" pitchFamily="34" charset="-120"/>
              </a:rPr>
              <a:t> </a:t>
            </a:r>
            <a:endParaRPr lang="en-US" altLang="ko-KR" sz="820" b="0" dirty="0">
              <a:solidFill>
                <a:schemeClr val="tx1"/>
              </a:solidFill>
              <a:latin typeface="Microsoft JhengHei" panose="020B0604030504040204" pitchFamily="34" charset="-120"/>
              <a:ea typeface="Microsoft JhengHei" panose="020B0604030504040204" pitchFamily="34" charset="-120"/>
            </a:endParaRPr>
          </a:p>
          <a:p>
            <a:pPr algn="l">
              <a:buNone/>
            </a:pPr>
            <a:r>
              <a:rPr lang="ko-KR" sz="820" b="1" dirty="0">
                <a:solidFill>
                  <a:schemeClr val="tx1"/>
                </a:solidFill>
                <a:latin typeface="Microsoft JhengHei" panose="020B0604030504040204" pitchFamily="34" charset="-120"/>
                <a:ea typeface="Microsoft JhengHei" panose="020B0604030504040204" pitchFamily="34" charset="-120"/>
                <a:sym typeface="+mn-ea"/>
              </a:rPr>
              <a:t>청년</a:t>
            </a:r>
            <a:r>
              <a:rPr lang="en-US" altLang="ko-KR" sz="820" b="1" dirty="0">
                <a:solidFill>
                  <a:schemeClr val="tx1"/>
                </a:solidFill>
                <a:latin typeface="Microsoft JhengHei" panose="020B0604030504040204" pitchFamily="34" charset="-120"/>
                <a:ea typeface="Microsoft JhengHei" panose="020B0604030504040204" pitchFamily="34" charset="-120"/>
                <a:sym typeface="+mn-ea"/>
              </a:rPr>
              <a:t>/</a:t>
            </a:r>
            <a:r>
              <a:rPr lang="ko-KR" sz="820" b="1" dirty="0">
                <a:solidFill>
                  <a:schemeClr val="tx1"/>
                </a:solidFill>
                <a:latin typeface="Microsoft JhengHei" panose="020B0604030504040204" pitchFamily="34" charset="-120"/>
                <a:ea typeface="Microsoft JhengHei" panose="020B0604030504040204" pitchFamily="34" charset="-120"/>
                <a:sym typeface="+mn-ea"/>
              </a:rPr>
              <a:t>중장년</a:t>
            </a:r>
            <a:r>
              <a:rPr lang="en-US" altLang="ko-KR" sz="820" b="1" dirty="0">
                <a:solidFill>
                  <a:schemeClr val="tx1"/>
                </a:solidFill>
                <a:latin typeface="Microsoft JhengHei" panose="020B0604030504040204" pitchFamily="34" charset="-120"/>
                <a:ea typeface="Microsoft JhengHei" panose="020B0604030504040204" pitchFamily="34" charset="-120"/>
                <a:sym typeface="+mn-ea"/>
              </a:rPr>
              <a:t>/</a:t>
            </a:r>
            <a:r>
              <a:rPr lang="ko-KR" sz="820" b="1" dirty="0">
                <a:solidFill>
                  <a:schemeClr val="tx1"/>
                </a:solidFill>
                <a:latin typeface="Microsoft JhengHei" panose="020B0604030504040204" pitchFamily="34" charset="-120"/>
                <a:ea typeface="Microsoft JhengHei" panose="020B0604030504040204" pitchFamily="34" charset="-120"/>
                <a:sym typeface="+mn-ea"/>
              </a:rPr>
              <a:t>노년 복합위험지수 산출</a:t>
            </a:r>
            <a:r>
              <a:rPr lang="ko-KR" sz="820" dirty="0">
                <a:solidFill>
                  <a:schemeClr val="tx1"/>
                </a:solidFill>
                <a:latin typeface="Microsoft JhengHei" panose="020B0604030504040204" pitchFamily="34" charset="-120"/>
                <a:ea typeface="Microsoft JhengHei" panose="020B0604030504040204" pitchFamily="34" charset="-120"/>
                <a:sym typeface="+mn-ea"/>
              </a:rPr>
              <a:t>  →  </a:t>
            </a:r>
            <a:r>
              <a:rPr lang="ko-KR" sz="820" b="1" dirty="0">
                <a:solidFill>
                  <a:schemeClr val="tx1"/>
                </a:solidFill>
                <a:latin typeface="Microsoft JhengHei" panose="020B0604030504040204" pitchFamily="34" charset="-120"/>
                <a:ea typeface="Microsoft JhengHei" panose="020B0604030504040204" pitchFamily="34" charset="-120"/>
                <a:sym typeface="+mn-ea"/>
              </a:rPr>
              <a:t>전생애 중첩위험 TOP9 도출</a:t>
            </a:r>
            <a:r>
              <a:rPr lang="ko-KR" sz="820" dirty="0">
                <a:solidFill>
                  <a:schemeClr val="tx1"/>
                </a:solidFill>
                <a:latin typeface="Microsoft JhengHei" panose="020B0604030504040204" pitchFamily="34" charset="-120"/>
                <a:ea typeface="Microsoft JhengHei" panose="020B0604030504040204" pitchFamily="34" charset="-120"/>
                <a:sym typeface="+mn-ea"/>
              </a:rPr>
              <a:t>  →  </a:t>
            </a:r>
            <a:r>
              <a:rPr lang="ko-KR" sz="820" b="1" dirty="0">
                <a:solidFill>
                  <a:schemeClr val="tx1"/>
                </a:solidFill>
                <a:latin typeface="Microsoft JhengHei" panose="020B0604030504040204" pitchFamily="34" charset="-120"/>
                <a:ea typeface="Microsoft JhengHei" panose="020B0604030504040204" pitchFamily="34" charset="-120"/>
                <a:sym typeface="+mn-ea"/>
              </a:rPr>
              <a:t>결</a:t>
            </a:r>
            <a:r>
              <a:rPr lang="ko-KR" sz="820" b="1" dirty="0">
                <a:solidFill>
                  <a:schemeClr val="tx1"/>
                </a:solidFill>
                <a:latin typeface="Microsoft JhengHei" panose="020B0604030504040204" pitchFamily="34" charset="-120"/>
                <a:ea typeface="Microsoft JhengHei" panose="020B0604030504040204" pitchFamily="34" charset="-120"/>
                <a:sym typeface="+mn-ea"/>
              </a:rPr>
              <a:t>핍 유형별 정책 패키지 연계</a:t>
            </a:r>
            <a:r>
              <a:rPr lang="ko-KR" sz="820" dirty="0">
                <a:solidFill>
                  <a:schemeClr val="tx1"/>
                </a:solidFill>
                <a:latin typeface="Microsoft JhengHei" panose="020B0604030504040204" pitchFamily="34" charset="-120"/>
                <a:ea typeface="Microsoft JhengHei" panose="020B0604030504040204" pitchFamily="34" charset="-120"/>
                <a:sym typeface="+mn-ea"/>
              </a:rPr>
              <a:t>  →  </a:t>
            </a:r>
            <a:r>
              <a:rPr lang="ko-KR" sz="820" b="1" dirty="0">
                <a:solidFill>
                  <a:schemeClr val="tx1"/>
                </a:solidFill>
                <a:latin typeface="Microsoft JhengHei" panose="020B0604030504040204" pitchFamily="34" charset="-120"/>
                <a:ea typeface="Microsoft JhengHei" panose="020B0604030504040204" pitchFamily="34" charset="-120"/>
                <a:sym typeface="+mn-ea"/>
              </a:rPr>
              <a:t>정책지원 플랫폼 시안</a:t>
            </a:r>
            <a:endParaRPr lang="ko-KR" sz="820" b="1" dirty="0">
              <a:solidFill>
                <a:schemeClr val="tx1"/>
              </a:solidFill>
              <a:latin typeface="Microsoft JhengHei" panose="020B0604030504040204" pitchFamily="34" charset="-120"/>
              <a:ea typeface="Microsoft JhengHei" panose="020B0604030504040204" pitchFamily="34" charset="-120"/>
            </a:endParaRPr>
          </a:p>
          <a:p>
            <a:pPr algn="l">
              <a:buNone/>
            </a:pPr>
            <a:endParaRPr lang="ko-KR" altLang="en-US" sz="820" b="1" dirty="0">
              <a:solidFill>
                <a:schemeClr val="tx1"/>
              </a:solidFill>
              <a:latin typeface="Microsoft JhengHei" panose="020B0604030504040204" pitchFamily="34" charset="-120"/>
              <a:ea typeface="Microsoft JhengHei" panose="020B0604030504040204" pitchFamily="34" charset="-120"/>
            </a:endParaRPr>
          </a:p>
        </p:txBody>
      </p:sp>
      <p:sp>
        <p:nvSpPr>
          <p:cNvPr id="10" name="PropLabel"/>
          <p:cNvSpPr/>
          <p:nvPr/>
        </p:nvSpPr>
        <p:spPr>
          <a:xfrm>
            <a:off x="489585" y="1677035"/>
            <a:ext cx="4690745" cy="139700"/>
          </a:xfrm>
          <a:prstGeom prst="rect">
            <a:avLst/>
          </a:prstGeom>
          <a:noFill/>
        </p:spPr>
        <p:txBody>
          <a:bodyPr lIns="0" tIns="0" rIns="0" bIns="0" anchor="ctr"/>
          <a:lstStyle/>
          <a:p>
            <a:pPr algn="l">
              <a:buNone/>
            </a:pPr>
            <a:r>
              <a:rPr lang="ko-KR" sz="850" b="1" dirty="0">
                <a:solidFill>
                  <a:srgbClr val="1B1B27"/>
                </a:solidFill>
                <a:latin typeface="Microsoft JhengHei" panose="020B0604030504040204" pitchFamily="34" charset="-120"/>
                <a:ea typeface="Microsoft JhengHei" panose="020B0604030504040204" pitchFamily="34" charset="-120"/>
              </a:rPr>
              <a:t>본 연구가 제안하는 것</a:t>
            </a:r>
            <a:endParaRPr lang="ko-KR" sz="850" b="1" dirty="0">
              <a:solidFill>
                <a:srgbClr val="1B1B27"/>
              </a:solidFill>
              <a:latin typeface="Microsoft JhengHei" panose="020B0604030504040204" pitchFamily="34" charset="-120"/>
              <a:ea typeface="Microsoft JhengHei" panose="020B0604030504040204" pitchFamily="34" charset="-120"/>
            </a:endParaRPr>
          </a:p>
        </p:txBody>
      </p:sp>
      <p:sp>
        <p:nvSpPr>
          <p:cNvPr id="11" name="Prop1Bg"/>
          <p:cNvSpPr/>
          <p:nvPr/>
        </p:nvSpPr>
        <p:spPr>
          <a:xfrm>
            <a:off x="483870" y="1905000"/>
            <a:ext cx="4596765" cy="653415"/>
          </a:xfrm>
          <a:prstGeom prst="roundRect">
            <a:avLst>
              <a:gd name="adj" fmla="val 2000"/>
            </a:avLst>
          </a:prstGeom>
          <a:solidFill>
            <a:srgbClr val="F8F8FA"/>
          </a:solidFill>
          <a:ln w="6350">
            <a:solidFill>
              <a:srgbClr val="CCCCCC"/>
            </a:solidFill>
          </a:ln>
        </p:spPr>
        <p:txBody>
          <a:bodyPr/>
          <a:lstStyle/>
          <a:p>
            <a:endParaRPr lang="ko-KR"/>
          </a:p>
        </p:txBody>
      </p:sp>
      <p:sp>
        <p:nvSpPr>
          <p:cNvPr id="12" name="Prop1Text"/>
          <p:cNvSpPr/>
          <p:nvPr/>
        </p:nvSpPr>
        <p:spPr>
          <a:xfrm>
            <a:off x="483870" y="1905000"/>
            <a:ext cx="4596765" cy="653415"/>
          </a:xfrm>
          <a:prstGeom prst="rect">
            <a:avLst/>
          </a:prstGeom>
          <a:noFill/>
        </p:spPr>
        <p:txBody>
          <a:bodyPr lIns="120000" tIns="70000" rIns="120000" bIns="70000" anchor="ctr"/>
          <a:lstStyle/>
          <a:p>
            <a:pPr algn="l">
              <a:buNone/>
            </a:pPr>
            <a:r>
              <a:rPr lang="ko-KR" sz="1000" b="0" dirty="0">
                <a:solidFill>
                  <a:srgbClr val="E8844A"/>
                </a:solidFill>
                <a:latin typeface="Microsoft JhengHei" panose="020B0604030504040204" pitchFamily="34" charset="-120"/>
                <a:ea typeface="Microsoft JhengHei" panose="020B0604030504040204" pitchFamily="34" charset="-120"/>
              </a:rPr>
              <a:t>①  </a:t>
            </a:r>
            <a:r>
              <a:rPr lang="ko-KR" sz="1000" b="1" dirty="0">
                <a:solidFill>
                  <a:srgbClr val="1B1B27"/>
                </a:solidFill>
                <a:latin typeface="Microsoft JhengHei" panose="020B0604030504040204" pitchFamily="34" charset="-120"/>
                <a:ea typeface="Microsoft JhengHei" panose="020B0604030504040204" pitchFamily="34" charset="-120"/>
              </a:rPr>
              <a:t>행정동 단위 선투입 우선순위</a:t>
            </a:r>
            <a:r>
              <a:rPr lang="ko-KR" sz="780" b="0" dirty="0">
                <a:solidFill>
                  <a:srgbClr val="555555"/>
                </a:solidFill>
                <a:latin typeface="Microsoft JhengHei" panose="020B0604030504040204" pitchFamily="34" charset="-120"/>
                <a:ea typeface="Microsoft JhengHei" panose="020B0604030504040204" pitchFamily="34" charset="-120"/>
              </a:rPr>
              <a:t>   </a:t>
            </a:r>
            <a:endParaRPr lang="ko-KR" sz="780" b="0" dirty="0">
              <a:solidFill>
                <a:srgbClr val="555555"/>
              </a:solidFill>
              <a:latin typeface="Microsoft JhengHei" panose="020B0604030504040204" pitchFamily="34" charset="-120"/>
              <a:ea typeface="Microsoft JhengHei" panose="020B0604030504040204" pitchFamily="34" charset="-120"/>
            </a:endParaRPr>
          </a:p>
          <a:p>
            <a:pPr algn="l">
              <a:buNone/>
            </a:pPr>
            <a:r>
              <a:rPr lang="ko-KR" sz="780" b="0" dirty="0">
                <a:solidFill>
                  <a:srgbClr val="555555"/>
                </a:solidFill>
                <a:latin typeface="Microsoft JhengHei" panose="020B0604030504040204" pitchFamily="34" charset="-120"/>
                <a:ea typeface="Microsoft JhengHei" panose="020B0604030504040204" pitchFamily="34" charset="-120"/>
              </a:rPr>
              <a:t> </a:t>
            </a:r>
            <a:r>
              <a:rPr lang="en-US" altLang="ko-KR" sz="780" b="0" dirty="0">
                <a:solidFill>
                  <a:srgbClr val="555555"/>
                </a:solidFill>
                <a:latin typeface="Microsoft JhengHei" panose="020B0604030504040204" pitchFamily="34" charset="-120"/>
                <a:ea typeface="Microsoft JhengHei" panose="020B0604030504040204" pitchFamily="34" charset="-120"/>
              </a:rPr>
              <a:t>          </a:t>
            </a:r>
            <a:endParaRPr lang="en-US" altLang="ko-KR" sz="780" b="0" dirty="0">
              <a:solidFill>
                <a:srgbClr val="555555"/>
              </a:solidFill>
              <a:latin typeface="Microsoft JhengHei" panose="020B0604030504040204" pitchFamily="34" charset="-120"/>
              <a:ea typeface="Microsoft JhengHei" panose="020B0604030504040204" pitchFamily="34" charset="-120"/>
            </a:endParaRPr>
          </a:p>
          <a:p>
            <a:pPr algn="l">
              <a:buNone/>
            </a:pPr>
            <a:r>
              <a:rPr lang="ko-KR" altLang="en-US" sz="780" b="0" dirty="0">
                <a:solidFill>
                  <a:srgbClr val="555555"/>
                </a:solidFill>
                <a:latin typeface="Microsoft JhengHei" panose="020B0604030504040204" pitchFamily="34" charset="-120"/>
                <a:ea typeface="Microsoft JhengHei" panose="020B0604030504040204" pitchFamily="34" charset="-120"/>
              </a:rPr>
              <a:t>자치구 단위에서 놓쳤던 고위험 행정동을 특정해</a:t>
            </a:r>
            <a:r>
              <a:rPr lang="en-US" altLang="ko-KR" sz="780" b="0" dirty="0">
                <a:solidFill>
                  <a:srgbClr val="555555"/>
                </a:solidFill>
                <a:latin typeface="Microsoft JhengHei" panose="020B0604030504040204" pitchFamily="34" charset="-120"/>
                <a:ea typeface="Microsoft JhengHei" panose="020B0604030504040204" pitchFamily="34" charset="-120"/>
              </a:rPr>
              <a:t>,</a:t>
            </a:r>
            <a:r>
              <a:rPr lang="ko-KR" altLang="en-US" sz="780" b="0" dirty="0">
                <a:solidFill>
                  <a:srgbClr val="555555"/>
                </a:solidFill>
                <a:latin typeface="Microsoft JhengHei" panose="020B0604030504040204" pitchFamily="34" charset="-120"/>
                <a:ea typeface="Microsoft JhengHei" panose="020B0604030504040204" pitchFamily="34" charset="-120"/>
              </a:rPr>
              <a:t> 정책 자원 배분의 정밀도를 높인다</a:t>
            </a:r>
            <a:endParaRPr lang="ko-KR" altLang="en-US" sz="780" b="0" dirty="0">
              <a:solidFill>
                <a:srgbClr val="555555"/>
              </a:solidFill>
              <a:latin typeface="Microsoft JhengHei" panose="020B0604030504040204" pitchFamily="34" charset="-120"/>
              <a:ea typeface="Microsoft JhengHei" panose="020B0604030504040204" pitchFamily="34" charset="-120"/>
            </a:endParaRPr>
          </a:p>
        </p:txBody>
      </p:sp>
      <p:sp>
        <p:nvSpPr>
          <p:cNvPr id="13" name="Prop2Bg"/>
          <p:cNvSpPr/>
          <p:nvPr/>
        </p:nvSpPr>
        <p:spPr>
          <a:xfrm>
            <a:off x="489585" y="2617470"/>
            <a:ext cx="4596765" cy="653415"/>
          </a:xfrm>
          <a:prstGeom prst="roundRect">
            <a:avLst>
              <a:gd name="adj" fmla="val 2000"/>
            </a:avLst>
          </a:prstGeom>
          <a:solidFill>
            <a:srgbClr val="F8F8FA"/>
          </a:solidFill>
          <a:ln w="6350">
            <a:solidFill>
              <a:srgbClr val="CCCCCC"/>
            </a:solidFill>
          </a:ln>
        </p:spPr>
        <p:txBody>
          <a:bodyPr/>
          <a:lstStyle/>
          <a:p>
            <a:endParaRPr lang="ko-KR"/>
          </a:p>
        </p:txBody>
      </p:sp>
      <p:sp>
        <p:nvSpPr>
          <p:cNvPr id="14" name="Prop2Text"/>
          <p:cNvSpPr/>
          <p:nvPr/>
        </p:nvSpPr>
        <p:spPr>
          <a:xfrm>
            <a:off x="489585" y="2617470"/>
            <a:ext cx="4596765" cy="653415"/>
          </a:xfrm>
          <a:prstGeom prst="rect">
            <a:avLst/>
          </a:prstGeom>
          <a:noFill/>
        </p:spPr>
        <p:txBody>
          <a:bodyPr lIns="120000" tIns="70000" rIns="120000" bIns="70000" anchor="ctr"/>
          <a:lstStyle/>
          <a:p>
            <a:pPr algn="l">
              <a:buNone/>
            </a:pPr>
            <a:r>
              <a:rPr lang="ko-KR" sz="1000" b="0" dirty="0">
                <a:solidFill>
                  <a:srgbClr val="E8A040"/>
                </a:solidFill>
                <a:latin typeface="Microsoft JhengHei" panose="020B0604030504040204" pitchFamily="34" charset="-120"/>
                <a:ea typeface="Microsoft JhengHei" panose="020B0604030504040204" pitchFamily="34" charset="-120"/>
              </a:rPr>
              <a:t>②  </a:t>
            </a:r>
            <a:r>
              <a:rPr lang="ko-KR" sz="1000" b="1" dirty="0">
                <a:solidFill>
                  <a:srgbClr val="1B1B27"/>
                </a:solidFill>
                <a:latin typeface="Microsoft JhengHei" panose="020B0604030504040204" pitchFamily="34" charset="-120"/>
                <a:ea typeface="Microsoft JhengHei" panose="020B0604030504040204" pitchFamily="34" charset="-120"/>
              </a:rPr>
              <a:t>생애주기별 분리 진단</a:t>
            </a:r>
            <a:r>
              <a:rPr lang="ko-KR" sz="1000" b="0" dirty="0">
                <a:solidFill>
                  <a:srgbClr val="555555"/>
                </a:solidFill>
                <a:latin typeface="Microsoft JhengHei" panose="020B0604030504040204" pitchFamily="34" charset="-120"/>
                <a:ea typeface="Microsoft JhengHei" panose="020B0604030504040204" pitchFamily="34" charset="-120"/>
              </a:rPr>
              <a:t>   </a:t>
            </a:r>
            <a:endParaRPr lang="ko-KR" sz="1000" b="0" dirty="0">
              <a:solidFill>
                <a:srgbClr val="555555"/>
              </a:solidFill>
              <a:latin typeface="Microsoft JhengHei" panose="020B0604030504040204" pitchFamily="34" charset="-120"/>
              <a:ea typeface="Microsoft JhengHei" panose="020B0604030504040204" pitchFamily="34" charset="-120"/>
            </a:endParaRPr>
          </a:p>
          <a:p>
            <a:pPr algn="l">
              <a:buNone/>
            </a:pPr>
            <a:endParaRPr lang="ko-KR" sz="780" b="0" dirty="0">
              <a:solidFill>
                <a:srgbClr val="555555"/>
              </a:solidFill>
              <a:latin typeface="Microsoft JhengHei" panose="020B0604030504040204" pitchFamily="34" charset="-120"/>
              <a:ea typeface="Microsoft JhengHei" panose="020B0604030504040204" pitchFamily="34" charset="-120"/>
            </a:endParaRPr>
          </a:p>
          <a:p>
            <a:pPr algn="l">
              <a:buNone/>
            </a:pPr>
            <a:r>
              <a:rPr lang="ko-KR" altLang="en-US" sz="780" b="0" dirty="0">
                <a:solidFill>
                  <a:srgbClr val="555555"/>
                </a:solidFill>
                <a:latin typeface="Microsoft JhengHei" panose="020B0604030504040204" pitchFamily="34" charset="-120"/>
                <a:ea typeface="Microsoft JhengHei" panose="020B0604030504040204" pitchFamily="34" charset="-120"/>
              </a:rPr>
              <a:t>고립 원인이 다른 청년·중장년·노년을 하나의 지수로 뭉치지 않고</a:t>
            </a:r>
            <a:r>
              <a:rPr lang="en-US" altLang="ko-KR" sz="780" b="0" dirty="0">
                <a:solidFill>
                  <a:srgbClr val="555555"/>
                </a:solidFill>
                <a:latin typeface="Microsoft JhengHei" panose="020B0604030504040204" pitchFamily="34" charset="-120"/>
                <a:ea typeface="Microsoft JhengHei" panose="020B0604030504040204" pitchFamily="34" charset="-120"/>
              </a:rPr>
              <a:t>,</a:t>
            </a:r>
            <a:r>
              <a:rPr lang="ko-KR" altLang="en-US" sz="780" b="0" dirty="0">
                <a:solidFill>
                  <a:srgbClr val="555555"/>
                </a:solidFill>
                <a:latin typeface="Microsoft JhengHei" panose="020B0604030504040204" pitchFamily="34" charset="-120"/>
                <a:ea typeface="Microsoft JhengHei" panose="020B0604030504040204" pitchFamily="34" charset="-120"/>
              </a:rPr>
              <a:t> 연령대별로 분리 산출한다</a:t>
            </a:r>
            <a:endParaRPr lang="ko-KR" altLang="en-US" sz="780" b="0" dirty="0">
              <a:solidFill>
                <a:srgbClr val="555555"/>
              </a:solidFill>
              <a:latin typeface="Microsoft JhengHei" panose="020B0604030504040204" pitchFamily="34" charset="-120"/>
              <a:ea typeface="Microsoft JhengHei" panose="020B0604030504040204" pitchFamily="34" charset="-120"/>
            </a:endParaRPr>
          </a:p>
        </p:txBody>
      </p:sp>
      <p:sp>
        <p:nvSpPr>
          <p:cNvPr id="15" name="Prop3Bg"/>
          <p:cNvSpPr/>
          <p:nvPr/>
        </p:nvSpPr>
        <p:spPr>
          <a:xfrm>
            <a:off x="483870" y="3329940"/>
            <a:ext cx="4596765" cy="653415"/>
          </a:xfrm>
          <a:prstGeom prst="roundRect">
            <a:avLst>
              <a:gd name="adj" fmla="val 2000"/>
            </a:avLst>
          </a:prstGeom>
          <a:solidFill>
            <a:srgbClr val="F8F8FA"/>
          </a:solidFill>
          <a:ln w="6350">
            <a:solidFill>
              <a:srgbClr val="CCCCCC"/>
            </a:solidFill>
          </a:ln>
        </p:spPr>
        <p:txBody>
          <a:bodyPr/>
          <a:lstStyle/>
          <a:p>
            <a:endParaRPr lang="ko-KR"/>
          </a:p>
        </p:txBody>
      </p:sp>
      <p:sp>
        <p:nvSpPr>
          <p:cNvPr id="16" name="Prop3Text"/>
          <p:cNvSpPr/>
          <p:nvPr/>
        </p:nvSpPr>
        <p:spPr>
          <a:xfrm>
            <a:off x="483870" y="3329940"/>
            <a:ext cx="4596765" cy="653415"/>
          </a:xfrm>
          <a:prstGeom prst="rect">
            <a:avLst/>
          </a:prstGeom>
          <a:noFill/>
        </p:spPr>
        <p:txBody>
          <a:bodyPr lIns="120000" tIns="70000" rIns="120000" bIns="70000" anchor="ctr"/>
          <a:lstStyle/>
          <a:p>
            <a:pPr algn="l">
              <a:buNone/>
            </a:pPr>
            <a:r>
              <a:rPr lang="ko-KR" sz="1000" b="0" dirty="0">
                <a:solidFill>
                  <a:srgbClr val="4F7FA8"/>
                </a:solidFill>
                <a:latin typeface="Microsoft JhengHei" panose="020B0604030504040204" pitchFamily="34" charset="-120"/>
                <a:ea typeface="Microsoft JhengHei" panose="020B0604030504040204" pitchFamily="34" charset="-120"/>
              </a:rPr>
              <a:t>③  </a:t>
            </a:r>
            <a:r>
              <a:rPr lang="ko-KR" sz="1000" b="1" dirty="0">
                <a:solidFill>
                  <a:srgbClr val="1B1B27"/>
                </a:solidFill>
                <a:latin typeface="Microsoft JhengHei" panose="020B0604030504040204" pitchFamily="34" charset="-120"/>
                <a:ea typeface="Microsoft JhengHei" panose="020B0604030504040204" pitchFamily="34" charset="-120"/>
              </a:rPr>
              <a:t>결합 유형별 정책 연결 경로</a:t>
            </a:r>
            <a:r>
              <a:rPr lang="ko-KR" sz="1000" b="0" dirty="0">
                <a:solidFill>
                  <a:srgbClr val="555555"/>
                </a:solidFill>
                <a:latin typeface="Microsoft JhengHei" panose="020B0604030504040204" pitchFamily="34" charset="-120"/>
                <a:ea typeface="Microsoft JhengHei" panose="020B0604030504040204" pitchFamily="34" charset="-120"/>
              </a:rPr>
              <a:t>   </a:t>
            </a:r>
            <a:endParaRPr lang="ko-KR" sz="1000" b="0" dirty="0">
              <a:solidFill>
                <a:srgbClr val="555555"/>
              </a:solidFill>
              <a:latin typeface="Microsoft JhengHei" panose="020B0604030504040204" pitchFamily="34" charset="-120"/>
              <a:ea typeface="Microsoft JhengHei" panose="020B0604030504040204" pitchFamily="34" charset="-120"/>
            </a:endParaRPr>
          </a:p>
          <a:p>
            <a:pPr algn="l">
              <a:buNone/>
            </a:pPr>
            <a:endParaRPr lang="ko-KR" sz="780" b="0" dirty="0">
              <a:solidFill>
                <a:srgbClr val="555555"/>
              </a:solidFill>
              <a:latin typeface="Microsoft JhengHei" panose="020B0604030504040204" pitchFamily="34" charset="-120"/>
              <a:ea typeface="Microsoft JhengHei" panose="020B0604030504040204" pitchFamily="34" charset="-120"/>
            </a:endParaRPr>
          </a:p>
          <a:p>
            <a:pPr algn="l">
              <a:buNone/>
            </a:pPr>
            <a:r>
              <a:rPr lang="ko-KR" altLang="en-US" sz="780" b="0" dirty="0">
                <a:solidFill>
                  <a:srgbClr val="555555"/>
                </a:solidFill>
                <a:latin typeface="Microsoft JhengHei" panose="020B0604030504040204" pitchFamily="34" charset="-120"/>
                <a:ea typeface="Microsoft JhengHei" panose="020B0604030504040204" pitchFamily="34" charset="-120"/>
              </a:rPr>
              <a:t>의료·복지·교통 결핍 유형에 따라</a:t>
            </a:r>
            <a:r>
              <a:rPr lang="en-US" altLang="ko-KR" sz="780" b="0" dirty="0">
                <a:solidFill>
                  <a:srgbClr val="555555"/>
                </a:solidFill>
                <a:latin typeface="Microsoft JhengHei" panose="020B0604030504040204" pitchFamily="34" charset="-120"/>
                <a:ea typeface="Microsoft JhengHei" panose="020B0604030504040204" pitchFamily="34" charset="-120"/>
              </a:rPr>
              <a:t>,</a:t>
            </a:r>
            <a:r>
              <a:rPr lang="ko-KR" altLang="en-US" sz="780" b="0" dirty="0">
                <a:solidFill>
                  <a:srgbClr val="555555"/>
                </a:solidFill>
                <a:latin typeface="Microsoft JhengHei" panose="020B0604030504040204" pitchFamily="34" charset="-120"/>
                <a:ea typeface="Microsoft JhengHei" panose="020B0604030504040204" pitchFamily="34" charset="-120"/>
              </a:rPr>
              <a:t> 기존 서울시 정책을 자동 매칭하는 플랫폼 시안을 제시한다</a:t>
            </a:r>
            <a:endParaRPr lang="ko-KR" altLang="en-US" sz="780" b="0" dirty="0">
              <a:solidFill>
                <a:srgbClr val="555555"/>
              </a:solidFill>
              <a:latin typeface="Microsoft JhengHei" panose="020B0604030504040204" pitchFamily="34" charset="-120"/>
              <a:ea typeface="Microsoft JhengHei" panose="020B0604030504040204" pitchFamily="34" charset="-120"/>
            </a:endParaRPr>
          </a:p>
        </p:txBody>
      </p:sp>
      <p:sp>
        <p:nvSpPr>
          <p:cNvPr id="40" name="LimitText"/>
          <p:cNvSpPr/>
          <p:nvPr/>
        </p:nvSpPr>
        <p:spPr>
          <a:xfrm>
            <a:off x="506095" y="4307840"/>
            <a:ext cx="6761480" cy="130810"/>
          </a:xfrm>
          <a:prstGeom prst="rect">
            <a:avLst/>
          </a:prstGeom>
          <a:noFill/>
        </p:spPr>
        <p:txBody>
          <a:bodyPr lIns="0" tIns="0" rIns="0" bIns="0" anchor="ctr"/>
          <a:lstStyle/>
          <a:p>
            <a:pPr algn="l">
              <a:buNone/>
            </a:pPr>
            <a:r>
              <a:rPr lang="ko-KR" sz="700" b="1" dirty="0">
                <a:solidFill>
                  <a:srgbClr val="888888"/>
                </a:solidFill>
                <a:latin typeface="Microsoft JhengHei" panose="020B0604030504040204" pitchFamily="34" charset="-120"/>
                <a:ea typeface="Microsoft JhengHei" panose="020B0604030504040204" pitchFamily="34" charset="-120"/>
              </a:rPr>
              <a:t>한계 및 향후 과제</a:t>
            </a:r>
            <a:r>
              <a:rPr lang="ko-KR" sz="700" b="0" dirty="0">
                <a:solidFill>
                  <a:srgbClr val="888888"/>
                </a:solidFill>
                <a:latin typeface="Microsoft JhengHei" panose="020B0604030504040204" pitchFamily="34" charset="-120"/>
                <a:ea typeface="Microsoft JhengHei" panose="020B0604030504040204" pitchFamily="34" charset="-120"/>
              </a:rPr>
              <a:t>   간접 지표 기반으로 개인 고립 판정 불가  |  행정동 단위 외부 검증 지표 확대 필요  |  시범 적용 및 사용자 테스트 포함 후속 보완 필요</a:t>
            </a:r>
            <a:endParaRPr lang="ko-KR" sz="700" b="0" dirty="0">
              <a:solidFill>
                <a:srgbClr val="888888"/>
              </a:solidFill>
              <a:latin typeface="Microsoft JhengHei" panose="020B0604030504040204" pitchFamily="34" charset="-120"/>
              <a:ea typeface="Microsoft JhengHei" panose="020B0604030504040204" pitchFamily="34" charset="-120"/>
            </a:endParaRPr>
          </a:p>
        </p:txBody>
      </p:sp>
      <p:sp>
        <p:nvSpPr>
          <p:cNvPr id="50" name="QuoteBar"/>
          <p:cNvSpPr/>
          <p:nvPr/>
        </p:nvSpPr>
        <p:spPr>
          <a:xfrm>
            <a:off x="496119" y="4704470"/>
            <a:ext cx="9525" cy="260000"/>
          </a:xfrm>
          <a:prstGeom prst="rect">
            <a:avLst/>
          </a:prstGeom>
          <a:solidFill>
            <a:srgbClr val="1B1B27"/>
          </a:solidFill>
          <a:ln>
            <a:noFill/>
          </a:ln>
        </p:spPr>
        <p:txBody>
          <a:bodyPr/>
          <a:lstStyle/>
          <a:p>
            <a:endParaRPr lang="ko-KR"/>
          </a:p>
        </p:txBody>
      </p:sp>
      <p:sp>
        <p:nvSpPr>
          <p:cNvPr id="51" name="QuoteText"/>
          <p:cNvSpPr/>
          <p:nvPr/>
        </p:nvSpPr>
        <p:spPr>
          <a:xfrm>
            <a:off x="620000" y="4714470"/>
            <a:ext cx="8300000" cy="200000"/>
          </a:xfrm>
          <a:prstGeom prst="rect">
            <a:avLst/>
          </a:prstGeom>
          <a:noFill/>
        </p:spPr>
        <p:txBody>
          <a:bodyPr wrap="square" lIns="0" tIns="0" rIns="0" bIns="0" rtlCol="0" anchor="ctr"/>
          <a:lstStyle/>
          <a:p>
            <a:pPr marL="0" indent="0" algn="l">
              <a:buNone/>
            </a:pPr>
            <a:r>
              <a:rPr lang="ko-KR" sz="700" b="0" dirty="0">
                <a:solidFill>
                  <a:srgbClr val="555555"/>
                </a:solidFill>
                <a:latin typeface="Microsoft JhengHei" panose="020B0604030504040204" pitchFamily="34" charset="-120"/>
                <a:ea typeface="Microsoft JhengHei" panose="020B0604030504040204" pitchFamily="34" charset="-120"/>
              </a:rPr>
              <a:t>고립의 원인이 다르다면, 정책의 우선순위와 안내 방식도 달라져야 합니다.</a:t>
            </a:r>
            <a:endParaRPr lang="ko-KR" sz="700" b="0" dirty="0">
              <a:solidFill>
                <a:srgbClr val="555555"/>
              </a:solidFill>
              <a:latin typeface="Microsoft JhengHei" panose="020B0604030504040204" pitchFamily="34" charset="-120"/>
              <a:ea typeface="Microsoft JhengHei" panose="020B0604030504040204" pitchFamily="34" charset="-120"/>
            </a:endParaRPr>
          </a:p>
        </p:txBody>
      </p:sp>
      <p:sp>
        <p:nvSpPr>
          <p:cNvPr id="2" name="Text 2"/>
          <p:cNvSpPr/>
          <p:nvPr/>
        </p:nvSpPr>
        <p:spPr>
          <a:xfrm>
            <a:off x="496119" y="364078"/>
            <a:ext cx="2801020" cy="329431"/>
          </a:xfrm>
          <a:prstGeom prst="rect">
            <a:avLst/>
          </a:prstGeom>
          <a:noFill/>
        </p:spPr>
        <p:txBody>
          <a:bodyPr wrap="none" lIns="0" tIns="0" rIns="0" bIns="0" rtlCol="0" anchor="t"/>
          <a:lstStyle/>
          <a:p>
            <a:pPr marL="0" indent="0" algn="l">
              <a:lnSpc>
                <a:spcPts val="2550"/>
              </a:lnSpc>
              <a:buNone/>
            </a:pPr>
            <a:r>
              <a:rPr lang="ko-KR" altLang="en-US"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결론</a:t>
            </a:r>
            <a:r>
              <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  </a:t>
            </a:r>
            <a:endParaRPr lang="en-US" altLang="ko-KR" sz="160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 name="Shape 3"/>
          <p:cNvSpPr/>
          <p:nvPr/>
        </p:nvSpPr>
        <p:spPr>
          <a:xfrm>
            <a:off x="496119" y="734229"/>
            <a:ext cx="8151763" cy="7888"/>
          </a:xfrm>
          <a:prstGeom prst="rect">
            <a:avLst/>
          </a:prstGeom>
          <a:solidFill>
            <a:srgbClr val="3C3939">
              <a:alpha val="50000"/>
            </a:srgbClr>
          </a:solidFill>
        </p:spPr>
        <p:txBody>
          <a:bodyPr/>
          <a:lstStyle/>
          <a:p>
            <a:endParaRPr lang="ko-KR" altLang="en-US">
              <a:latin typeface="Microsoft JhengHei" panose="020B0604030504040204" pitchFamily="34" charset="-120"/>
              <a:ea typeface="Microsoft JhengHei" panose="020B0604030504040204" pitchFamily="34" charset="-120"/>
            </a:endParaRPr>
          </a:p>
        </p:txBody>
      </p:sp>
      <p:sp>
        <p:nvSpPr>
          <p:cNvPr id="4" name="Num1Bg"/>
          <p:cNvSpPr/>
          <p:nvPr/>
        </p:nvSpPr>
        <p:spPr>
          <a:xfrm>
            <a:off x="5241925" y="1905000"/>
            <a:ext cx="1605280" cy="998220"/>
          </a:xfrm>
          <a:prstGeom prst="roundRect">
            <a:avLst>
              <a:gd name="adj" fmla="val 2000"/>
            </a:avLst>
          </a:prstGeom>
          <a:solidFill>
            <a:srgbClr val="F3F3F7"/>
          </a:solidFill>
          <a:ln w="6350">
            <a:solidFill>
              <a:srgbClr val="1B1B27"/>
            </a:solidFill>
          </a:ln>
        </p:spPr>
        <p:txBody>
          <a:bodyPr/>
          <a:lstStyle/>
          <a:p>
            <a:endParaRPr lang="ko-KR"/>
          </a:p>
        </p:txBody>
      </p:sp>
      <p:sp>
        <p:nvSpPr>
          <p:cNvPr id="6" name="Num1Text"/>
          <p:cNvSpPr/>
          <p:nvPr/>
        </p:nvSpPr>
        <p:spPr>
          <a:xfrm>
            <a:off x="5241925" y="1905000"/>
            <a:ext cx="1605280" cy="998220"/>
          </a:xfrm>
          <a:prstGeom prst="rect">
            <a:avLst/>
          </a:prstGeom>
          <a:noFill/>
        </p:spPr>
        <p:txBody>
          <a:bodyPr lIns="80000" tIns="60000" rIns="80000" bIns="60000" anchor="ctr"/>
          <a:lstStyle/>
          <a:p>
            <a:pPr algn="ctr">
              <a:buNone/>
            </a:pPr>
            <a:r>
              <a:rPr lang="en-US" sz="2600" b="1" dirty="0">
                <a:solidFill>
                  <a:srgbClr val="1B1B27"/>
                </a:solidFill>
                <a:latin typeface="Microsoft JhengHei" panose="020B0604030504040204" pitchFamily="34" charset="-120"/>
              </a:rPr>
              <a:t>426</a:t>
            </a:r>
            <a:endParaRPr lang="en-US" sz="2600" b="1" dirty="0">
              <a:solidFill>
                <a:srgbClr val="1B1B27"/>
              </a:solidFill>
              <a:latin typeface="Microsoft JhengHei" panose="020B0604030504040204" pitchFamily="34" charset="-120"/>
            </a:endParaRPr>
          </a:p>
          <a:p>
            <a:pPr algn="ctr">
              <a:buNone/>
            </a:pPr>
            <a:r>
              <a:rPr lang="ko-KR" sz="730" b="0" dirty="0">
                <a:solidFill>
                  <a:srgbClr val="555555"/>
                </a:solidFill>
                <a:latin typeface="Microsoft JhengHei" panose="020B0604030504040204" pitchFamily="34" charset="-120"/>
                <a:ea typeface="Microsoft JhengHei" panose="020B0604030504040204" pitchFamily="34" charset="-120"/>
              </a:rPr>
              <a:t>행정동 전수 분석</a:t>
            </a:r>
            <a:endParaRPr lang="ko-KR" sz="730" b="0" dirty="0">
              <a:solidFill>
                <a:srgbClr val="555555"/>
              </a:solidFill>
              <a:latin typeface="Microsoft JhengHei" panose="020B0604030504040204" pitchFamily="34" charset="-120"/>
              <a:ea typeface="Microsoft JhengHei" panose="020B0604030504040204" pitchFamily="34" charset="-120"/>
            </a:endParaRPr>
          </a:p>
        </p:txBody>
      </p:sp>
      <p:sp>
        <p:nvSpPr>
          <p:cNvPr id="7" name="Num2Bg"/>
          <p:cNvSpPr/>
          <p:nvPr/>
        </p:nvSpPr>
        <p:spPr>
          <a:xfrm>
            <a:off x="6941820" y="1905000"/>
            <a:ext cx="1605280" cy="998220"/>
          </a:xfrm>
          <a:prstGeom prst="roundRect">
            <a:avLst>
              <a:gd name="adj" fmla="val 2000"/>
            </a:avLst>
          </a:prstGeom>
          <a:solidFill>
            <a:srgbClr val="FFF5EC"/>
          </a:solidFill>
          <a:ln w="6350">
            <a:solidFill>
              <a:srgbClr val="E8844A"/>
            </a:solidFill>
          </a:ln>
        </p:spPr>
        <p:txBody>
          <a:bodyPr/>
          <a:lstStyle/>
          <a:p>
            <a:endParaRPr lang="ko-KR"/>
          </a:p>
        </p:txBody>
      </p:sp>
      <p:sp>
        <p:nvSpPr>
          <p:cNvPr id="17" name="Num2Text"/>
          <p:cNvSpPr/>
          <p:nvPr/>
        </p:nvSpPr>
        <p:spPr>
          <a:xfrm>
            <a:off x="6941820" y="1905000"/>
            <a:ext cx="1605280" cy="998220"/>
          </a:xfrm>
          <a:prstGeom prst="rect">
            <a:avLst/>
          </a:prstGeom>
          <a:noFill/>
        </p:spPr>
        <p:txBody>
          <a:bodyPr lIns="80000" tIns="60000" rIns="80000" bIns="60000" anchor="ctr"/>
          <a:lstStyle/>
          <a:p>
            <a:pPr algn="ctr">
              <a:buNone/>
            </a:pPr>
            <a:r>
              <a:rPr lang="en-US" sz="2600" b="1" dirty="0">
                <a:solidFill>
                  <a:srgbClr val="E8844A"/>
                </a:solidFill>
                <a:latin typeface="Microsoft JhengHei" panose="020B0604030504040204" pitchFamily="34" charset="-120"/>
              </a:rPr>
              <a:t>TOP 9</a:t>
            </a:r>
            <a:endParaRPr lang="en-US" sz="2600" b="1" dirty="0">
              <a:solidFill>
                <a:srgbClr val="E8844A"/>
              </a:solidFill>
              <a:latin typeface="Microsoft JhengHei" panose="020B0604030504040204" pitchFamily="34" charset="-120"/>
            </a:endParaRPr>
          </a:p>
          <a:p>
            <a:pPr algn="ctr">
              <a:buNone/>
            </a:pPr>
            <a:r>
              <a:rPr lang="ko-KR" sz="730" b="0" dirty="0">
                <a:solidFill>
                  <a:srgbClr val="E8844A"/>
                </a:solidFill>
                <a:latin typeface="Microsoft JhengHei" panose="020B0604030504040204" pitchFamily="34" charset="-120"/>
                <a:ea typeface="Microsoft JhengHei" panose="020B0604030504040204" pitchFamily="34" charset="-120"/>
              </a:rPr>
              <a:t>정책 선투입 후보</a:t>
            </a:r>
            <a:endParaRPr lang="ko-KR" sz="730" b="0" dirty="0">
              <a:solidFill>
                <a:srgbClr val="E8844A"/>
              </a:solidFill>
              <a:latin typeface="Microsoft JhengHei" panose="020B0604030504040204" pitchFamily="34" charset="-120"/>
              <a:ea typeface="Microsoft JhengHei" panose="020B0604030504040204" pitchFamily="34" charset="-120"/>
            </a:endParaRPr>
          </a:p>
        </p:txBody>
      </p:sp>
      <p:sp>
        <p:nvSpPr>
          <p:cNvPr id="18" name="Num3Bg"/>
          <p:cNvSpPr/>
          <p:nvPr/>
        </p:nvSpPr>
        <p:spPr>
          <a:xfrm>
            <a:off x="5241925" y="2985135"/>
            <a:ext cx="1605280" cy="998220"/>
          </a:xfrm>
          <a:prstGeom prst="roundRect">
            <a:avLst>
              <a:gd name="adj" fmla="val 2000"/>
            </a:avLst>
          </a:prstGeom>
          <a:solidFill>
            <a:srgbClr val="EEF4FB"/>
          </a:solidFill>
          <a:ln w="6350">
            <a:solidFill>
              <a:srgbClr val="4F7FA8"/>
            </a:solidFill>
          </a:ln>
        </p:spPr>
        <p:txBody>
          <a:bodyPr/>
          <a:lstStyle/>
          <a:p>
            <a:endParaRPr lang="ko-KR"/>
          </a:p>
        </p:txBody>
      </p:sp>
      <p:sp>
        <p:nvSpPr>
          <p:cNvPr id="19" name="Num3Text"/>
          <p:cNvSpPr/>
          <p:nvPr/>
        </p:nvSpPr>
        <p:spPr>
          <a:xfrm>
            <a:off x="5241925" y="2985135"/>
            <a:ext cx="1605280" cy="998220"/>
          </a:xfrm>
          <a:prstGeom prst="rect">
            <a:avLst/>
          </a:prstGeom>
          <a:noFill/>
        </p:spPr>
        <p:txBody>
          <a:bodyPr lIns="80000" tIns="60000" rIns="80000" bIns="60000" anchor="ctr"/>
          <a:lstStyle/>
          <a:p>
            <a:pPr algn="ctr">
              <a:buNone/>
            </a:pPr>
            <a:r>
              <a:rPr lang="ko-KR" sz="2600" b="1" dirty="0">
                <a:solidFill>
                  <a:srgbClr val="4F7FA8"/>
                </a:solidFill>
                <a:latin typeface="Microsoft JhengHei" panose="020B0604030504040204" pitchFamily="34" charset="-120"/>
                <a:ea typeface="Microsoft JhengHei" panose="020B0604030504040204" pitchFamily="34" charset="-120"/>
              </a:rPr>
              <a:t>4종</a:t>
            </a:r>
            <a:endParaRPr lang="ko-KR" sz="2600" b="1" dirty="0">
              <a:solidFill>
                <a:srgbClr val="4F7FA8"/>
              </a:solidFill>
              <a:latin typeface="Microsoft JhengHei" panose="020B0604030504040204" pitchFamily="34" charset="-120"/>
              <a:ea typeface="Microsoft JhengHei" panose="020B0604030504040204" pitchFamily="34" charset="-120"/>
            </a:endParaRPr>
          </a:p>
          <a:p>
            <a:pPr algn="ctr">
              <a:buNone/>
            </a:pPr>
            <a:r>
              <a:rPr lang="ko-KR" sz="730" b="0" dirty="0">
                <a:solidFill>
                  <a:srgbClr val="4F7FA8"/>
                </a:solidFill>
                <a:latin typeface="Microsoft JhengHei" panose="020B0604030504040204" pitchFamily="34" charset="-120"/>
                <a:ea typeface="Microsoft JhengHei" panose="020B0604030504040204" pitchFamily="34" charset="-120"/>
              </a:rPr>
              <a:t>고립 유형 군집</a:t>
            </a:r>
            <a:endParaRPr lang="ko-KR" sz="730" b="0" dirty="0">
              <a:solidFill>
                <a:srgbClr val="4F7FA8"/>
              </a:solidFill>
              <a:latin typeface="Microsoft JhengHei" panose="020B0604030504040204" pitchFamily="34" charset="-120"/>
              <a:ea typeface="Microsoft JhengHei" panose="020B0604030504040204" pitchFamily="34" charset="-120"/>
            </a:endParaRPr>
          </a:p>
        </p:txBody>
      </p:sp>
      <p:sp>
        <p:nvSpPr>
          <p:cNvPr id="28" name="Num4Bg"/>
          <p:cNvSpPr/>
          <p:nvPr/>
        </p:nvSpPr>
        <p:spPr>
          <a:xfrm>
            <a:off x="6941820" y="2985135"/>
            <a:ext cx="1605280" cy="998220"/>
          </a:xfrm>
          <a:prstGeom prst="roundRect">
            <a:avLst>
              <a:gd name="adj" fmla="val 2000"/>
            </a:avLst>
          </a:prstGeom>
          <a:solidFill>
            <a:srgbClr val="E8F0E8"/>
          </a:solidFill>
          <a:ln w="6350">
            <a:solidFill>
              <a:srgbClr val="4F8A4F"/>
            </a:solidFill>
          </a:ln>
        </p:spPr>
        <p:txBody>
          <a:bodyPr/>
          <a:lstStyle/>
          <a:p>
            <a:endParaRPr lang="ko-KR"/>
          </a:p>
        </p:txBody>
      </p:sp>
      <p:sp>
        <p:nvSpPr>
          <p:cNvPr id="29" name="Num4Text"/>
          <p:cNvSpPr/>
          <p:nvPr/>
        </p:nvSpPr>
        <p:spPr>
          <a:xfrm>
            <a:off x="6941820" y="2985135"/>
            <a:ext cx="1605280" cy="998220"/>
          </a:xfrm>
          <a:prstGeom prst="rect">
            <a:avLst/>
          </a:prstGeom>
          <a:noFill/>
        </p:spPr>
        <p:txBody>
          <a:bodyPr lIns="80000" tIns="60000" rIns="80000" bIns="60000" anchor="ctr"/>
          <a:lstStyle/>
          <a:p>
            <a:pPr algn="ctr">
              <a:buNone/>
            </a:pPr>
            <a:r>
              <a:rPr lang="ko-KR" sz="2600" b="1" dirty="0">
                <a:solidFill>
                  <a:srgbClr val="2E6B2E"/>
                </a:solidFill>
                <a:latin typeface="Microsoft JhengHei" panose="020B0604030504040204" pitchFamily="34" charset="-120"/>
                <a:ea typeface="Microsoft JhengHei" panose="020B0604030504040204" pitchFamily="34" charset="-120"/>
              </a:rPr>
              <a:t>플랫폼</a:t>
            </a:r>
            <a:endParaRPr lang="ko-KR" sz="2600" b="1" dirty="0">
              <a:solidFill>
                <a:srgbClr val="2E6B2E"/>
              </a:solidFill>
              <a:latin typeface="Microsoft JhengHei" panose="020B0604030504040204" pitchFamily="34" charset="-120"/>
              <a:ea typeface="Microsoft JhengHei" panose="020B0604030504040204" pitchFamily="34" charset="-120"/>
            </a:endParaRPr>
          </a:p>
          <a:p>
            <a:pPr algn="ctr">
              <a:buNone/>
            </a:pPr>
            <a:r>
              <a:rPr lang="ko-KR" sz="730" b="0" dirty="0">
                <a:solidFill>
                  <a:srgbClr val="2E6B2E"/>
                </a:solidFill>
                <a:latin typeface="Microsoft JhengHei" panose="020B0604030504040204" pitchFamily="34" charset="-120"/>
                <a:ea typeface="Microsoft JhengHei" panose="020B0604030504040204" pitchFamily="34" charset="-120"/>
              </a:rPr>
              <a:t>지원 시안 제시</a:t>
            </a:r>
            <a:endParaRPr lang="ko-KR" sz="730" b="0" dirty="0">
              <a:solidFill>
                <a:srgbClr val="2E6B2E"/>
              </a:solidFill>
              <a:latin typeface="Microsoft JhengHei" panose="020B0604030504040204" pitchFamily="34" charset="-120"/>
              <a:ea typeface="Microsoft JhengHei" panose="020B0604030504040204" pitchFamily="34" charset="-12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7530" y="249473"/>
            <a:ext cx="8151763" cy="329431"/>
          </a:xfrm>
          <a:prstGeom prst="rect">
            <a:avLst/>
          </a:prstGeom>
          <a:noFill/>
          <a:ln>
            <a:noFill/>
          </a:ln>
        </p:spPr>
        <p:txBody>
          <a:bodyPr wrap="none" lIns="0" tIns="0" rIns="0" bIns="0" rtlCol="0" anchor="t"/>
          <a:lstStyle/>
          <a:p>
            <a:pPr marL="0" indent="0" algn="l">
              <a:lnSpc>
                <a:spcPts val="1950"/>
              </a:lnSpc>
              <a:buNone/>
            </a:pPr>
            <a:r>
              <a:rPr lang="en-US" sz="1200" b="0" i="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참고문헌 및 데이터 출처</a:t>
            </a:r>
            <a:endParaRPr lang="en-US" sz="1200" b="0" i="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 name="Shape 1"/>
          <p:cNvSpPr/>
          <p:nvPr/>
        </p:nvSpPr>
        <p:spPr>
          <a:xfrm>
            <a:off x="496119" y="967680"/>
            <a:ext cx="8151763" cy="6028"/>
          </a:xfrm>
          <a:prstGeom prst="rect">
            <a:avLst/>
          </a:prstGeom>
          <a:solidFill>
            <a:srgbClr val="3C3939">
              <a:alpha val="50000"/>
            </a:srgbClr>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 name="Text 2"/>
          <p:cNvSpPr/>
          <p:nvPr/>
        </p:nvSpPr>
        <p:spPr>
          <a:xfrm>
            <a:off x="496119" y="1105123"/>
            <a:ext cx="1007864" cy="125909"/>
          </a:xfrm>
          <a:prstGeom prst="rect">
            <a:avLst/>
          </a:prstGeom>
          <a:noFill/>
        </p:spPr>
        <p:txBody>
          <a:bodyPr wrap="none" lIns="0" tIns="0" rIns="0" bIns="0" rtlCol="0" anchor="t"/>
          <a:lstStyle/>
          <a:p>
            <a:pPr marL="0" indent="0" algn="l">
              <a:lnSpc>
                <a:spcPts val="950"/>
              </a:lnSpc>
              <a:buNone/>
            </a:pPr>
            <a:r>
              <a:rPr lang="en-US" sz="7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활용 데이터 출처</a:t>
            </a:r>
            <a:endParaRPr lang="en-US" sz="7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 name="Shape 3"/>
          <p:cNvSpPr/>
          <p:nvPr/>
        </p:nvSpPr>
        <p:spPr>
          <a:xfrm>
            <a:off x="496119" y="1334281"/>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6" name="Text 4"/>
          <p:cNvSpPr/>
          <p:nvPr/>
        </p:nvSpPr>
        <p:spPr>
          <a:xfrm>
            <a:off x="588764" y="1289968"/>
            <a:ext cx="3884935" cy="106412"/>
          </a:xfrm>
          <a:prstGeom prst="rect">
            <a:avLst/>
          </a:prstGeom>
          <a:noFill/>
        </p:spPr>
        <p:txBody>
          <a:bodyPr wrap="none" lIns="0" tIns="0" rIns="0" bIns="0" rtlCol="0" anchor="t"/>
          <a:lstStyle/>
          <a:p>
            <a:pPr marL="0" indent="0" algn="l">
              <a:lnSpc>
                <a:spcPts val="800"/>
              </a:lnSpc>
              <a:buNone/>
            </a:pPr>
            <a:r>
              <a:rPr lang="en-US" sz="6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B031</a:t>
            </a: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서울시 행정동 단위 거주인구 데이터 — 서울특별시 빅데이터캠퍼스</a:t>
            </a:r>
            <a:endParaRPr lang="en-US" sz="6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7" name="Shape 5"/>
          <p:cNvSpPr/>
          <p:nvPr/>
        </p:nvSpPr>
        <p:spPr>
          <a:xfrm>
            <a:off x="496119" y="1545468"/>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8" name="Text 6"/>
          <p:cNvSpPr/>
          <p:nvPr/>
        </p:nvSpPr>
        <p:spPr>
          <a:xfrm>
            <a:off x="588764" y="1501155"/>
            <a:ext cx="3884935" cy="106412"/>
          </a:xfrm>
          <a:prstGeom prst="rect">
            <a:avLst/>
          </a:prstGeom>
          <a:noFill/>
        </p:spPr>
        <p:txBody>
          <a:bodyPr wrap="none" lIns="0" tIns="0" rIns="0" bIns="0" rtlCol="0" anchor="t"/>
          <a:lstStyle/>
          <a:p>
            <a:pPr marL="0" indent="0" algn="l">
              <a:lnSpc>
                <a:spcPts val="800"/>
              </a:lnSpc>
              <a:buNone/>
            </a:pPr>
            <a:r>
              <a:rPr lang="en-US" sz="600" b="1"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B076</a:t>
            </a: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서울시 행정동별 내국인 KT 생활이동 데이터 — 서울특별시 빅데이터캠퍼스</a:t>
            </a:r>
            <a:endParaRPr lang="en-US" sz="6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9" name="Shape 7"/>
          <p:cNvSpPr/>
          <p:nvPr/>
        </p:nvSpPr>
        <p:spPr>
          <a:xfrm>
            <a:off x="496119" y="1756656"/>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0" name="Text 8"/>
          <p:cNvSpPr/>
          <p:nvPr/>
        </p:nvSpPr>
        <p:spPr>
          <a:xfrm>
            <a:off x="588764" y="1712342"/>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행정안전부 1인세대 현황 — 행정안전부 주민등록인구통계</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1" name="Shape 9"/>
          <p:cNvSpPr/>
          <p:nvPr/>
        </p:nvSpPr>
        <p:spPr>
          <a:xfrm>
            <a:off x="496119" y="1967843"/>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2" name="Text 10"/>
          <p:cNvSpPr/>
          <p:nvPr/>
        </p:nvSpPr>
        <p:spPr>
          <a:xfrm>
            <a:off x="588764" y="1923529"/>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의료시설 현황 — 건강보험심사평가원 요양기관 현황</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3" name="Shape 11"/>
          <p:cNvSpPr/>
          <p:nvPr/>
        </p:nvSpPr>
        <p:spPr>
          <a:xfrm>
            <a:off x="496119" y="2179030"/>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4" name="Text 12"/>
          <p:cNvSpPr/>
          <p:nvPr/>
        </p:nvSpPr>
        <p:spPr>
          <a:xfrm>
            <a:off x="588764" y="2134716"/>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서울시 노인복지시설 목록 / 경로당 현황 — 서울특별시 공공데이터</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5" name="Shape 13"/>
          <p:cNvSpPr/>
          <p:nvPr/>
        </p:nvSpPr>
        <p:spPr>
          <a:xfrm>
            <a:off x="496119" y="2390217"/>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6" name="Text 14"/>
          <p:cNvSpPr/>
          <p:nvPr/>
        </p:nvSpPr>
        <p:spPr>
          <a:xfrm>
            <a:off x="588764" y="2345903"/>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서울시 버스정류장·수도권 지하철역 위치 데이터 — 서울특별시 열린데이터광장</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7" name="Shape 15"/>
          <p:cNvSpPr/>
          <p:nvPr/>
        </p:nvSpPr>
        <p:spPr>
          <a:xfrm>
            <a:off x="496119" y="2601404"/>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18" name="Text 16"/>
          <p:cNvSpPr/>
          <p:nvPr/>
        </p:nvSpPr>
        <p:spPr>
          <a:xfrm>
            <a:off x="588764" y="2557090"/>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독거노인 현황 — 행정안전부</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19" name="Shape 17"/>
          <p:cNvSpPr/>
          <p:nvPr/>
        </p:nvSpPr>
        <p:spPr>
          <a:xfrm>
            <a:off x="496119" y="2812591"/>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0" name="Text 18"/>
          <p:cNvSpPr/>
          <p:nvPr/>
        </p:nvSpPr>
        <p:spPr>
          <a:xfrm>
            <a:off x="588764" y="2768278"/>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국민기초생활보장수급자 및 등록장애인 현황 — 보건복지부</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1" name="Shape 19"/>
          <p:cNvSpPr/>
          <p:nvPr/>
        </p:nvSpPr>
        <p:spPr>
          <a:xfrm>
            <a:off x="496119" y="3023778"/>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2" name="Text 20"/>
          <p:cNvSpPr/>
          <p:nvPr/>
        </p:nvSpPr>
        <p:spPr>
          <a:xfrm>
            <a:off x="588764" y="2979465"/>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자살률 자치구별 통계 — 통계청 사망원인통계</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3" name="Shape 21"/>
          <p:cNvSpPr/>
          <p:nvPr/>
        </p:nvSpPr>
        <p:spPr>
          <a:xfrm>
            <a:off x="496119" y="3234965"/>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4" name="Text 22"/>
          <p:cNvSpPr/>
          <p:nvPr/>
        </p:nvSpPr>
        <p:spPr>
          <a:xfrm>
            <a:off x="588764" y="3190652"/>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서울시 행정동 경계 데이터 / 법정동-행정동 연계정보 — 서울시 빅데이터캠퍼스 / 국가데이터처</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5" name="Shape 23"/>
          <p:cNvSpPr/>
          <p:nvPr/>
        </p:nvSpPr>
        <p:spPr>
          <a:xfrm>
            <a:off x="496119" y="3446152"/>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26" name="Text 24"/>
          <p:cNvSpPr/>
          <p:nvPr/>
        </p:nvSpPr>
        <p:spPr>
          <a:xfrm>
            <a:off x="588764" y="3401839"/>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약자동행지수 — 서울시 정보소통광장</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7" name="Text 25"/>
          <p:cNvSpPr/>
          <p:nvPr/>
        </p:nvSpPr>
        <p:spPr>
          <a:xfrm>
            <a:off x="496119" y="3567187"/>
            <a:ext cx="1007864" cy="125909"/>
          </a:xfrm>
          <a:prstGeom prst="rect">
            <a:avLst/>
          </a:prstGeom>
          <a:noFill/>
        </p:spPr>
        <p:txBody>
          <a:bodyPr wrap="none" lIns="0" tIns="0" rIns="0" bIns="0" rtlCol="0" anchor="t"/>
          <a:lstStyle/>
          <a:p>
            <a:pPr marL="0" indent="0" algn="l">
              <a:lnSpc>
                <a:spcPts val="950"/>
              </a:lnSpc>
              <a:buNone/>
            </a:pPr>
            <a:r>
              <a:rPr lang="en-US" sz="7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분석 도구 및 산출물</a:t>
            </a:r>
            <a:endParaRPr lang="en-US" sz="7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8" name="Text 26"/>
          <p:cNvSpPr/>
          <p:nvPr/>
        </p:nvSpPr>
        <p:spPr>
          <a:xfrm>
            <a:off x="496119" y="3745483"/>
            <a:ext cx="3977580" cy="255389"/>
          </a:xfrm>
          <a:prstGeom prst="rect">
            <a:avLst/>
          </a:prstGeom>
          <a:noFill/>
        </p:spPr>
        <p:txBody>
          <a:bodyPr wrap="square" lIns="0" tIns="0" rIns="0" bIns="0" rtlCol="0" anchor="t"/>
          <a:lstStyle/>
          <a:p>
            <a:pPr marL="0" indent="0" algn="l">
              <a:lnSpc>
                <a:spcPts val="650"/>
              </a:lnSpc>
              <a:buNone/>
            </a:pPr>
            <a:r>
              <a:rPr lang="en-US" sz="5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Python, pandas, geopandas, scikit-learn, scipy, matplotlib, QGIS</a:t>
            </a:r>
            <a:endParaRPr lang="en-US" sz="5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650"/>
              </a:lnSpc>
              <a:buNone/>
            </a:pPr>
            <a:r>
              <a:rPr lang="en-US" sz="5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복합위험지수.csv · 고위험_행정동_TOP20.xlsx · 교차검증_결과.csv · 통합_분석테이블.csv · 서울_행정동_경계.gpkg · 정책패키지_TOP9_v7.csv</a:t>
            </a:r>
            <a:endParaRPr lang="en-US" sz="5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650"/>
              </a:lnSpc>
              <a:buNone/>
            </a:pPr>
            <a:r>
              <a:rPr lang="en-US" sz="5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정책지원 플랫폼 시안: 팀 </a:t>
            </a:r>
            <a:r>
              <a:rPr lang="en-US" sz="500" dirty="0" err="1">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제작</a:t>
            </a:r>
            <a:r>
              <a:rPr lang="en-US" sz="5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HTML</a:t>
            </a:r>
            <a:endParaRPr lang="en-US" sz="5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29" name="Text 27"/>
          <p:cNvSpPr/>
          <p:nvPr/>
        </p:nvSpPr>
        <p:spPr>
          <a:xfrm>
            <a:off x="4675063" y="1105123"/>
            <a:ext cx="1007864" cy="125909"/>
          </a:xfrm>
          <a:prstGeom prst="rect">
            <a:avLst/>
          </a:prstGeom>
          <a:noFill/>
        </p:spPr>
        <p:txBody>
          <a:bodyPr wrap="none" lIns="0" tIns="0" rIns="0" bIns="0" rtlCol="0" anchor="t"/>
          <a:lstStyle/>
          <a:p>
            <a:pPr marL="0" indent="0" algn="l">
              <a:lnSpc>
                <a:spcPts val="950"/>
              </a:lnSpc>
              <a:buNone/>
            </a:pPr>
            <a:r>
              <a:rPr lang="en-US" sz="7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rPr>
              <a:t>참고문헌 및 보도자료</a:t>
            </a:r>
            <a:endParaRPr lang="en-US" sz="750" dirty="0">
              <a:solidFill>
                <a:srgbClr val="1B1B27"/>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0" name="Shape 28"/>
          <p:cNvSpPr/>
          <p:nvPr/>
        </p:nvSpPr>
        <p:spPr>
          <a:xfrm>
            <a:off x="4675063" y="1334281"/>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1" name="Text 29"/>
          <p:cNvSpPr/>
          <p:nvPr/>
        </p:nvSpPr>
        <p:spPr>
          <a:xfrm>
            <a:off x="4767709" y="1289968"/>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통계청, 「인구주택총조사」 / 「2025 통계로 보는 1인가구」</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2" name="Shape 30"/>
          <p:cNvSpPr/>
          <p:nvPr/>
        </p:nvSpPr>
        <p:spPr>
          <a:xfrm>
            <a:off x="4675063" y="1545468"/>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3" name="Text 31"/>
          <p:cNvSpPr/>
          <p:nvPr/>
        </p:nvSpPr>
        <p:spPr>
          <a:xfrm>
            <a:off x="4767709" y="1501155"/>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서울연구원, 「서울 1인가구 실태조사」</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4" name="Shape 32"/>
          <p:cNvSpPr/>
          <p:nvPr/>
        </p:nvSpPr>
        <p:spPr>
          <a:xfrm>
            <a:off x="4675063" y="1756656"/>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5" name="Text 33"/>
          <p:cNvSpPr/>
          <p:nvPr/>
        </p:nvSpPr>
        <p:spPr>
          <a:xfrm>
            <a:off x="4767709" y="1712342"/>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보건복지부, 「2024년 고독사 실태조사 결과」 보도자료</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6" name="Shape 34"/>
          <p:cNvSpPr/>
          <p:nvPr/>
        </p:nvSpPr>
        <p:spPr>
          <a:xfrm>
            <a:off x="4675063" y="1967843"/>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7" name="Text 35"/>
          <p:cNvSpPr/>
          <p:nvPr/>
        </p:nvSpPr>
        <p:spPr>
          <a:xfrm>
            <a:off x="4767709" y="1923529"/>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보건복지부, 「2023년 노인실태조사」 보도자료</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38" name="Shape 36"/>
          <p:cNvSpPr/>
          <p:nvPr/>
        </p:nvSpPr>
        <p:spPr>
          <a:xfrm>
            <a:off x="4675063" y="2179030"/>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39" name="Text 37"/>
          <p:cNvSpPr/>
          <p:nvPr/>
        </p:nvSpPr>
        <p:spPr>
          <a:xfrm>
            <a:off x="4767709" y="2134716"/>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보건복지부, 「제1차 고독사 예방 기본계획(2023~2027)」</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0" name="Shape 38"/>
          <p:cNvSpPr/>
          <p:nvPr/>
        </p:nvSpPr>
        <p:spPr>
          <a:xfrm>
            <a:off x="4675063" y="2390217"/>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1" name="Text 39"/>
          <p:cNvSpPr/>
          <p:nvPr/>
        </p:nvSpPr>
        <p:spPr>
          <a:xfrm>
            <a:off x="4767709" y="2345903"/>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서울특별시, 「외로움 없는 서울」 정책자료</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2" name="Shape 40"/>
          <p:cNvSpPr/>
          <p:nvPr/>
        </p:nvSpPr>
        <p:spPr>
          <a:xfrm>
            <a:off x="4675063" y="2601404"/>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3" name="Text 41"/>
          <p:cNvSpPr/>
          <p:nvPr/>
        </p:nvSpPr>
        <p:spPr>
          <a:xfrm>
            <a:off x="4767709" y="2557090"/>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서울특별시, 「외로움안녕120」 관련 보도자료</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4" name="Shape 42"/>
          <p:cNvSpPr/>
          <p:nvPr/>
        </p:nvSpPr>
        <p:spPr>
          <a:xfrm>
            <a:off x="4675063" y="2812591"/>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5" name="Text 43"/>
          <p:cNvSpPr/>
          <p:nvPr/>
        </p:nvSpPr>
        <p:spPr>
          <a:xfrm>
            <a:off x="4767709" y="2768278"/>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서울특별시, 「서울마음편의점」 운영 자료</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6" name="Shape 44"/>
          <p:cNvSpPr/>
          <p:nvPr/>
        </p:nvSpPr>
        <p:spPr>
          <a:xfrm>
            <a:off x="4675063" y="3023778"/>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7" name="Text 45"/>
          <p:cNvSpPr/>
          <p:nvPr/>
        </p:nvSpPr>
        <p:spPr>
          <a:xfrm>
            <a:off x="4767709" y="2979465"/>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서울특별시, 「건강동행서비스」 관련 자료</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48" name="Shape 46"/>
          <p:cNvSpPr/>
          <p:nvPr/>
        </p:nvSpPr>
        <p:spPr>
          <a:xfrm>
            <a:off x="4675063" y="3234965"/>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49" name="Text 47"/>
          <p:cNvSpPr/>
          <p:nvPr/>
        </p:nvSpPr>
        <p:spPr>
          <a:xfrm>
            <a:off x="4767709" y="3190652"/>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서울특별시, 「스마트 안부확인」 관련 자료</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0" name="Shape 48"/>
          <p:cNvSpPr/>
          <p:nvPr/>
        </p:nvSpPr>
        <p:spPr>
          <a:xfrm>
            <a:off x="4675063" y="3446152"/>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51" name="Text 49"/>
          <p:cNvSpPr/>
          <p:nvPr/>
        </p:nvSpPr>
        <p:spPr>
          <a:xfrm>
            <a:off x="4767709" y="3401839"/>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서울특별시, 「고립은둔 청년 온 프로젝트」 보도자료</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2" name="Shape 50"/>
          <p:cNvSpPr/>
          <p:nvPr/>
        </p:nvSpPr>
        <p:spPr>
          <a:xfrm>
            <a:off x="4675063" y="3657340"/>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53" name="Text 51"/>
          <p:cNvSpPr/>
          <p:nvPr/>
        </p:nvSpPr>
        <p:spPr>
          <a:xfrm>
            <a:off x="4767709" y="3613026"/>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서울특별시, 「동 중심 원스톱 통합돌봄」 정책자료</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4" name="Shape 52"/>
          <p:cNvSpPr/>
          <p:nvPr/>
        </p:nvSpPr>
        <p:spPr>
          <a:xfrm>
            <a:off x="4675063" y="3868527"/>
            <a:ext cx="40258" cy="40258"/>
          </a:xfrm>
          <a:prstGeom prst="roundRect">
            <a:avLst>
              <a:gd name="adj" fmla="val 709797"/>
            </a:avLst>
          </a:prstGeom>
          <a:solidFill>
            <a:srgbClr val="1B1B27"/>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55" name="Text 53"/>
          <p:cNvSpPr/>
          <p:nvPr/>
        </p:nvSpPr>
        <p:spPr>
          <a:xfrm>
            <a:off x="4767709" y="3824213"/>
            <a:ext cx="3884935" cy="106412"/>
          </a:xfrm>
          <a:prstGeom prst="rect">
            <a:avLst/>
          </a:prstGeom>
          <a:noFill/>
        </p:spPr>
        <p:txBody>
          <a:bodyPr wrap="none" lIns="0" tIns="0" rIns="0" bIns="0" rtlCol="0" anchor="t"/>
          <a:lstStyle/>
          <a:p>
            <a:pPr marL="0" indent="0" algn="l">
              <a:lnSpc>
                <a:spcPts val="800"/>
              </a:lnSpc>
              <a:buNone/>
            </a:pPr>
            <a:r>
              <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서울특별시, 「약자동행지수」 관련 자료</a:t>
            </a:r>
            <a:endParaRPr lang="en-US" sz="6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56" name="Shape 54"/>
          <p:cNvSpPr/>
          <p:nvPr/>
        </p:nvSpPr>
        <p:spPr>
          <a:xfrm>
            <a:off x="496119" y="4127004"/>
            <a:ext cx="8151763" cy="6028"/>
          </a:xfrm>
          <a:prstGeom prst="rect">
            <a:avLst/>
          </a:prstGeom>
          <a:solidFill>
            <a:srgbClr val="3C3939">
              <a:alpha val="50000"/>
            </a:srgbClr>
          </a:solidFill>
        </p:spPr>
        <p:txBody>
          <a:bodyPr/>
          <a:lstStyle/>
          <a:p>
            <a:endParaRPr lang="ko-KR" altLang="en-US" dirty="0">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
        <p:nvSpPr>
          <p:cNvPr id="57" name="Text 55"/>
          <p:cNvSpPr/>
          <p:nvPr/>
        </p:nvSpPr>
        <p:spPr>
          <a:xfrm>
            <a:off x="496119" y="4212059"/>
            <a:ext cx="8151763" cy="340519"/>
          </a:xfrm>
          <a:prstGeom prst="rect">
            <a:avLst/>
          </a:prstGeom>
          <a:noFill/>
        </p:spPr>
        <p:txBody>
          <a:bodyPr wrap="square" lIns="0" tIns="0" rIns="0" bIns="0" rtlCol="0" anchor="t"/>
          <a:lstStyle/>
          <a:p>
            <a:pPr marL="0" indent="0" algn="l">
              <a:lnSpc>
                <a:spcPts val="650"/>
              </a:lnSpc>
              <a:buNone/>
            </a:pPr>
            <a:r>
              <a:rPr lang="en-US" sz="5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본 분석은 서울특별시 빅데이터 캠퍼스 제공 데이터, 공공기관 통계, 서울시 열린데이터 및 팀 분석 산출물을 결합해 수행했습니다.</a:t>
            </a:r>
            <a:endParaRPr lang="en-US" sz="5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650"/>
              </a:lnSpc>
              <a:buNone/>
            </a:pPr>
            <a:r>
              <a:rPr lang="en-US" sz="5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빅데이터 캠퍼스 데이터 기반 결과는 원본 데이터가 아닌 분석결과물·시각화 형태로 활용했습니다.</a:t>
            </a:r>
            <a:endParaRPr lang="en-US" sz="5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650"/>
              </a:lnSpc>
              <a:buNone/>
            </a:pPr>
            <a:r>
              <a:rPr lang="en-US" sz="5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본 발표자료의 지도와 지수는 팀 분석 결과이며, 개인 단위 고립 여부를 판정하지 않습니다.</a:t>
            </a:r>
            <a:endParaRPr lang="en-US" sz="500" dirty="0">
              <a:latin typeface="Microsoft JhengHei" panose="020B0604030504040204" pitchFamily="34" charset="-120"/>
              <a:ea typeface="Microsoft JhengHei" panose="020B0604030504040204" pitchFamily="34" charset="-120"/>
              <a:cs typeface="Microsoft JhengHei" panose="020B0604030504040204" pitchFamily="34" charset="-120"/>
            </a:endParaRPr>
          </a:p>
          <a:p>
            <a:pPr marL="0" indent="0" algn="l">
              <a:lnSpc>
                <a:spcPts val="650"/>
              </a:lnSpc>
              <a:buNone/>
            </a:pPr>
            <a:r>
              <a:rPr lang="en-US" sz="500" dirty="0">
                <a:solidFill>
                  <a:srgbClr val="3C3939"/>
                </a:solidFill>
                <a:latin typeface="Microsoft JhengHei" panose="020B0604030504040204" pitchFamily="34" charset="-120"/>
                <a:ea typeface="Microsoft JhengHei" panose="020B0604030504040204" pitchFamily="34" charset="-120"/>
                <a:cs typeface="Microsoft JhengHei" panose="020B0604030504040204" pitchFamily="34" charset="-120"/>
              </a:rPr>
              <a:t>※ 정책지원 플랫폼은 분석 결과를 정책 안내와 행정 의사결정으로 연결하기 위한 시안입니다.</a:t>
            </a:r>
            <a:endParaRPr lang="en-US" sz="500" dirty="0">
              <a:latin typeface="Microsoft JhengHei" panose="020B0604030504040204" pitchFamily="34" charset="-120"/>
              <a:ea typeface="Microsoft JhengHei" panose="020B0604030504040204" pitchFamily="34" charset="-120"/>
              <a:cs typeface="Microsoft JhengHei" panose="020B0604030504040204" pitchFamily="34" charset="-120"/>
            </a:endParaRPr>
          </a:p>
        </p:txBody>
      </p:sp>
      <p:sp>
        <p:nvSpPr>
          <p:cNvPr id="60" name="Rectangle 59"/>
          <p:cNvSpPr/>
          <p:nvPr/>
        </p:nvSpPr>
        <p:spPr>
          <a:xfrm>
            <a:off x="367530" y="581677"/>
            <a:ext cx="8151763" cy="7888"/>
          </a:xfrm>
          <a:prstGeom prst="rect">
            <a:avLst/>
          </a:prstGeom>
          <a:solidFill>
            <a:srgbClr val="3C3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icrosoft JhengHei" panose="020B0604030504040204" pitchFamily="34" charset="-120"/>
              <a:ea typeface="Microsoft JhengHei" panose="020B0604030504040204" pitchFamily="34" charset="-120"/>
              <a:cs typeface="맑은 고딕 Semilight" panose="020B0502040204020203" pitchFamily="50" charset="-12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12752</Words>
  <Application>WPS Presentation</Application>
  <PresentationFormat>화면 슬라이드 쇼(16:9)</PresentationFormat>
  <Paragraphs>1097</Paragraphs>
  <Slides>23</Slides>
  <Notes>21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23</vt:i4>
      </vt:variant>
    </vt:vector>
  </HeadingPairs>
  <TitlesOfParts>
    <vt:vector size="40" baseType="lpstr">
      <vt:lpstr>Arial</vt:lpstr>
      <vt:lpstr>SimSun</vt:lpstr>
      <vt:lpstr>Wingdings</vt:lpstr>
      <vt:lpstr>Chilgok Gwon Anja</vt:lpstr>
      <vt:lpstr>Microsoft JhengHei</vt:lpstr>
      <vt:lpstr>맑은 고딕 Semilight</vt:lpstr>
      <vt:lpstr>Roboto</vt:lpstr>
      <vt:lpstr>Times New Roman</vt:lpstr>
      <vt:lpstr>Arial Unicode MS</vt:lpstr>
      <vt:lpstr>Calibri</vt:lpstr>
      <vt:lpstr>바탕체</vt:lpstr>
      <vt:lpstr>Microsoft YaHei</vt:lpstr>
      <vt:lpstr>맑은 고딕</vt:lpstr>
      <vt:lpstr>MS PGothic</vt:lpstr>
      <vt:lpstr>Calibri Light</vt:lpstr>
      <vt:lpstr>Office Theme</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이슬기</dc:creator>
  <cp:lastModifiedBy>jh</cp:lastModifiedBy>
  <cp:revision>83</cp:revision>
  <dcterms:created xsi:type="dcterms:W3CDTF">2026-05-09T13:46:00Z</dcterms:created>
  <dcterms:modified xsi:type="dcterms:W3CDTF">2026-05-13T07:51:26Z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196E963479664D10B8D4F733047F8FA4_12</vt:lpwstr>
  </property>
</Properties>
</file>